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72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70" r:id="rId15"/>
    <p:sldId id="271" r:id="rId16"/>
    <p:sldId id="268" r:id="rId17"/>
    <p:sldId id="269" r:id="rId18"/>
    <p:sldId id="273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36" autoAdjust="0"/>
    <p:restoredTop sz="94610"/>
  </p:normalViewPr>
  <p:slideViewPr>
    <p:cSldViewPr snapToGrid="0" snapToObjects="1">
      <p:cViewPr>
        <p:scale>
          <a:sx n="139" d="100"/>
          <a:sy n="139" d="100"/>
        </p:scale>
        <p:origin x="108" y="5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CC733B-EA99-4D31-B831-D6BA28915A06}" type="datetimeFigureOut">
              <a:t>3/24/2026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792D9D-F522-4BC4-A1FA-A73556021AF9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7332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5AF338FB-510D-3608-FF75-67824841BC53}"/>
              </a:ext>
            </a:extLst>
          </p:cNvPr>
          <p:cNvSpPr/>
          <p:nvPr userDrawn="1"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D1117"/>
          </a:solidFill>
          <a:ln w="12700">
            <a:solidFill>
              <a:srgbClr val="0D1117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E4309BD-127B-1735-611A-82F87602547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78155" y="0"/>
            <a:ext cx="1765845" cy="53626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erBar">
            <a:extLst>
              <a:ext uri="{FF2B5EF4-FFF2-40B4-BE49-F238E27FC236}">
                <a16:creationId xmlns:a16="http://schemas.microsoft.com/office/drawing/2014/main" id="{96FFBFEA-6D84-3D64-C03A-6FAE89045092}"/>
              </a:ext>
            </a:extLst>
          </p:cNvPr>
          <p:cNvSpPr/>
          <p:nvPr userDrawn="1"/>
        </p:nvSpPr>
        <p:spPr>
          <a:xfrm>
            <a:off x="0" y="-9288"/>
            <a:ext cx="9144000" cy="594360"/>
          </a:xfrm>
          <a:prstGeom prst="rect">
            <a:avLst/>
          </a:prstGeom>
          <a:solidFill>
            <a:srgbClr val="0D1117"/>
          </a:solidFill>
        </p:spPr>
        <p:txBody>
          <a:bodyPr/>
          <a:lstStyle/>
          <a:p>
            <a:endParaRPr lang="en-MY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3B062CC-BC44-5D45-DA7F-317EECC4D66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378155" y="0"/>
            <a:ext cx="1765845" cy="53626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forms.gle/LJSLCQH9rLJgCPPa9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" name="Shape 1"/>
          <p:cNvSpPr/>
          <p:nvPr/>
        </p:nvSpPr>
        <p:spPr>
          <a:xfrm>
            <a:off x="0" y="42976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4" name="Shape 2"/>
          <p:cNvSpPr/>
          <p:nvPr/>
        </p:nvSpPr>
        <p:spPr>
          <a:xfrm>
            <a:off x="0" y="85953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5" name="Shape 3"/>
          <p:cNvSpPr/>
          <p:nvPr/>
        </p:nvSpPr>
        <p:spPr>
          <a:xfrm>
            <a:off x="0" y="128930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6" name="Shape 4"/>
          <p:cNvSpPr/>
          <p:nvPr/>
        </p:nvSpPr>
        <p:spPr>
          <a:xfrm>
            <a:off x="0" y="171907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7" name="Shape 5"/>
          <p:cNvSpPr/>
          <p:nvPr/>
        </p:nvSpPr>
        <p:spPr>
          <a:xfrm>
            <a:off x="0" y="214884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8" name="Shape 6"/>
          <p:cNvSpPr/>
          <p:nvPr/>
        </p:nvSpPr>
        <p:spPr>
          <a:xfrm>
            <a:off x="0" y="257860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9" name="Shape 7"/>
          <p:cNvSpPr/>
          <p:nvPr/>
        </p:nvSpPr>
        <p:spPr>
          <a:xfrm>
            <a:off x="0" y="300837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0" name="Shape 8"/>
          <p:cNvSpPr/>
          <p:nvPr/>
        </p:nvSpPr>
        <p:spPr>
          <a:xfrm>
            <a:off x="0" y="343814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1" name="Shape 9"/>
          <p:cNvSpPr/>
          <p:nvPr/>
        </p:nvSpPr>
        <p:spPr>
          <a:xfrm>
            <a:off x="0" y="386791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2" name="Shape 10"/>
          <p:cNvSpPr/>
          <p:nvPr/>
        </p:nvSpPr>
        <p:spPr>
          <a:xfrm>
            <a:off x="0" y="429768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3" name="Shape 11"/>
          <p:cNvSpPr/>
          <p:nvPr/>
        </p:nvSpPr>
        <p:spPr>
          <a:xfrm>
            <a:off x="0" y="472744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4" name="Shape 12"/>
          <p:cNvSpPr/>
          <p:nvPr/>
        </p:nvSpPr>
        <p:spPr>
          <a:xfrm>
            <a:off x="457200" y="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5" name="Shape 13"/>
          <p:cNvSpPr/>
          <p:nvPr/>
        </p:nvSpPr>
        <p:spPr>
          <a:xfrm>
            <a:off x="457200" y="42976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6" name="Shape 14"/>
          <p:cNvSpPr/>
          <p:nvPr/>
        </p:nvSpPr>
        <p:spPr>
          <a:xfrm>
            <a:off x="457200" y="85953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7" name="Shape 15"/>
          <p:cNvSpPr/>
          <p:nvPr/>
        </p:nvSpPr>
        <p:spPr>
          <a:xfrm>
            <a:off x="457200" y="128930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8" name="Shape 16"/>
          <p:cNvSpPr/>
          <p:nvPr/>
        </p:nvSpPr>
        <p:spPr>
          <a:xfrm>
            <a:off x="457200" y="171907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9" name="Shape 17"/>
          <p:cNvSpPr/>
          <p:nvPr/>
        </p:nvSpPr>
        <p:spPr>
          <a:xfrm>
            <a:off x="457200" y="214884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0" name="Shape 18"/>
          <p:cNvSpPr/>
          <p:nvPr/>
        </p:nvSpPr>
        <p:spPr>
          <a:xfrm>
            <a:off x="457200" y="257860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1" name="Shape 19"/>
          <p:cNvSpPr/>
          <p:nvPr/>
        </p:nvSpPr>
        <p:spPr>
          <a:xfrm>
            <a:off x="457200" y="300837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2" name="Shape 20"/>
          <p:cNvSpPr/>
          <p:nvPr/>
        </p:nvSpPr>
        <p:spPr>
          <a:xfrm>
            <a:off x="457200" y="343814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3" name="Shape 21"/>
          <p:cNvSpPr/>
          <p:nvPr/>
        </p:nvSpPr>
        <p:spPr>
          <a:xfrm>
            <a:off x="457200" y="386791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4" name="Shape 22"/>
          <p:cNvSpPr/>
          <p:nvPr/>
        </p:nvSpPr>
        <p:spPr>
          <a:xfrm>
            <a:off x="457200" y="429768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5" name="Shape 23"/>
          <p:cNvSpPr/>
          <p:nvPr/>
        </p:nvSpPr>
        <p:spPr>
          <a:xfrm>
            <a:off x="457200" y="472744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6" name="Shape 24"/>
          <p:cNvSpPr/>
          <p:nvPr/>
        </p:nvSpPr>
        <p:spPr>
          <a:xfrm>
            <a:off x="914400" y="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7" name="Shape 25"/>
          <p:cNvSpPr/>
          <p:nvPr/>
        </p:nvSpPr>
        <p:spPr>
          <a:xfrm>
            <a:off x="914400" y="42976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8" name="Shape 26"/>
          <p:cNvSpPr/>
          <p:nvPr/>
        </p:nvSpPr>
        <p:spPr>
          <a:xfrm>
            <a:off x="914400" y="85953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9" name="Shape 27"/>
          <p:cNvSpPr/>
          <p:nvPr/>
        </p:nvSpPr>
        <p:spPr>
          <a:xfrm>
            <a:off x="914400" y="128930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0" name="Shape 28"/>
          <p:cNvSpPr/>
          <p:nvPr/>
        </p:nvSpPr>
        <p:spPr>
          <a:xfrm>
            <a:off x="914400" y="171907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1" name="Shape 29"/>
          <p:cNvSpPr/>
          <p:nvPr/>
        </p:nvSpPr>
        <p:spPr>
          <a:xfrm>
            <a:off x="914400" y="214884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2" name="Shape 30"/>
          <p:cNvSpPr/>
          <p:nvPr/>
        </p:nvSpPr>
        <p:spPr>
          <a:xfrm>
            <a:off x="914400" y="257860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3" name="Shape 31"/>
          <p:cNvSpPr/>
          <p:nvPr/>
        </p:nvSpPr>
        <p:spPr>
          <a:xfrm>
            <a:off x="914400" y="300837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4" name="Shape 32"/>
          <p:cNvSpPr/>
          <p:nvPr/>
        </p:nvSpPr>
        <p:spPr>
          <a:xfrm>
            <a:off x="914400" y="343814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5" name="Shape 33"/>
          <p:cNvSpPr/>
          <p:nvPr/>
        </p:nvSpPr>
        <p:spPr>
          <a:xfrm>
            <a:off x="914400" y="386791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6" name="Shape 34"/>
          <p:cNvSpPr/>
          <p:nvPr/>
        </p:nvSpPr>
        <p:spPr>
          <a:xfrm>
            <a:off x="914400" y="429768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7" name="Shape 35"/>
          <p:cNvSpPr/>
          <p:nvPr/>
        </p:nvSpPr>
        <p:spPr>
          <a:xfrm>
            <a:off x="914400" y="472744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8" name="Shape 36"/>
          <p:cNvSpPr/>
          <p:nvPr/>
        </p:nvSpPr>
        <p:spPr>
          <a:xfrm>
            <a:off x="1371600" y="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9" name="Shape 37"/>
          <p:cNvSpPr/>
          <p:nvPr/>
        </p:nvSpPr>
        <p:spPr>
          <a:xfrm>
            <a:off x="1371600" y="42976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40" name="Shape 38"/>
          <p:cNvSpPr/>
          <p:nvPr/>
        </p:nvSpPr>
        <p:spPr>
          <a:xfrm>
            <a:off x="1371600" y="85953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41" name="Shape 39"/>
          <p:cNvSpPr/>
          <p:nvPr/>
        </p:nvSpPr>
        <p:spPr>
          <a:xfrm>
            <a:off x="1371600" y="128930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42" name="Shape 40"/>
          <p:cNvSpPr/>
          <p:nvPr/>
        </p:nvSpPr>
        <p:spPr>
          <a:xfrm>
            <a:off x="1371600" y="171907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43" name="Shape 41"/>
          <p:cNvSpPr/>
          <p:nvPr/>
        </p:nvSpPr>
        <p:spPr>
          <a:xfrm>
            <a:off x="1371600" y="214884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44" name="Shape 42"/>
          <p:cNvSpPr/>
          <p:nvPr/>
        </p:nvSpPr>
        <p:spPr>
          <a:xfrm>
            <a:off x="1371600" y="257860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45" name="Shape 43"/>
          <p:cNvSpPr/>
          <p:nvPr/>
        </p:nvSpPr>
        <p:spPr>
          <a:xfrm>
            <a:off x="1371600" y="300837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46" name="Shape 44"/>
          <p:cNvSpPr/>
          <p:nvPr/>
        </p:nvSpPr>
        <p:spPr>
          <a:xfrm>
            <a:off x="1371600" y="343814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47" name="Shape 45"/>
          <p:cNvSpPr/>
          <p:nvPr/>
        </p:nvSpPr>
        <p:spPr>
          <a:xfrm>
            <a:off x="1371600" y="386791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48" name="Shape 46"/>
          <p:cNvSpPr/>
          <p:nvPr/>
        </p:nvSpPr>
        <p:spPr>
          <a:xfrm>
            <a:off x="1371600" y="429768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49" name="Shape 47"/>
          <p:cNvSpPr/>
          <p:nvPr/>
        </p:nvSpPr>
        <p:spPr>
          <a:xfrm>
            <a:off x="1371600" y="472744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50" name="Shape 48"/>
          <p:cNvSpPr/>
          <p:nvPr/>
        </p:nvSpPr>
        <p:spPr>
          <a:xfrm>
            <a:off x="1828800" y="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51" name="Shape 49"/>
          <p:cNvSpPr/>
          <p:nvPr/>
        </p:nvSpPr>
        <p:spPr>
          <a:xfrm>
            <a:off x="1828800" y="42976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52" name="Shape 50"/>
          <p:cNvSpPr/>
          <p:nvPr/>
        </p:nvSpPr>
        <p:spPr>
          <a:xfrm>
            <a:off x="1828800" y="85953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53" name="Shape 51"/>
          <p:cNvSpPr/>
          <p:nvPr/>
        </p:nvSpPr>
        <p:spPr>
          <a:xfrm>
            <a:off x="1828800" y="128930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54" name="Shape 52"/>
          <p:cNvSpPr/>
          <p:nvPr/>
        </p:nvSpPr>
        <p:spPr>
          <a:xfrm>
            <a:off x="1828800" y="171907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55" name="Shape 53"/>
          <p:cNvSpPr/>
          <p:nvPr/>
        </p:nvSpPr>
        <p:spPr>
          <a:xfrm>
            <a:off x="1828800" y="214884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56" name="Shape 54"/>
          <p:cNvSpPr/>
          <p:nvPr/>
        </p:nvSpPr>
        <p:spPr>
          <a:xfrm>
            <a:off x="1828800" y="257860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57" name="Shape 55"/>
          <p:cNvSpPr/>
          <p:nvPr/>
        </p:nvSpPr>
        <p:spPr>
          <a:xfrm>
            <a:off x="1828800" y="300837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58" name="Shape 56"/>
          <p:cNvSpPr/>
          <p:nvPr/>
        </p:nvSpPr>
        <p:spPr>
          <a:xfrm>
            <a:off x="1828800" y="343814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59" name="Shape 57"/>
          <p:cNvSpPr/>
          <p:nvPr/>
        </p:nvSpPr>
        <p:spPr>
          <a:xfrm>
            <a:off x="1828800" y="386791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60" name="Shape 58"/>
          <p:cNvSpPr/>
          <p:nvPr/>
        </p:nvSpPr>
        <p:spPr>
          <a:xfrm>
            <a:off x="1828800" y="429768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61" name="Shape 59"/>
          <p:cNvSpPr/>
          <p:nvPr/>
        </p:nvSpPr>
        <p:spPr>
          <a:xfrm>
            <a:off x="1828800" y="472744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62" name="Shape 60"/>
          <p:cNvSpPr/>
          <p:nvPr/>
        </p:nvSpPr>
        <p:spPr>
          <a:xfrm>
            <a:off x="2286000" y="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63" name="Shape 61"/>
          <p:cNvSpPr/>
          <p:nvPr/>
        </p:nvSpPr>
        <p:spPr>
          <a:xfrm>
            <a:off x="2286000" y="42976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64" name="Shape 62"/>
          <p:cNvSpPr/>
          <p:nvPr/>
        </p:nvSpPr>
        <p:spPr>
          <a:xfrm>
            <a:off x="2286000" y="85953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65" name="Shape 63"/>
          <p:cNvSpPr/>
          <p:nvPr/>
        </p:nvSpPr>
        <p:spPr>
          <a:xfrm>
            <a:off x="2286000" y="128930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66" name="Shape 64"/>
          <p:cNvSpPr/>
          <p:nvPr/>
        </p:nvSpPr>
        <p:spPr>
          <a:xfrm>
            <a:off x="2286000" y="171907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67" name="Shape 65"/>
          <p:cNvSpPr/>
          <p:nvPr/>
        </p:nvSpPr>
        <p:spPr>
          <a:xfrm>
            <a:off x="2286000" y="214884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68" name="Shape 66"/>
          <p:cNvSpPr/>
          <p:nvPr/>
        </p:nvSpPr>
        <p:spPr>
          <a:xfrm>
            <a:off x="2286000" y="257860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69" name="Shape 67"/>
          <p:cNvSpPr/>
          <p:nvPr/>
        </p:nvSpPr>
        <p:spPr>
          <a:xfrm>
            <a:off x="2286000" y="300837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70" name="Shape 68"/>
          <p:cNvSpPr/>
          <p:nvPr/>
        </p:nvSpPr>
        <p:spPr>
          <a:xfrm>
            <a:off x="2286000" y="343814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71" name="Shape 69"/>
          <p:cNvSpPr/>
          <p:nvPr/>
        </p:nvSpPr>
        <p:spPr>
          <a:xfrm>
            <a:off x="2286000" y="386791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72" name="Shape 70"/>
          <p:cNvSpPr/>
          <p:nvPr/>
        </p:nvSpPr>
        <p:spPr>
          <a:xfrm>
            <a:off x="2286000" y="429768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73" name="Shape 71"/>
          <p:cNvSpPr/>
          <p:nvPr/>
        </p:nvSpPr>
        <p:spPr>
          <a:xfrm>
            <a:off x="2286000" y="472744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74" name="Shape 72"/>
          <p:cNvSpPr/>
          <p:nvPr/>
        </p:nvSpPr>
        <p:spPr>
          <a:xfrm>
            <a:off x="2743200" y="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75" name="Shape 73"/>
          <p:cNvSpPr/>
          <p:nvPr/>
        </p:nvSpPr>
        <p:spPr>
          <a:xfrm>
            <a:off x="2743200" y="42976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76" name="Shape 74"/>
          <p:cNvSpPr/>
          <p:nvPr/>
        </p:nvSpPr>
        <p:spPr>
          <a:xfrm>
            <a:off x="2743200" y="85953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77" name="Shape 75"/>
          <p:cNvSpPr/>
          <p:nvPr/>
        </p:nvSpPr>
        <p:spPr>
          <a:xfrm>
            <a:off x="2743200" y="128930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78" name="Shape 76"/>
          <p:cNvSpPr/>
          <p:nvPr/>
        </p:nvSpPr>
        <p:spPr>
          <a:xfrm>
            <a:off x="2743200" y="171907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79" name="Shape 77"/>
          <p:cNvSpPr/>
          <p:nvPr/>
        </p:nvSpPr>
        <p:spPr>
          <a:xfrm>
            <a:off x="2743200" y="214884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80" name="Shape 78"/>
          <p:cNvSpPr/>
          <p:nvPr/>
        </p:nvSpPr>
        <p:spPr>
          <a:xfrm>
            <a:off x="2743200" y="257860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81" name="Shape 79"/>
          <p:cNvSpPr/>
          <p:nvPr/>
        </p:nvSpPr>
        <p:spPr>
          <a:xfrm>
            <a:off x="2743200" y="300837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82" name="Shape 80"/>
          <p:cNvSpPr/>
          <p:nvPr/>
        </p:nvSpPr>
        <p:spPr>
          <a:xfrm>
            <a:off x="2743200" y="343814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83" name="Shape 81"/>
          <p:cNvSpPr/>
          <p:nvPr/>
        </p:nvSpPr>
        <p:spPr>
          <a:xfrm>
            <a:off x="2743200" y="386791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84" name="Shape 82"/>
          <p:cNvSpPr/>
          <p:nvPr/>
        </p:nvSpPr>
        <p:spPr>
          <a:xfrm>
            <a:off x="2743200" y="429768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85" name="Shape 83"/>
          <p:cNvSpPr/>
          <p:nvPr/>
        </p:nvSpPr>
        <p:spPr>
          <a:xfrm>
            <a:off x="2743200" y="472744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86" name="Shape 84"/>
          <p:cNvSpPr/>
          <p:nvPr/>
        </p:nvSpPr>
        <p:spPr>
          <a:xfrm>
            <a:off x="3200400" y="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87" name="Shape 85"/>
          <p:cNvSpPr/>
          <p:nvPr/>
        </p:nvSpPr>
        <p:spPr>
          <a:xfrm>
            <a:off x="3200400" y="42976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88" name="Shape 86"/>
          <p:cNvSpPr/>
          <p:nvPr/>
        </p:nvSpPr>
        <p:spPr>
          <a:xfrm>
            <a:off x="3200400" y="85953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89" name="Shape 87"/>
          <p:cNvSpPr/>
          <p:nvPr/>
        </p:nvSpPr>
        <p:spPr>
          <a:xfrm>
            <a:off x="3200400" y="128930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90" name="Shape 88"/>
          <p:cNvSpPr/>
          <p:nvPr/>
        </p:nvSpPr>
        <p:spPr>
          <a:xfrm>
            <a:off x="3200400" y="171907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91" name="Shape 89"/>
          <p:cNvSpPr/>
          <p:nvPr/>
        </p:nvSpPr>
        <p:spPr>
          <a:xfrm>
            <a:off x="3200400" y="214884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92" name="Shape 90"/>
          <p:cNvSpPr/>
          <p:nvPr/>
        </p:nvSpPr>
        <p:spPr>
          <a:xfrm>
            <a:off x="3200400" y="257860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93" name="Shape 91"/>
          <p:cNvSpPr/>
          <p:nvPr/>
        </p:nvSpPr>
        <p:spPr>
          <a:xfrm>
            <a:off x="3200400" y="300837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94" name="Shape 92"/>
          <p:cNvSpPr/>
          <p:nvPr/>
        </p:nvSpPr>
        <p:spPr>
          <a:xfrm>
            <a:off x="3200400" y="343814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95" name="Shape 93"/>
          <p:cNvSpPr/>
          <p:nvPr/>
        </p:nvSpPr>
        <p:spPr>
          <a:xfrm>
            <a:off x="3200400" y="386791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96" name="Shape 94"/>
          <p:cNvSpPr/>
          <p:nvPr/>
        </p:nvSpPr>
        <p:spPr>
          <a:xfrm>
            <a:off x="3200400" y="429768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97" name="Shape 95"/>
          <p:cNvSpPr/>
          <p:nvPr/>
        </p:nvSpPr>
        <p:spPr>
          <a:xfrm>
            <a:off x="3200400" y="472744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98" name="Shape 96"/>
          <p:cNvSpPr/>
          <p:nvPr/>
        </p:nvSpPr>
        <p:spPr>
          <a:xfrm>
            <a:off x="3657600" y="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99" name="Shape 97"/>
          <p:cNvSpPr/>
          <p:nvPr/>
        </p:nvSpPr>
        <p:spPr>
          <a:xfrm>
            <a:off x="3657600" y="42976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00" name="Shape 98"/>
          <p:cNvSpPr/>
          <p:nvPr/>
        </p:nvSpPr>
        <p:spPr>
          <a:xfrm>
            <a:off x="3657600" y="85953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01" name="Shape 99"/>
          <p:cNvSpPr/>
          <p:nvPr/>
        </p:nvSpPr>
        <p:spPr>
          <a:xfrm>
            <a:off x="3657600" y="128930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02" name="Shape 100"/>
          <p:cNvSpPr/>
          <p:nvPr/>
        </p:nvSpPr>
        <p:spPr>
          <a:xfrm>
            <a:off x="3657600" y="171907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03" name="Shape 101"/>
          <p:cNvSpPr/>
          <p:nvPr/>
        </p:nvSpPr>
        <p:spPr>
          <a:xfrm>
            <a:off x="3657600" y="214884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04" name="Shape 102"/>
          <p:cNvSpPr/>
          <p:nvPr/>
        </p:nvSpPr>
        <p:spPr>
          <a:xfrm>
            <a:off x="3657600" y="257860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05" name="Shape 103"/>
          <p:cNvSpPr/>
          <p:nvPr/>
        </p:nvSpPr>
        <p:spPr>
          <a:xfrm>
            <a:off x="3657600" y="300837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06" name="Shape 104"/>
          <p:cNvSpPr/>
          <p:nvPr/>
        </p:nvSpPr>
        <p:spPr>
          <a:xfrm>
            <a:off x="3657600" y="343814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07" name="Shape 105"/>
          <p:cNvSpPr/>
          <p:nvPr/>
        </p:nvSpPr>
        <p:spPr>
          <a:xfrm>
            <a:off x="3657600" y="386791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08" name="Shape 106"/>
          <p:cNvSpPr/>
          <p:nvPr/>
        </p:nvSpPr>
        <p:spPr>
          <a:xfrm>
            <a:off x="3657600" y="429768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09" name="Shape 107"/>
          <p:cNvSpPr/>
          <p:nvPr/>
        </p:nvSpPr>
        <p:spPr>
          <a:xfrm>
            <a:off x="3657600" y="472744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10" name="Shape 108"/>
          <p:cNvSpPr/>
          <p:nvPr/>
        </p:nvSpPr>
        <p:spPr>
          <a:xfrm>
            <a:off x="4114800" y="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11" name="Shape 109"/>
          <p:cNvSpPr/>
          <p:nvPr/>
        </p:nvSpPr>
        <p:spPr>
          <a:xfrm>
            <a:off x="4114800" y="42976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12" name="Shape 110"/>
          <p:cNvSpPr/>
          <p:nvPr/>
        </p:nvSpPr>
        <p:spPr>
          <a:xfrm>
            <a:off x="4114800" y="85953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13" name="Shape 111"/>
          <p:cNvSpPr/>
          <p:nvPr/>
        </p:nvSpPr>
        <p:spPr>
          <a:xfrm>
            <a:off x="4114800" y="128930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14" name="Shape 112"/>
          <p:cNvSpPr/>
          <p:nvPr/>
        </p:nvSpPr>
        <p:spPr>
          <a:xfrm>
            <a:off x="4114800" y="171907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15" name="Shape 113"/>
          <p:cNvSpPr/>
          <p:nvPr/>
        </p:nvSpPr>
        <p:spPr>
          <a:xfrm>
            <a:off x="4114800" y="214884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16" name="Shape 114"/>
          <p:cNvSpPr/>
          <p:nvPr/>
        </p:nvSpPr>
        <p:spPr>
          <a:xfrm>
            <a:off x="4114800" y="257860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17" name="Shape 115"/>
          <p:cNvSpPr/>
          <p:nvPr/>
        </p:nvSpPr>
        <p:spPr>
          <a:xfrm>
            <a:off x="4114800" y="300837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18" name="Shape 116"/>
          <p:cNvSpPr/>
          <p:nvPr/>
        </p:nvSpPr>
        <p:spPr>
          <a:xfrm>
            <a:off x="4114800" y="343814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19" name="Shape 117"/>
          <p:cNvSpPr/>
          <p:nvPr/>
        </p:nvSpPr>
        <p:spPr>
          <a:xfrm>
            <a:off x="4114800" y="386791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20" name="Shape 118"/>
          <p:cNvSpPr/>
          <p:nvPr/>
        </p:nvSpPr>
        <p:spPr>
          <a:xfrm>
            <a:off x="4114800" y="429768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21" name="Shape 119"/>
          <p:cNvSpPr/>
          <p:nvPr/>
        </p:nvSpPr>
        <p:spPr>
          <a:xfrm>
            <a:off x="4114800" y="472744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22" name="Shape 120"/>
          <p:cNvSpPr/>
          <p:nvPr/>
        </p:nvSpPr>
        <p:spPr>
          <a:xfrm>
            <a:off x="4572000" y="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23" name="Shape 121"/>
          <p:cNvSpPr/>
          <p:nvPr/>
        </p:nvSpPr>
        <p:spPr>
          <a:xfrm>
            <a:off x="4572000" y="42976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24" name="Shape 122"/>
          <p:cNvSpPr/>
          <p:nvPr/>
        </p:nvSpPr>
        <p:spPr>
          <a:xfrm>
            <a:off x="4572000" y="85953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25" name="Shape 123"/>
          <p:cNvSpPr/>
          <p:nvPr/>
        </p:nvSpPr>
        <p:spPr>
          <a:xfrm>
            <a:off x="4572000" y="128930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26" name="Shape 124"/>
          <p:cNvSpPr/>
          <p:nvPr/>
        </p:nvSpPr>
        <p:spPr>
          <a:xfrm>
            <a:off x="4572000" y="171907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27" name="Shape 125"/>
          <p:cNvSpPr/>
          <p:nvPr/>
        </p:nvSpPr>
        <p:spPr>
          <a:xfrm>
            <a:off x="4572000" y="214884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28" name="Shape 126"/>
          <p:cNvSpPr/>
          <p:nvPr/>
        </p:nvSpPr>
        <p:spPr>
          <a:xfrm>
            <a:off x="4572000" y="257860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29" name="Shape 127"/>
          <p:cNvSpPr/>
          <p:nvPr/>
        </p:nvSpPr>
        <p:spPr>
          <a:xfrm>
            <a:off x="4572000" y="300837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30" name="Shape 128"/>
          <p:cNvSpPr/>
          <p:nvPr/>
        </p:nvSpPr>
        <p:spPr>
          <a:xfrm>
            <a:off x="4572000" y="343814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31" name="Shape 129"/>
          <p:cNvSpPr/>
          <p:nvPr/>
        </p:nvSpPr>
        <p:spPr>
          <a:xfrm>
            <a:off x="4572000" y="386791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32" name="Shape 130"/>
          <p:cNvSpPr/>
          <p:nvPr/>
        </p:nvSpPr>
        <p:spPr>
          <a:xfrm>
            <a:off x="4572000" y="429768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33" name="Shape 131"/>
          <p:cNvSpPr/>
          <p:nvPr/>
        </p:nvSpPr>
        <p:spPr>
          <a:xfrm>
            <a:off x="4572000" y="472744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34" name="Shape 132"/>
          <p:cNvSpPr/>
          <p:nvPr/>
        </p:nvSpPr>
        <p:spPr>
          <a:xfrm>
            <a:off x="5029200" y="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35" name="Shape 133"/>
          <p:cNvSpPr/>
          <p:nvPr/>
        </p:nvSpPr>
        <p:spPr>
          <a:xfrm>
            <a:off x="5029200" y="42976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36" name="Shape 134"/>
          <p:cNvSpPr/>
          <p:nvPr/>
        </p:nvSpPr>
        <p:spPr>
          <a:xfrm>
            <a:off x="5029200" y="85953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37" name="Shape 135"/>
          <p:cNvSpPr/>
          <p:nvPr/>
        </p:nvSpPr>
        <p:spPr>
          <a:xfrm>
            <a:off x="5029200" y="128930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38" name="Shape 136"/>
          <p:cNvSpPr/>
          <p:nvPr/>
        </p:nvSpPr>
        <p:spPr>
          <a:xfrm>
            <a:off x="5029200" y="171907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39" name="Shape 137"/>
          <p:cNvSpPr/>
          <p:nvPr/>
        </p:nvSpPr>
        <p:spPr>
          <a:xfrm>
            <a:off x="5029200" y="214884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40" name="Shape 138"/>
          <p:cNvSpPr/>
          <p:nvPr/>
        </p:nvSpPr>
        <p:spPr>
          <a:xfrm>
            <a:off x="5029200" y="257860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41" name="Shape 139"/>
          <p:cNvSpPr/>
          <p:nvPr/>
        </p:nvSpPr>
        <p:spPr>
          <a:xfrm>
            <a:off x="5029200" y="300837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42" name="Shape 140"/>
          <p:cNvSpPr/>
          <p:nvPr/>
        </p:nvSpPr>
        <p:spPr>
          <a:xfrm>
            <a:off x="5029200" y="343814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43" name="Shape 141"/>
          <p:cNvSpPr/>
          <p:nvPr/>
        </p:nvSpPr>
        <p:spPr>
          <a:xfrm>
            <a:off x="5029200" y="386791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44" name="Shape 142"/>
          <p:cNvSpPr/>
          <p:nvPr/>
        </p:nvSpPr>
        <p:spPr>
          <a:xfrm>
            <a:off x="5029200" y="429768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45" name="Shape 143"/>
          <p:cNvSpPr/>
          <p:nvPr/>
        </p:nvSpPr>
        <p:spPr>
          <a:xfrm>
            <a:off x="5029200" y="472744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46" name="Shape 144"/>
          <p:cNvSpPr/>
          <p:nvPr/>
        </p:nvSpPr>
        <p:spPr>
          <a:xfrm>
            <a:off x="5486400" y="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47" name="Shape 145"/>
          <p:cNvSpPr/>
          <p:nvPr/>
        </p:nvSpPr>
        <p:spPr>
          <a:xfrm>
            <a:off x="5486400" y="42976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48" name="Shape 146"/>
          <p:cNvSpPr/>
          <p:nvPr/>
        </p:nvSpPr>
        <p:spPr>
          <a:xfrm>
            <a:off x="5486400" y="85953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49" name="Shape 147"/>
          <p:cNvSpPr/>
          <p:nvPr/>
        </p:nvSpPr>
        <p:spPr>
          <a:xfrm>
            <a:off x="5486400" y="128930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50" name="Shape 148"/>
          <p:cNvSpPr/>
          <p:nvPr/>
        </p:nvSpPr>
        <p:spPr>
          <a:xfrm>
            <a:off x="5486400" y="171907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51" name="Shape 149"/>
          <p:cNvSpPr/>
          <p:nvPr/>
        </p:nvSpPr>
        <p:spPr>
          <a:xfrm>
            <a:off x="5486400" y="214884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52" name="Shape 150"/>
          <p:cNvSpPr/>
          <p:nvPr/>
        </p:nvSpPr>
        <p:spPr>
          <a:xfrm>
            <a:off x="5486400" y="257860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53" name="Shape 151"/>
          <p:cNvSpPr/>
          <p:nvPr/>
        </p:nvSpPr>
        <p:spPr>
          <a:xfrm>
            <a:off x="5486400" y="300837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54" name="Shape 152"/>
          <p:cNvSpPr/>
          <p:nvPr/>
        </p:nvSpPr>
        <p:spPr>
          <a:xfrm>
            <a:off x="5486400" y="343814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55" name="Shape 153"/>
          <p:cNvSpPr/>
          <p:nvPr/>
        </p:nvSpPr>
        <p:spPr>
          <a:xfrm>
            <a:off x="5486400" y="386791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56" name="Shape 154"/>
          <p:cNvSpPr/>
          <p:nvPr/>
        </p:nvSpPr>
        <p:spPr>
          <a:xfrm>
            <a:off x="5486400" y="429768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57" name="Shape 155"/>
          <p:cNvSpPr/>
          <p:nvPr/>
        </p:nvSpPr>
        <p:spPr>
          <a:xfrm>
            <a:off x="5486400" y="472744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58" name="Shape 156"/>
          <p:cNvSpPr/>
          <p:nvPr/>
        </p:nvSpPr>
        <p:spPr>
          <a:xfrm>
            <a:off x="5943600" y="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59" name="Shape 157"/>
          <p:cNvSpPr/>
          <p:nvPr/>
        </p:nvSpPr>
        <p:spPr>
          <a:xfrm>
            <a:off x="5943600" y="42976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60" name="Shape 158"/>
          <p:cNvSpPr/>
          <p:nvPr/>
        </p:nvSpPr>
        <p:spPr>
          <a:xfrm>
            <a:off x="5943600" y="85953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61" name="Shape 159"/>
          <p:cNvSpPr/>
          <p:nvPr/>
        </p:nvSpPr>
        <p:spPr>
          <a:xfrm>
            <a:off x="5943600" y="128930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62" name="Shape 160"/>
          <p:cNvSpPr/>
          <p:nvPr/>
        </p:nvSpPr>
        <p:spPr>
          <a:xfrm>
            <a:off x="5943600" y="171907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63" name="Shape 161"/>
          <p:cNvSpPr/>
          <p:nvPr/>
        </p:nvSpPr>
        <p:spPr>
          <a:xfrm>
            <a:off x="5943600" y="214884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64" name="Shape 162"/>
          <p:cNvSpPr/>
          <p:nvPr/>
        </p:nvSpPr>
        <p:spPr>
          <a:xfrm>
            <a:off x="5943600" y="257860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65" name="Shape 163"/>
          <p:cNvSpPr/>
          <p:nvPr/>
        </p:nvSpPr>
        <p:spPr>
          <a:xfrm>
            <a:off x="5943600" y="300837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66" name="Shape 164"/>
          <p:cNvSpPr/>
          <p:nvPr/>
        </p:nvSpPr>
        <p:spPr>
          <a:xfrm>
            <a:off x="5943600" y="343814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67" name="Shape 165"/>
          <p:cNvSpPr/>
          <p:nvPr/>
        </p:nvSpPr>
        <p:spPr>
          <a:xfrm>
            <a:off x="5943600" y="386791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68" name="Shape 166"/>
          <p:cNvSpPr/>
          <p:nvPr/>
        </p:nvSpPr>
        <p:spPr>
          <a:xfrm>
            <a:off x="5943600" y="429768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69" name="Shape 167"/>
          <p:cNvSpPr/>
          <p:nvPr/>
        </p:nvSpPr>
        <p:spPr>
          <a:xfrm>
            <a:off x="5943600" y="472744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70" name="Shape 168"/>
          <p:cNvSpPr/>
          <p:nvPr/>
        </p:nvSpPr>
        <p:spPr>
          <a:xfrm>
            <a:off x="6400800" y="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71" name="Shape 169"/>
          <p:cNvSpPr/>
          <p:nvPr/>
        </p:nvSpPr>
        <p:spPr>
          <a:xfrm>
            <a:off x="6400800" y="42976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72" name="Shape 170"/>
          <p:cNvSpPr/>
          <p:nvPr/>
        </p:nvSpPr>
        <p:spPr>
          <a:xfrm>
            <a:off x="6400800" y="85953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73" name="Shape 171"/>
          <p:cNvSpPr/>
          <p:nvPr/>
        </p:nvSpPr>
        <p:spPr>
          <a:xfrm>
            <a:off x="6400800" y="128930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74" name="Shape 172"/>
          <p:cNvSpPr/>
          <p:nvPr/>
        </p:nvSpPr>
        <p:spPr>
          <a:xfrm>
            <a:off x="6400800" y="171907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75" name="Shape 173"/>
          <p:cNvSpPr/>
          <p:nvPr/>
        </p:nvSpPr>
        <p:spPr>
          <a:xfrm>
            <a:off x="6400800" y="214884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76" name="Shape 174"/>
          <p:cNvSpPr/>
          <p:nvPr/>
        </p:nvSpPr>
        <p:spPr>
          <a:xfrm>
            <a:off x="6400800" y="257860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77" name="Shape 175"/>
          <p:cNvSpPr/>
          <p:nvPr/>
        </p:nvSpPr>
        <p:spPr>
          <a:xfrm>
            <a:off x="6400800" y="300837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78" name="Shape 176"/>
          <p:cNvSpPr/>
          <p:nvPr/>
        </p:nvSpPr>
        <p:spPr>
          <a:xfrm>
            <a:off x="6400800" y="343814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79" name="Shape 177"/>
          <p:cNvSpPr/>
          <p:nvPr/>
        </p:nvSpPr>
        <p:spPr>
          <a:xfrm>
            <a:off x="6400800" y="386791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80" name="Shape 178"/>
          <p:cNvSpPr/>
          <p:nvPr/>
        </p:nvSpPr>
        <p:spPr>
          <a:xfrm>
            <a:off x="6400800" y="429768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81" name="Shape 179"/>
          <p:cNvSpPr/>
          <p:nvPr/>
        </p:nvSpPr>
        <p:spPr>
          <a:xfrm>
            <a:off x="6400800" y="472744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82" name="Shape 180"/>
          <p:cNvSpPr/>
          <p:nvPr/>
        </p:nvSpPr>
        <p:spPr>
          <a:xfrm>
            <a:off x="6858000" y="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83" name="Shape 181"/>
          <p:cNvSpPr/>
          <p:nvPr/>
        </p:nvSpPr>
        <p:spPr>
          <a:xfrm>
            <a:off x="6858000" y="42976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84" name="Shape 182"/>
          <p:cNvSpPr/>
          <p:nvPr/>
        </p:nvSpPr>
        <p:spPr>
          <a:xfrm>
            <a:off x="6858000" y="85953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85" name="Shape 183"/>
          <p:cNvSpPr/>
          <p:nvPr/>
        </p:nvSpPr>
        <p:spPr>
          <a:xfrm>
            <a:off x="6858000" y="128930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86" name="Shape 184"/>
          <p:cNvSpPr/>
          <p:nvPr/>
        </p:nvSpPr>
        <p:spPr>
          <a:xfrm>
            <a:off x="6858000" y="171907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87" name="Shape 185"/>
          <p:cNvSpPr/>
          <p:nvPr/>
        </p:nvSpPr>
        <p:spPr>
          <a:xfrm>
            <a:off x="6858000" y="214884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88" name="Shape 186"/>
          <p:cNvSpPr/>
          <p:nvPr/>
        </p:nvSpPr>
        <p:spPr>
          <a:xfrm>
            <a:off x="6858000" y="257860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89" name="Shape 187"/>
          <p:cNvSpPr/>
          <p:nvPr/>
        </p:nvSpPr>
        <p:spPr>
          <a:xfrm>
            <a:off x="6858000" y="300837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90" name="Shape 188"/>
          <p:cNvSpPr/>
          <p:nvPr/>
        </p:nvSpPr>
        <p:spPr>
          <a:xfrm>
            <a:off x="6858000" y="343814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91" name="Shape 189"/>
          <p:cNvSpPr/>
          <p:nvPr/>
        </p:nvSpPr>
        <p:spPr>
          <a:xfrm>
            <a:off x="6858000" y="386791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92" name="Shape 190"/>
          <p:cNvSpPr/>
          <p:nvPr/>
        </p:nvSpPr>
        <p:spPr>
          <a:xfrm>
            <a:off x="6858000" y="429768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93" name="Shape 191"/>
          <p:cNvSpPr/>
          <p:nvPr/>
        </p:nvSpPr>
        <p:spPr>
          <a:xfrm>
            <a:off x="6858000" y="472744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94" name="Shape 192"/>
          <p:cNvSpPr/>
          <p:nvPr/>
        </p:nvSpPr>
        <p:spPr>
          <a:xfrm>
            <a:off x="7315200" y="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95" name="Shape 193"/>
          <p:cNvSpPr/>
          <p:nvPr/>
        </p:nvSpPr>
        <p:spPr>
          <a:xfrm>
            <a:off x="7315200" y="42976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96" name="Shape 194"/>
          <p:cNvSpPr/>
          <p:nvPr/>
        </p:nvSpPr>
        <p:spPr>
          <a:xfrm>
            <a:off x="7315200" y="85953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97" name="Shape 195"/>
          <p:cNvSpPr/>
          <p:nvPr/>
        </p:nvSpPr>
        <p:spPr>
          <a:xfrm>
            <a:off x="7315200" y="128930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98" name="Shape 196"/>
          <p:cNvSpPr/>
          <p:nvPr/>
        </p:nvSpPr>
        <p:spPr>
          <a:xfrm>
            <a:off x="7315200" y="171907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99" name="Shape 197"/>
          <p:cNvSpPr/>
          <p:nvPr/>
        </p:nvSpPr>
        <p:spPr>
          <a:xfrm>
            <a:off x="7315200" y="214884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00" name="Shape 198"/>
          <p:cNvSpPr/>
          <p:nvPr/>
        </p:nvSpPr>
        <p:spPr>
          <a:xfrm>
            <a:off x="7315200" y="257860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01" name="Shape 199"/>
          <p:cNvSpPr/>
          <p:nvPr/>
        </p:nvSpPr>
        <p:spPr>
          <a:xfrm>
            <a:off x="7315200" y="300837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02" name="Shape 200"/>
          <p:cNvSpPr/>
          <p:nvPr/>
        </p:nvSpPr>
        <p:spPr>
          <a:xfrm>
            <a:off x="7315200" y="343814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03" name="Shape 201"/>
          <p:cNvSpPr/>
          <p:nvPr/>
        </p:nvSpPr>
        <p:spPr>
          <a:xfrm>
            <a:off x="7315200" y="386791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04" name="Shape 202"/>
          <p:cNvSpPr/>
          <p:nvPr/>
        </p:nvSpPr>
        <p:spPr>
          <a:xfrm>
            <a:off x="7315200" y="429768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05" name="Shape 203"/>
          <p:cNvSpPr/>
          <p:nvPr/>
        </p:nvSpPr>
        <p:spPr>
          <a:xfrm>
            <a:off x="7315200" y="472744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06" name="Shape 204"/>
          <p:cNvSpPr/>
          <p:nvPr/>
        </p:nvSpPr>
        <p:spPr>
          <a:xfrm>
            <a:off x="7772400" y="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07" name="Shape 205"/>
          <p:cNvSpPr/>
          <p:nvPr/>
        </p:nvSpPr>
        <p:spPr>
          <a:xfrm>
            <a:off x="7772400" y="42976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08" name="Shape 206"/>
          <p:cNvSpPr/>
          <p:nvPr/>
        </p:nvSpPr>
        <p:spPr>
          <a:xfrm>
            <a:off x="7772400" y="85953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09" name="Shape 207"/>
          <p:cNvSpPr/>
          <p:nvPr/>
        </p:nvSpPr>
        <p:spPr>
          <a:xfrm>
            <a:off x="7772400" y="128930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10" name="Shape 208"/>
          <p:cNvSpPr/>
          <p:nvPr/>
        </p:nvSpPr>
        <p:spPr>
          <a:xfrm>
            <a:off x="7772400" y="171907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11" name="Shape 209"/>
          <p:cNvSpPr/>
          <p:nvPr/>
        </p:nvSpPr>
        <p:spPr>
          <a:xfrm>
            <a:off x="7772400" y="214884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12" name="Shape 210"/>
          <p:cNvSpPr/>
          <p:nvPr/>
        </p:nvSpPr>
        <p:spPr>
          <a:xfrm>
            <a:off x="7772400" y="257860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13" name="Shape 211"/>
          <p:cNvSpPr/>
          <p:nvPr/>
        </p:nvSpPr>
        <p:spPr>
          <a:xfrm>
            <a:off x="7772400" y="300837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14" name="Shape 212"/>
          <p:cNvSpPr/>
          <p:nvPr/>
        </p:nvSpPr>
        <p:spPr>
          <a:xfrm>
            <a:off x="7772400" y="343814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15" name="Shape 213"/>
          <p:cNvSpPr/>
          <p:nvPr/>
        </p:nvSpPr>
        <p:spPr>
          <a:xfrm>
            <a:off x="7772400" y="386791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16" name="Shape 214"/>
          <p:cNvSpPr/>
          <p:nvPr/>
        </p:nvSpPr>
        <p:spPr>
          <a:xfrm>
            <a:off x="7772400" y="429768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17" name="Shape 215"/>
          <p:cNvSpPr/>
          <p:nvPr/>
        </p:nvSpPr>
        <p:spPr>
          <a:xfrm>
            <a:off x="7772400" y="472744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18" name="Shape 216"/>
          <p:cNvSpPr/>
          <p:nvPr/>
        </p:nvSpPr>
        <p:spPr>
          <a:xfrm>
            <a:off x="8229600" y="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19" name="Shape 217"/>
          <p:cNvSpPr/>
          <p:nvPr/>
        </p:nvSpPr>
        <p:spPr>
          <a:xfrm>
            <a:off x="8229600" y="42976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20" name="Shape 218"/>
          <p:cNvSpPr/>
          <p:nvPr/>
        </p:nvSpPr>
        <p:spPr>
          <a:xfrm>
            <a:off x="8229600" y="85953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21" name="Shape 219"/>
          <p:cNvSpPr/>
          <p:nvPr/>
        </p:nvSpPr>
        <p:spPr>
          <a:xfrm>
            <a:off x="8229600" y="128930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22" name="Shape 220"/>
          <p:cNvSpPr/>
          <p:nvPr/>
        </p:nvSpPr>
        <p:spPr>
          <a:xfrm>
            <a:off x="8229600" y="171907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23" name="Shape 221"/>
          <p:cNvSpPr/>
          <p:nvPr/>
        </p:nvSpPr>
        <p:spPr>
          <a:xfrm>
            <a:off x="8229600" y="214884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24" name="Shape 222"/>
          <p:cNvSpPr/>
          <p:nvPr/>
        </p:nvSpPr>
        <p:spPr>
          <a:xfrm>
            <a:off x="8229600" y="257860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25" name="Shape 223"/>
          <p:cNvSpPr/>
          <p:nvPr/>
        </p:nvSpPr>
        <p:spPr>
          <a:xfrm>
            <a:off x="8229600" y="300837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26" name="Shape 224"/>
          <p:cNvSpPr/>
          <p:nvPr/>
        </p:nvSpPr>
        <p:spPr>
          <a:xfrm>
            <a:off x="8229600" y="343814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27" name="Shape 225"/>
          <p:cNvSpPr/>
          <p:nvPr/>
        </p:nvSpPr>
        <p:spPr>
          <a:xfrm>
            <a:off x="8229600" y="386791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28" name="Shape 226"/>
          <p:cNvSpPr/>
          <p:nvPr/>
        </p:nvSpPr>
        <p:spPr>
          <a:xfrm>
            <a:off x="8229600" y="429768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29" name="Shape 227"/>
          <p:cNvSpPr/>
          <p:nvPr/>
        </p:nvSpPr>
        <p:spPr>
          <a:xfrm>
            <a:off x="8229600" y="472744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30" name="Shape 228"/>
          <p:cNvSpPr/>
          <p:nvPr/>
        </p:nvSpPr>
        <p:spPr>
          <a:xfrm>
            <a:off x="8686800" y="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31" name="Shape 229"/>
          <p:cNvSpPr/>
          <p:nvPr/>
        </p:nvSpPr>
        <p:spPr>
          <a:xfrm>
            <a:off x="8686800" y="42976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32" name="Shape 230"/>
          <p:cNvSpPr/>
          <p:nvPr/>
        </p:nvSpPr>
        <p:spPr>
          <a:xfrm>
            <a:off x="8686800" y="85953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33" name="Shape 231"/>
          <p:cNvSpPr/>
          <p:nvPr/>
        </p:nvSpPr>
        <p:spPr>
          <a:xfrm>
            <a:off x="8686800" y="128930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34" name="Shape 232"/>
          <p:cNvSpPr/>
          <p:nvPr/>
        </p:nvSpPr>
        <p:spPr>
          <a:xfrm>
            <a:off x="8686800" y="171907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35" name="Shape 233"/>
          <p:cNvSpPr/>
          <p:nvPr/>
        </p:nvSpPr>
        <p:spPr>
          <a:xfrm>
            <a:off x="8686800" y="214884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36" name="Shape 234"/>
          <p:cNvSpPr/>
          <p:nvPr/>
        </p:nvSpPr>
        <p:spPr>
          <a:xfrm>
            <a:off x="8686800" y="257860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37" name="Shape 235"/>
          <p:cNvSpPr/>
          <p:nvPr/>
        </p:nvSpPr>
        <p:spPr>
          <a:xfrm>
            <a:off x="8686800" y="300837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38" name="Shape 236"/>
          <p:cNvSpPr/>
          <p:nvPr/>
        </p:nvSpPr>
        <p:spPr>
          <a:xfrm>
            <a:off x="8686800" y="343814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39" name="Shape 237"/>
          <p:cNvSpPr/>
          <p:nvPr/>
        </p:nvSpPr>
        <p:spPr>
          <a:xfrm>
            <a:off x="8686800" y="386791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40" name="Shape 238"/>
          <p:cNvSpPr/>
          <p:nvPr/>
        </p:nvSpPr>
        <p:spPr>
          <a:xfrm>
            <a:off x="8686800" y="429768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41" name="Shape 239"/>
          <p:cNvSpPr/>
          <p:nvPr/>
        </p:nvSpPr>
        <p:spPr>
          <a:xfrm>
            <a:off x="8686800" y="472744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42" name="Shape 240"/>
          <p:cNvSpPr/>
          <p:nvPr/>
        </p:nvSpPr>
        <p:spPr>
          <a:xfrm>
            <a:off x="22559" y="1733450"/>
            <a:ext cx="9121441" cy="1710589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43" name="Shape 241"/>
          <p:cNvSpPr/>
          <p:nvPr/>
        </p:nvSpPr>
        <p:spPr>
          <a:xfrm>
            <a:off x="22559" y="1733450"/>
            <a:ext cx="106479" cy="1710589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44" name="Text 242"/>
          <p:cNvSpPr/>
          <p:nvPr/>
        </p:nvSpPr>
        <p:spPr>
          <a:xfrm>
            <a:off x="365760" y="205740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200" b="1" kern="0" spc="100">
                <a:solidFill>
                  <a:srgbClr val="FFFFFF"/>
                </a:solidFill>
                <a:ea typeface="+mn-lt"/>
                <a:cs typeface="+mn-lt"/>
              </a:rPr>
              <a:t>Code to Cloud: The Full-Stack IoT Portfolio Workshop</a:t>
            </a:r>
            <a:endParaRPr lang="en-US"/>
          </a:p>
        </p:txBody>
      </p:sp>
      <p:sp>
        <p:nvSpPr>
          <p:cNvPr id="245" name="Text 243"/>
          <p:cNvSpPr/>
          <p:nvPr/>
        </p:nvSpPr>
        <p:spPr>
          <a:xfrm>
            <a:off x="365760" y="301451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Beginner Web Workshop</a:t>
            </a:r>
            <a:endParaRPr lang="en-US" sz="2000" dirty="0"/>
          </a:p>
        </p:txBody>
      </p:sp>
      <p:sp>
        <p:nvSpPr>
          <p:cNvPr id="246" name="Shape 244"/>
          <p:cNvSpPr/>
          <p:nvPr/>
        </p:nvSpPr>
        <p:spPr>
          <a:xfrm>
            <a:off x="457200" y="3931920"/>
            <a:ext cx="1463040" cy="329184"/>
          </a:xfrm>
          <a:prstGeom prst="roundRect">
            <a:avLst>
              <a:gd name="adj" fmla="val 22222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47" name="Text 245"/>
          <p:cNvSpPr/>
          <p:nvPr/>
        </p:nvSpPr>
        <p:spPr>
          <a:xfrm>
            <a:off x="457200" y="393192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  HTML</a:t>
            </a:r>
            <a:endParaRPr lang="en-US" sz="1000" dirty="0"/>
          </a:p>
        </p:txBody>
      </p:sp>
      <p:sp>
        <p:nvSpPr>
          <p:cNvPr id="248" name="Shape 246"/>
          <p:cNvSpPr/>
          <p:nvPr/>
        </p:nvSpPr>
        <p:spPr>
          <a:xfrm>
            <a:off x="2103120" y="3931920"/>
            <a:ext cx="1463040" cy="329184"/>
          </a:xfrm>
          <a:prstGeom prst="roundRect">
            <a:avLst>
              <a:gd name="adj" fmla="val 22222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49" name="Text 247"/>
          <p:cNvSpPr/>
          <p:nvPr/>
        </p:nvSpPr>
        <p:spPr>
          <a:xfrm>
            <a:off x="2103120" y="393192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  CSS</a:t>
            </a:r>
            <a:endParaRPr lang="en-US" sz="1000" dirty="0"/>
          </a:p>
        </p:txBody>
      </p:sp>
      <p:sp>
        <p:nvSpPr>
          <p:cNvPr id="250" name="Shape 248"/>
          <p:cNvSpPr/>
          <p:nvPr/>
        </p:nvSpPr>
        <p:spPr>
          <a:xfrm>
            <a:off x="3749040" y="3931920"/>
            <a:ext cx="1463040" cy="329184"/>
          </a:xfrm>
          <a:prstGeom prst="roundRect">
            <a:avLst>
              <a:gd name="adj" fmla="val 22222"/>
            </a:avLst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51" name="Text 249"/>
          <p:cNvSpPr/>
          <p:nvPr/>
        </p:nvSpPr>
        <p:spPr>
          <a:xfrm>
            <a:off x="3749040" y="393192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  JavaScript</a:t>
            </a:r>
            <a:endParaRPr lang="en-US" sz="1000" dirty="0"/>
          </a:p>
        </p:txBody>
      </p:sp>
      <p:sp>
        <p:nvSpPr>
          <p:cNvPr id="252" name="Shape 25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A7F66512-7AD8-70FA-B551-4B07D2086A61}"/>
              </a:ext>
            </a:extLst>
          </p:cNvPr>
          <p:cNvSpPr/>
          <p:nvPr/>
        </p:nvSpPr>
        <p:spPr>
          <a:xfrm>
            <a:off x="0" y="0"/>
            <a:ext cx="54864" cy="59436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n-MY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E6AC4B-56E3-B5A1-B0E5-DEAADE173F8A}"/>
              </a:ext>
            </a:extLst>
          </p:cNvPr>
          <p:cNvSpPr txBox="1"/>
          <p:nvPr/>
        </p:nvSpPr>
        <p:spPr>
          <a:xfrm>
            <a:off x="122035" y="112514"/>
            <a:ext cx="45754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 Disclaimer Form</a:t>
            </a:r>
          </a:p>
          <a:p>
            <a:pPr marL="0" indent="0">
              <a:buNone/>
            </a:pPr>
            <a:endParaRPr lang="en-US" sz="180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6AEB9873-FEAA-BFD1-C888-06C4EC211754}"/>
              </a:ext>
            </a:extLst>
          </p:cNvPr>
          <p:cNvSpPr/>
          <p:nvPr/>
        </p:nvSpPr>
        <p:spPr>
          <a:xfrm>
            <a:off x="3693351" y="3974202"/>
            <a:ext cx="145616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MY" b="1" dirty="0"/>
              <a:t>EPF00005644</a:t>
            </a:r>
            <a:endParaRPr lang="en-US" sz="20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E94A3DC-CE76-5B6E-FAB2-8A0B9A37B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3389" y="783762"/>
            <a:ext cx="3165523" cy="3165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37320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54864" cy="5943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Overview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Build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143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web dashboard that talks to an ESP32 microcontroller via Firebase cloud.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0040" y="1691640"/>
            <a:ext cx="269748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8" name="Shape 6"/>
          <p:cNvSpPr/>
          <p:nvPr/>
        </p:nvSpPr>
        <p:spPr>
          <a:xfrm>
            <a:off x="320040" y="1691640"/>
            <a:ext cx="2697480" cy="685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9" name="Text 7"/>
          <p:cNvSpPr/>
          <p:nvPr/>
        </p:nvSpPr>
        <p:spPr>
          <a:xfrm>
            <a:off x="320040" y="1691640"/>
            <a:ext cx="548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822960" y="17373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22960" y="2075688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CCD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2514600"/>
            <a:ext cx="2423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your page layout with semantic tags: headings, divs, inputs, buttons, and text spans.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4114800"/>
            <a:ext cx="2423160" cy="256032"/>
          </a:xfrm>
          <a:prstGeom prst="roundRect">
            <a:avLst>
              <a:gd name="adj" fmla="val 21429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4" name="Text 12"/>
          <p:cNvSpPr/>
          <p:nvPr/>
        </p:nvSpPr>
        <p:spPr>
          <a:xfrm>
            <a:off x="457200" y="411480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index.html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227832" y="1691640"/>
            <a:ext cx="269748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16" name="Shape 14"/>
          <p:cNvSpPr/>
          <p:nvPr/>
        </p:nvSpPr>
        <p:spPr>
          <a:xfrm>
            <a:off x="3227832" y="1691640"/>
            <a:ext cx="2697480" cy="685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7" name="Text 15"/>
          <p:cNvSpPr/>
          <p:nvPr/>
        </p:nvSpPr>
        <p:spPr>
          <a:xfrm>
            <a:off x="3227832" y="1691640"/>
            <a:ext cx="548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3730752" y="17373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3730752" y="2075688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CCD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Styling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364992" y="2514600"/>
            <a:ext cx="2423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it look great — colors, spacing, cards, responsive layout, and flexbox.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364992" y="4114800"/>
            <a:ext cx="2423160" cy="256032"/>
          </a:xfrm>
          <a:prstGeom prst="roundRect">
            <a:avLst>
              <a:gd name="adj" fmla="val 21429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2" name="Text 20"/>
          <p:cNvSpPr/>
          <p:nvPr/>
        </p:nvSpPr>
        <p:spPr>
          <a:xfrm>
            <a:off x="3364992" y="411480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styles.css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35624" y="1691640"/>
            <a:ext cx="269748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24" name="Shape 22"/>
          <p:cNvSpPr/>
          <p:nvPr/>
        </p:nvSpPr>
        <p:spPr>
          <a:xfrm>
            <a:off x="6135624" y="1691640"/>
            <a:ext cx="2697480" cy="68580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5" name="Text 23"/>
          <p:cNvSpPr/>
          <p:nvPr/>
        </p:nvSpPr>
        <p:spPr>
          <a:xfrm>
            <a:off x="6135624" y="1691640"/>
            <a:ext cx="548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6638544" y="17373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6638544" y="2075688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CCD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 + Firebase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272784" y="2514600"/>
            <a:ext cx="2423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to Firebase Realtime Database, listen for data changes, and send commands.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72784" y="4114800"/>
            <a:ext cx="2423160" cy="256032"/>
          </a:xfrm>
          <a:prstGeom prst="roundRect">
            <a:avLst>
              <a:gd name="adj" fmla="val 21429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0" name="Text 28"/>
          <p:cNvSpPr/>
          <p:nvPr/>
        </p:nvSpPr>
        <p:spPr>
          <a:xfrm>
            <a:off x="6272784" y="411480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app.js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54864" cy="5943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 · HTML — Structure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HTML?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114300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(HyperText Markup Language) is the skeleton of every webpage. It defines what content exists and how it is structured — not how it looks.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" y="1965960"/>
            <a:ext cx="19659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8" name="Shape 6"/>
          <p:cNvSpPr/>
          <p:nvPr/>
        </p:nvSpPr>
        <p:spPr>
          <a:xfrm>
            <a:off x="320040" y="1965960"/>
            <a:ext cx="45720" cy="5943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9" name="Text 7"/>
          <p:cNvSpPr/>
          <p:nvPr/>
        </p:nvSpPr>
        <p:spPr>
          <a:xfrm>
            <a:off x="429768" y="200253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&lt;h1&gt; … &lt;h6&gt;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29768" y="226771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Headings — page titles and section names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0040" y="2651760"/>
            <a:ext cx="19659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12" name="Shape 10"/>
          <p:cNvSpPr/>
          <p:nvPr/>
        </p:nvSpPr>
        <p:spPr>
          <a:xfrm>
            <a:off x="320040" y="2651760"/>
            <a:ext cx="45720" cy="5943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3" name="Text 11"/>
          <p:cNvSpPr/>
          <p:nvPr/>
        </p:nvSpPr>
        <p:spPr>
          <a:xfrm>
            <a:off x="429768" y="268833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&lt;p&gt;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29768" y="295351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Paragraph — blocks of text content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0040" y="3337560"/>
            <a:ext cx="19659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16" name="Shape 14"/>
          <p:cNvSpPr/>
          <p:nvPr/>
        </p:nvSpPr>
        <p:spPr>
          <a:xfrm>
            <a:off x="320040" y="3337560"/>
            <a:ext cx="45720" cy="5943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7" name="Text 15"/>
          <p:cNvSpPr/>
          <p:nvPr/>
        </p:nvSpPr>
        <p:spPr>
          <a:xfrm>
            <a:off x="429768" y="337413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&lt;div&gt;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29768" y="363931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— groups related elements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0040" y="4023360"/>
            <a:ext cx="45720" cy="5943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1" name="Text 19"/>
          <p:cNvSpPr/>
          <p:nvPr/>
        </p:nvSpPr>
        <p:spPr>
          <a:xfrm>
            <a:off x="429768" y="405993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&lt;span&gt;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29768" y="432511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container — highlights a value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423160" y="1965960"/>
            <a:ext cx="19659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24" name="Shape 22"/>
          <p:cNvSpPr/>
          <p:nvPr/>
        </p:nvSpPr>
        <p:spPr>
          <a:xfrm>
            <a:off x="2423160" y="1965960"/>
            <a:ext cx="45720" cy="5943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5" name="Text 23"/>
          <p:cNvSpPr/>
          <p:nvPr/>
        </p:nvSpPr>
        <p:spPr>
          <a:xfrm>
            <a:off x="2532888" y="200253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&lt;input&gt;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532888" y="226771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control — slider, text box, etc.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423160" y="2651760"/>
            <a:ext cx="19659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28" name="Shape 26"/>
          <p:cNvSpPr/>
          <p:nvPr/>
        </p:nvSpPr>
        <p:spPr>
          <a:xfrm>
            <a:off x="2423160" y="2651760"/>
            <a:ext cx="45720" cy="5943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9" name="Text 27"/>
          <p:cNvSpPr/>
          <p:nvPr/>
        </p:nvSpPr>
        <p:spPr>
          <a:xfrm>
            <a:off x="2532888" y="268833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&lt;button&gt;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2532888" y="295351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Clickable action trigger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423160" y="3337560"/>
            <a:ext cx="19659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32" name="Shape 30"/>
          <p:cNvSpPr/>
          <p:nvPr/>
        </p:nvSpPr>
        <p:spPr>
          <a:xfrm>
            <a:off x="2423160" y="3337560"/>
            <a:ext cx="45720" cy="5943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3" name="Text 31"/>
          <p:cNvSpPr/>
          <p:nvPr/>
        </p:nvSpPr>
        <p:spPr>
          <a:xfrm>
            <a:off x="2532888" y="337413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&lt;script&gt;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532888" y="363931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JavaScript logic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423160" y="4023360"/>
            <a:ext cx="19659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36" name="Shape 34"/>
          <p:cNvSpPr/>
          <p:nvPr/>
        </p:nvSpPr>
        <p:spPr>
          <a:xfrm>
            <a:off x="2423160" y="4023360"/>
            <a:ext cx="45720" cy="5943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7" name="Text 35"/>
          <p:cNvSpPr/>
          <p:nvPr/>
        </p:nvSpPr>
        <p:spPr>
          <a:xfrm>
            <a:off x="2532888" y="405993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&lt;link&gt;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532888" y="432511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external CSS stylesheet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663440" y="7772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webpage's anatomy: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4663440" y="1143000"/>
            <a:ext cx="4114800" cy="37490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graphicFrame>
        <p:nvGraphicFramePr>
          <p:cNvPr id="42" name="Table 41">
            <a:extLst>
              <a:ext uri="{FF2B5EF4-FFF2-40B4-BE49-F238E27FC236}">
                <a16:creationId xmlns:a16="http://schemas.microsoft.com/office/drawing/2014/main" id="{78FDC09F-9C51-BDDF-1E48-2F19A79397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3280247"/>
              </p:ext>
            </p:extLst>
          </p:nvPr>
        </p:nvGraphicFramePr>
        <p:xfrm>
          <a:off x="4663554" y="1143000"/>
          <a:ext cx="4114800" cy="374904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892327648"/>
                    </a:ext>
                  </a:extLst>
                </a:gridCol>
              </a:tblGrid>
              <a:tr h="374904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MY" sz="6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MY" sz="6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html</a:t>
                      </a:r>
                      <a:r>
                        <a:rPr lang="en-MY" sz="6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6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MY" sz="6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head</a:t>
                      </a:r>
                      <a:r>
                        <a:rPr lang="en-MY" sz="6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MY" sz="6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&lt;!-- tells browser: text encoding &amp; mobile scaling --&gt;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MY" sz="6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MY" sz="6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meta</a:t>
                      </a:r>
                      <a:r>
                        <a:rPr lang="en-MY" sz="6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MY" sz="6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&lt;!-- text shown in the browser tab --&gt;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MY" sz="6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MY" sz="6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title</a:t>
                      </a:r>
                      <a:r>
                        <a:rPr lang="en-MY" sz="6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MY" sz="6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&lt;!-- loads external CSS stylesheet --&gt;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MY" sz="6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MY" sz="6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link</a:t>
                      </a:r>
                      <a:r>
                        <a:rPr lang="en-MY" sz="6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6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&lt;/</a:t>
                      </a:r>
                      <a:r>
                        <a:rPr lang="en-MY" sz="6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head</a:t>
                      </a:r>
                      <a:r>
                        <a:rPr lang="en-MY" sz="6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6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MY" sz="6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body</a:t>
                      </a:r>
                      <a:r>
                        <a:rPr lang="en-MY" sz="6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MY" sz="6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&lt;!-- heading --&gt;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MY" sz="6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MY" sz="6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h1</a:t>
                      </a:r>
                      <a:r>
                        <a:rPr lang="en-MY" sz="6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MY" sz="6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&lt;!-- paragraph --&gt;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MY" sz="6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MY" sz="6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p</a:t>
                      </a:r>
                      <a:r>
                        <a:rPr lang="en-MY" sz="6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MY" sz="6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&lt;!-- container / group --&gt;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MY" sz="6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MY" sz="6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div</a:t>
                      </a:r>
                      <a:r>
                        <a:rPr lang="en-MY" sz="6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  </a:t>
                      </a:r>
                      <a:r>
                        <a:rPr lang="en-MY" sz="6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&lt;!-- sub-heading --&gt;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  </a:t>
                      </a:r>
                      <a:r>
                        <a:rPr lang="en-MY" sz="6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MY" sz="6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h2</a:t>
                      </a:r>
                      <a:r>
                        <a:rPr lang="en-MY" sz="6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  </a:t>
                      </a:r>
                      <a:r>
                        <a:rPr lang="en-MY" sz="6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&lt;!-- paragraph --&gt;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  </a:t>
                      </a:r>
                      <a:r>
                        <a:rPr lang="en-MY" sz="6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MY" sz="6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p</a:t>
                      </a:r>
                      <a:r>
                        <a:rPr lang="en-MY" sz="6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  </a:t>
                      </a:r>
                      <a:r>
                        <a:rPr lang="en-MY" sz="6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&lt;!-- form control (slider, text box) --&gt;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  </a:t>
                      </a:r>
                      <a:r>
                        <a:rPr lang="en-MY" sz="6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MY" sz="6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input</a:t>
                      </a:r>
                      <a:r>
                        <a:rPr lang="en-MY" sz="6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  </a:t>
                      </a:r>
                      <a:r>
                        <a:rPr lang="en-MY" sz="6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&lt;!-- clickable action trigger --&gt;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  </a:t>
                      </a:r>
                      <a:r>
                        <a:rPr lang="en-MY" sz="6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MY" sz="6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button</a:t>
                      </a:r>
                      <a:r>
                        <a:rPr lang="en-MY" sz="6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MY" sz="6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&lt;/</a:t>
                      </a:r>
                      <a:r>
                        <a:rPr lang="en-MY" sz="6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div</a:t>
                      </a:r>
                      <a:r>
                        <a:rPr lang="en-MY" sz="6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MY" sz="6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&lt;!-- loads JavaScript logic --&gt;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MY" sz="6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MY" sz="6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script</a:t>
                      </a:r>
                      <a:r>
                        <a:rPr lang="en-MY" sz="6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6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&lt;/</a:t>
                      </a:r>
                      <a:r>
                        <a:rPr lang="en-MY" sz="6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body</a:t>
                      </a:r>
                      <a:r>
                        <a:rPr lang="en-MY" sz="6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&lt;/</a:t>
                      </a:r>
                      <a:r>
                        <a:rPr lang="en-MY" sz="6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html</a:t>
                      </a:r>
                      <a:r>
                        <a:rPr lang="en-MY" sz="6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endParaRPr lang="en-MY" sz="1000" dirty="0">
                        <a:effectLst/>
                      </a:endParaRPr>
                    </a:p>
                  </a:txBody>
                  <a:tcPr marL="31368" marR="31368" marT="31368" marB="31368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1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6162036"/>
                  </a:ext>
                </a:extLst>
              </a:tr>
            </a:tbl>
          </a:graphicData>
        </a:graphic>
      </p:graphicFrame>
      <p:sp>
        <p:nvSpPr>
          <p:cNvPr id="43" name="Rectangle 1">
            <a:extLst>
              <a:ext uri="{FF2B5EF4-FFF2-40B4-BE49-F238E27FC236}">
                <a16:creationId xmlns:a16="http://schemas.microsoft.com/office/drawing/2014/main" id="{571FB1BE-BE41-4BE8-AADA-E42F5816EF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63668" y="1142999"/>
            <a:ext cx="9657645" cy="525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MY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54864" cy="5943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— Head &amp; Servo Card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20040" y="685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Page Head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005840"/>
            <a:ext cx="4114800" cy="39319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8" name="Text 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Servo Control Card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09160" y="1005840"/>
            <a:ext cx="4114800" cy="39319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11" name="Shape 9"/>
          <p:cNvSpPr/>
          <p:nvPr/>
        </p:nvSpPr>
        <p:spPr>
          <a:xfrm>
            <a:off x="320040" y="4663440"/>
            <a:ext cx="8503920" cy="32004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2" name="Text 10"/>
          <p:cNvSpPr/>
          <p:nvPr/>
        </p:nvSpPr>
        <p:spPr>
          <a:xfrm>
            <a:off x="450314" y="4690983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2563EB"/>
                </a:solidFill>
                <a:latin typeface="Calibri"/>
                <a:ea typeface="Calibri"/>
                <a:cs typeface="Calibri"/>
              </a:rPr>
              <a:t>*id attributes let JavaScript find and update these elements in real time</a:t>
            </a:r>
            <a:endParaRPr lang="en-US" sz="1100">
              <a:latin typeface="Calibri"/>
              <a:ea typeface="Calibri"/>
              <a:cs typeface="Calibri"/>
            </a:endParaRPr>
          </a:p>
        </p:txBody>
      </p:sp>
      <p:sp>
        <p:nvSpPr>
          <p:cNvPr id="14" name="Rectangle 1">
            <a:extLst>
              <a:ext uri="{FF2B5EF4-FFF2-40B4-BE49-F238E27FC236}">
                <a16:creationId xmlns:a16="http://schemas.microsoft.com/office/drawing/2014/main" id="{FD4731E8-4D97-C3DA-DAFC-0B1CC639E5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141214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MY"/>
          </a:p>
        </p:txBody>
      </p:sp>
      <p:sp>
        <p:nvSpPr>
          <p:cNvPr id="16" name="Rectangle 2">
            <a:extLst>
              <a:ext uri="{FF2B5EF4-FFF2-40B4-BE49-F238E27FC236}">
                <a16:creationId xmlns:a16="http://schemas.microsoft.com/office/drawing/2014/main" id="{55164564-4E9B-B862-FCD4-BA751D3FB2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09422" y="1035368"/>
            <a:ext cx="9406627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MY"/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684ED968-74C7-9662-3549-0ADC268BBD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1326867"/>
              </p:ext>
            </p:extLst>
          </p:nvPr>
        </p:nvGraphicFramePr>
        <p:xfrm>
          <a:off x="320040" y="992252"/>
          <a:ext cx="4114800" cy="3624002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730127681"/>
                    </a:ext>
                  </a:extLst>
                </a:gridCol>
              </a:tblGrid>
              <a:tr h="359594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&lt;!DOCTYPE html&gt;</a:t>
                      </a:r>
                      <a:b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MY" sz="10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html</a:t>
                      </a: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MY" sz="1000" b="0" i="0" u="none" strike="noStrike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lang</a:t>
                      </a: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=</a:t>
                      </a:r>
                      <a:r>
                        <a:rPr lang="en-MY" sz="10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en-MY" sz="1000" b="0" i="0" u="none" strike="noStrike" dirty="0" err="1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en</a:t>
                      </a:r>
                      <a:r>
                        <a:rPr lang="en-MY" sz="10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b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MY" sz="10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head</a:t>
                      </a: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b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MY" sz="10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meta</a:t>
                      </a: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MY" sz="1000" b="0" i="0" u="none" strike="noStrike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charset</a:t>
                      </a: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=</a:t>
                      </a:r>
                      <a:r>
                        <a:rPr lang="en-MY" sz="10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"UTF-8"</a:t>
                      </a: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 /&gt;</a:t>
                      </a:r>
                      <a:b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MY" sz="10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meta</a:t>
                      </a: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MY" sz="1000" b="0" i="0" u="none" strike="noStrike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name</a:t>
                      </a: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=</a:t>
                      </a:r>
                      <a:r>
                        <a:rPr lang="en-MY" sz="10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"viewport"</a:t>
                      </a: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MY" sz="1000" b="0" i="0" u="none" strike="noStrike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content</a:t>
                      </a: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=</a:t>
                      </a:r>
                      <a:r>
                        <a:rPr lang="en-MY" sz="10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"width=device-width, initial-scale=1.0"</a:t>
                      </a: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 /&gt;</a:t>
                      </a:r>
                      <a:b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MY" sz="10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title</a:t>
                      </a: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ESP32 Dashboard</a:t>
                      </a: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&lt;/</a:t>
                      </a:r>
                      <a:r>
                        <a:rPr lang="en-MY" sz="10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title</a:t>
                      </a: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b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MY" sz="10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link</a:t>
                      </a: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MY" sz="1000" b="0" i="0" u="none" strike="noStrike" dirty="0" err="1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rel</a:t>
                      </a: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=</a:t>
                      </a:r>
                      <a:r>
                        <a:rPr lang="en-MY" sz="10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"stylesheet"</a:t>
                      </a: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MY" sz="1000" b="0" i="0" u="none" strike="noStrike" dirty="0" err="1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href</a:t>
                      </a: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=</a:t>
                      </a:r>
                      <a:r>
                        <a:rPr lang="en-MY" sz="10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"styles.css"</a:t>
                      </a: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 /&gt;</a:t>
                      </a:r>
                      <a:b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&lt;/</a:t>
                      </a:r>
                      <a:r>
                        <a:rPr lang="en-MY" sz="10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head</a:t>
                      </a: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b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MY" sz="10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body</a:t>
                      </a: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b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MY" sz="10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div</a:t>
                      </a: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MY" sz="1000" b="0" i="0" u="none" strike="noStrike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style</a:t>
                      </a: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=</a:t>
                      </a:r>
                      <a:r>
                        <a:rPr lang="en-MY" sz="10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"text-align: </a:t>
                      </a:r>
                      <a:r>
                        <a:rPr lang="en-MY" sz="1000" b="0" i="0" u="none" strike="noStrike" dirty="0" err="1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center</a:t>
                      </a:r>
                      <a:r>
                        <a:rPr lang="en-MY" sz="10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; margin-bottom: 50px;"</a:t>
                      </a: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b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MY" sz="1000" b="0" i="0" u="none" strike="noStrike" dirty="0" err="1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img</a:t>
                      </a:r>
                      <a:b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MY" sz="1000" b="0" i="0" u="none" strike="noStrike" dirty="0" err="1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src</a:t>
                      </a: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=</a:t>
                      </a:r>
                      <a:r>
                        <a:rPr lang="en-MY" sz="10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"Images/IEM 2021 Logo Blue Edition.png"</a:t>
                      </a:r>
                      <a:b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MY" sz="1000" b="0" i="0" u="none" strike="noStrike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alt</a:t>
                      </a: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=</a:t>
                      </a:r>
                      <a:r>
                        <a:rPr lang="en-MY" sz="10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"IEM 2021 Logo"</a:t>
                      </a:r>
                      <a:b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MY" sz="1000" b="0" i="0" u="none" strike="noStrike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style</a:t>
                      </a: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=</a:t>
                      </a:r>
                      <a:r>
                        <a:rPr lang="en-MY" sz="10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"max-width: 220px; width: 100%; margin-bottom: 20px;"</a:t>
                      </a:r>
                      <a:b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  /&gt;</a:t>
                      </a:r>
                      <a:b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MY" sz="10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h1</a:t>
                      </a: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MY" sz="1000" b="0" i="0" u="none" strike="noStrike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style</a:t>
                      </a: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=</a:t>
                      </a:r>
                      <a:r>
                        <a:rPr lang="en-MY" sz="10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"margin: 0;"</a:t>
                      </a: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ESP32 Firebase Dashboard</a:t>
                      </a: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&lt;/</a:t>
                      </a:r>
                      <a:r>
                        <a:rPr lang="en-MY" sz="10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h1</a:t>
                      </a: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b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&lt;/</a:t>
                      </a:r>
                      <a:r>
                        <a:rPr lang="en-MY" sz="10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div</a:t>
                      </a: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b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10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&lt;!-- Shows Firebase connection status --&gt;</a:t>
                      </a:r>
                      <a:b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MY" sz="10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p</a:t>
                      </a: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MY" sz="1000" b="0" i="0" u="none" strike="noStrike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class</a:t>
                      </a: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=</a:t>
                      </a:r>
                      <a:r>
                        <a:rPr lang="en-MY" sz="10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"status"</a:t>
                      </a: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MY" sz="1000" b="0" i="0" u="none" strike="noStrike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id</a:t>
                      </a: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=</a:t>
                      </a:r>
                      <a:r>
                        <a:rPr lang="en-MY" sz="10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"status"</a:t>
                      </a: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Connecting...</a:t>
                      </a: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&lt;/</a:t>
                      </a:r>
                      <a:r>
                        <a:rPr lang="en-MY" sz="10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p</a:t>
                      </a:r>
                      <a:r>
                        <a:rPr lang="en-MY" sz="10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endParaRPr lang="en-MY" sz="1700" dirty="0">
                        <a:effectLst/>
                      </a:endParaRPr>
                    </a:p>
                  </a:txBody>
                  <a:tcPr marL="59401" marR="59401" marT="59401" marB="59401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1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4707444"/>
                  </a:ext>
                </a:extLst>
              </a:tr>
            </a:tbl>
          </a:graphicData>
        </a:graphic>
      </p:graphicFrame>
      <p:sp>
        <p:nvSpPr>
          <p:cNvPr id="18" name="Rectangle 1">
            <a:extLst>
              <a:ext uri="{FF2B5EF4-FFF2-40B4-BE49-F238E27FC236}">
                <a16:creationId xmlns:a16="http://schemas.microsoft.com/office/drawing/2014/main" id="{9290409E-27EA-7C79-A63B-EFA1AB57DA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9502" y="992121"/>
            <a:ext cx="5099980" cy="4953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MY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5C57A531-55A9-35E9-092E-AE5DC597AE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8760068"/>
              </p:ext>
            </p:extLst>
          </p:nvPr>
        </p:nvGraphicFramePr>
        <p:xfrm>
          <a:off x="4709422" y="992411"/>
          <a:ext cx="4060310" cy="3643486"/>
        </p:xfrm>
        <a:graphic>
          <a:graphicData uri="http://schemas.openxmlformats.org/drawingml/2006/table">
            <a:tbl>
              <a:tblPr/>
              <a:tblGrid>
                <a:gridCol w="4060310">
                  <a:extLst>
                    <a:ext uri="{9D8B030D-6E8A-4147-A177-3AD203B41FA5}">
                      <a16:colId xmlns:a16="http://schemas.microsoft.com/office/drawing/2014/main" val="1151763935"/>
                    </a:ext>
                  </a:extLst>
                </a:gridCol>
              </a:tblGrid>
              <a:tr h="3643486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MY" sz="11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11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&lt;!-- ========== SERVO CONTROL CARD ========== --&gt;</a:t>
                      </a:r>
                      <a:br>
                        <a:rPr lang="en-MY" sz="11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1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MY" sz="11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div</a:t>
                      </a:r>
                      <a:r>
                        <a:rPr lang="en-MY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MY" sz="1100" b="0" i="0" u="none" strike="noStrike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class</a:t>
                      </a:r>
                      <a:r>
                        <a:rPr lang="en-MY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=</a:t>
                      </a:r>
                      <a:r>
                        <a:rPr lang="en-MY" sz="11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"card"</a:t>
                      </a:r>
                      <a:r>
                        <a:rPr lang="en-MY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br>
                        <a:rPr lang="en-MY" sz="11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en-MY" sz="11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1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MY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MY" sz="11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h2</a:t>
                      </a:r>
                      <a:r>
                        <a:rPr lang="en-MY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r>
                        <a:rPr lang="en-MY" sz="11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Servo Control</a:t>
                      </a:r>
                      <a:r>
                        <a:rPr lang="en-MY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&lt;/</a:t>
                      </a:r>
                      <a:r>
                        <a:rPr lang="en-MY" sz="11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h2</a:t>
                      </a:r>
                      <a:r>
                        <a:rPr lang="en-MY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br>
                        <a:rPr lang="en-MY" sz="11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en-MY" sz="11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1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MY" sz="11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&lt;!-- Shows current slider angle --&gt;</a:t>
                      </a:r>
                      <a:br>
                        <a:rPr lang="en-MY" sz="11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1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MY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MY" sz="11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p</a:t>
                      </a:r>
                      <a:r>
                        <a:rPr lang="en-MY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r>
                        <a:rPr lang="en-MY" sz="11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Angle: </a:t>
                      </a:r>
                      <a:r>
                        <a:rPr lang="en-MY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MY" sz="11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span</a:t>
                      </a:r>
                      <a:r>
                        <a:rPr lang="en-MY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MY" sz="1100" b="0" i="0" u="none" strike="noStrike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id</a:t>
                      </a:r>
                      <a:r>
                        <a:rPr lang="en-MY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=</a:t>
                      </a:r>
                      <a:r>
                        <a:rPr lang="en-MY" sz="11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en-MY" sz="1100" b="0" i="0" u="none" strike="noStrike" dirty="0" err="1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angleValue</a:t>
                      </a:r>
                      <a:r>
                        <a:rPr lang="en-MY" sz="11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en-MY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r>
                        <a:rPr lang="en-MY" sz="11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90</a:t>
                      </a:r>
                      <a:r>
                        <a:rPr lang="en-MY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&lt;/</a:t>
                      </a:r>
                      <a:r>
                        <a:rPr lang="en-MY" sz="11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span</a:t>
                      </a:r>
                      <a:r>
                        <a:rPr lang="en-MY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r>
                        <a:rPr lang="en-MY" sz="11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°</a:t>
                      </a:r>
                      <a:r>
                        <a:rPr lang="en-MY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&lt;/</a:t>
                      </a:r>
                      <a:r>
                        <a:rPr lang="en-MY" sz="11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p</a:t>
                      </a:r>
                      <a:r>
                        <a:rPr lang="en-MY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br>
                        <a:rPr lang="en-MY" sz="11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en-MY" sz="11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1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MY" sz="11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&lt;!-- Slider used to control servo --&gt;</a:t>
                      </a:r>
                      <a:br>
                        <a:rPr lang="en-MY" sz="11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1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MY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MY" sz="11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input</a:t>
                      </a:r>
                      <a:r>
                        <a:rPr lang="en-MY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MY" sz="1100" b="0" i="0" u="none" strike="noStrike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id</a:t>
                      </a:r>
                      <a:r>
                        <a:rPr lang="en-MY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=</a:t>
                      </a:r>
                      <a:r>
                        <a:rPr lang="en-MY" sz="11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en-MY" sz="1100" b="0" i="0" u="none" strike="noStrike" dirty="0" err="1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angleSlider</a:t>
                      </a:r>
                      <a:r>
                        <a:rPr lang="en-MY" sz="11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en-MY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MY" sz="1100" b="0" i="0" u="none" strike="noStrike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type</a:t>
                      </a:r>
                      <a:r>
                        <a:rPr lang="en-MY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=</a:t>
                      </a:r>
                      <a:r>
                        <a:rPr lang="en-MY" sz="11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"range"</a:t>
                      </a:r>
                      <a:r>
                        <a:rPr lang="en-MY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rtl="0" fontAlgn="t">
                        <a:buNone/>
                      </a:pPr>
                      <a:r>
                        <a:rPr lang="en-MY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     </a:t>
                      </a:r>
                      <a:r>
                        <a:rPr lang="en-MY" sz="1100" b="0" i="0" u="none" strike="noStrike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min</a:t>
                      </a:r>
                      <a:r>
                        <a:rPr lang="en-MY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=</a:t>
                      </a:r>
                      <a:r>
                        <a:rPr lang="en-MY" sz="11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"0"</a:t>
                      </a:r>
                      <a:r>
                        <a:rPr lang="en-MY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MY" sz="1100" b="0" i="0" u="none" strike="noStrike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max</a:t>
                      </a:r>
                      <a:r>
                        <a:rPr lang="en-MY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=</a:t>
                      </a:r>
                      <a:r>
                        <a:rPr lang="en-MY" sz="11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"180"</a:t>
                      </a:r>
                      <a:r>
                        <a:rPr lang="en-MY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MY" sz="1100" b="0" i="0" u="none" strike="noStrike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value</a:t>
                      </a:r>
                      <a:r>
                        <a:rPr lang="en-MY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=</a:t>
                      </a:r>
                      <a:r>
                        <a:rPr lang="en-MY" sz="11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"90"</a:t>
                      </a:r>
                      <a:r>
                        <a:rPr lang="en-MY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br>
                        <a:rPr lang="en-MY" sz="11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en-MY" sz="11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1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MY" sz="11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&lt;!-- Shows the value currently stored in</a:t>
                      </a:r>
                    </a:p>
                    <a:p>
                      <a:pPr rtl="0" fontAlgn="t">
                        <a:buNone/>
                      </a:pPr>
                      <a:r>
                        <a:rPr lang="en-MY" sz="11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     Firebase --&gt;</a:t>
                      </a:r>
                      <a:br>
                        <a:rPr lang="en-MY" sz="11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1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MY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MY" sz="11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p</a:t>
                      </a:r>
                      <a:r>
                        <a:rPr lang="en-MY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r>
                        <a:rPr lang="en-MY" sz="11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ESP32 angle: </a:t>
                      </a:r>
                      <a:r>
                        <a:rPr lang="en-MY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MY" sz="11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span</a:t>
                      </a:r>
                      <a:r>
                        <a:rPr lang="en-MY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    </a:t>
                      </a:r>
                      <a:r>
                        <a:rPr lang="en-MY" sz="1100" b="0" i="0" u="none" strike="noStrike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id</a:t>
                      </a:r>
                      <a:r>
                        <a:rPr lang="en-MY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=</a:t>
                      </a:r>
                      <a:r>
                        <a:rPr lang="en-MY" sz="11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en-MY" sz="1100" b="0" i="0" u="none" strike="noStrike" dirty="0" err="1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servoAngle</a:t>
                      </a:r>
                      <a:r>
                        <a:rPr lang="en-MY" sz="11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en-MY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r>
                        <a:rPr lang="en-MY" sz="11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90</a:t>
                      </a:r>
                    </a:p>
                    <a:p>
                      <a:pPr rtl="0" fontAlgn="t">
                        <a:buNone/>
                      </a:pPr>
                      <a:r>
                        <a:rPr lang="en-MY" sz="11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   </a:t>
                      </a:r>
                      <a:r>
                        <a:rPr lang="en-MY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&lt;/</a:t>
                      </a:r>
                      <a:r>
                        <a:rPr lang="en-MY" sz="11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span</a:t>
                      </a:r>
                      <a:r>
                        <a:rPr lang="en-MY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r>
                        <a:rPr lang="en-MY" sz="11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° </a:t>
                      </a:r>
                      <a:r>
                        <a:rPr lang="en-MY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&lt;/</a:t>
                      </a:r>
                      <a:r>
                        <a:rPr lang="en-MY" sz="11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p</a:t>
                      </a:r>
                      <a:r>
                        <a:rPr lang="en-MY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br>
                        <a:rPr lang="en-MY" sz="11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en-MY" sz="11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en-MY" sz="11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endParaRPr lang="en-MY" dirty="0">
                        <a:effectLst/>
                      </a:endParaRPr>
                    </a:p>
                  </a:txBody>
                  <a:tcPr marL="63500" marR="63500" marT="63500" marB="635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1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3340792"/>
                  </a:ext>
                </a:extLst>
              </a:tr>
            </a:tbl>
          </a:graphicData>
        </a:graphic>
      </p:graphicFrame>
      <p:sp>
        <p:nvSpPr>
          <p:cNvPr id="20" name="Rectangle 2">
            <a:extLst>
              <a:ext uri="{FF2B5EF4-FFF2-40B4-BE49-F238E27FC236}">
                <a16:creationId xmlns:a16="http://schemas.microsoft.com/office/drawing/2014/main" id="{DD7FF03D-2930-06A3-E684-8FD79B6A0A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19426" y="992252"/>
            <a:ext cx="4707606" cy="57127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MY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54864" cy="5943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— IR Sensor &amp; Messages Card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20040" y="685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IR Sensor Card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005840"/>
            <a:ext cx="4114800" cy="28346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8" name="Text 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Message Terminal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09160" y="1005840"/>
            <a:ext cx="4114800" cy="39319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11" name="Text 9"/>
          <p:cNvSpPr/>
          <p:nvPr/>
        </p:nvSpPr>
        <p:spPr>
          <a:xfrm>
            <a:off x="525780" y="37947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 → Firebase path mapping: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20040" y="423367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#angleSlider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148840" y="423367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servo/</a:t>
            </a:r>
            <a:r>
              <a:rPr lang="en-US" sz="950" dirty="0" err="1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msgTitle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20040" y="44165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#irDetected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148840" y="441655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sensor/obstacle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20040" y="45994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#irRaw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2148840" y="459943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sensor/obstacle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20040" y="478231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#messages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148840" y="47823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serial/message</a:t>
            </a:r>
            <a:endParaRPr lang="en-US" sz="950" dirty="0"/>
          </a:p>
        </p:txBody>
      </p: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F6BDDD1C-B8AA-0787-466E-51F3CB9D15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867696"/>
              </p:ext>
            </p:extLst>
          </p:nvPr>
        </p:nvGraphicFramePr>
        <p:xfrm>
          <a:off x="354331" y="1021080"/>
          <a:ext cx="4025164" cy="2773680"/>
        </p:xfrm>
        <a:graphic>
          <a:graphicData uri="http://schemas.openxmlformats.org/drawingml/2006/table">
            <a:tbl>
              <a:tblPr/>
              <a:tblGrid>
                <a:gridCol w="4025164">
                  <a:extLst>
                    <a:ext uri="{9D8B030D-6E8A-4147-A177-3AD203B41FA5}">
                      <a16:colId xmlns:a16="http://schemas.microsoft.com/office/drawing/2014/main" val="4002003261"/>
                    </a:ext>
                  </a:extLst>
                </a:gridCol>
              </a:tblGrid>
              <a:tr h="277368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US" sz="11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&lt;!-- ========== IR SENSOR CARD ========== --&gt;</a:t>
                      </a:r>
                      <a:br>
                        <a:rPr lang="en-US" sz="11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sz="11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US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US" sz="11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div</a:t>
                      </a:r>
                      <a:r>
                        <a:rPr lang="en-US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100" b="0" i="0" u="none" strike="noStrike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class</a:t>
                      </a:r>
                      <a:r>
                        <a:rPr lang="en-US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=</a:t>
                      </a:r>
                      <a:r>
                        <a:rPr lang="en-US" sz="11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"card"</a:t>
                      </a:r>
                      <a:r>
                        <a:rPr lang="en-US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br>
                        <a:rPr lang="en-US" sz="11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en-US" sz="11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sz="11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US" sz="11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h2</a:t>
                      </a:r>
                      <a:r>
                        <a:rPr lang="en-US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r>
                        <a:rPr lang="en-US" sz="11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IR Sensor</a:t>
                      </a:r>
                      <a:r>
                        <a:rPr lang="en-US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&lt;/</a:t>
                      </a:r>
                      <a:r>
                        <a:rPr lang="en-US" sz="11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h2</a:t>
                      </a:r>
                      <a:r>
                        <a:rPr lang="en-US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br>
                        <a:rPr lang="en-US" sz="11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en-US" sz="11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sz="11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11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&lt;!-- Shows if object detected --&gt;</a:t>
                      </a:r>
                      <a:br>
                        <a:rPr lang="en-US" sz="11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sz="11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US" sz="11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p</a:t>
                      </a:r>
                      <a:r>
                        <a:rPr lang="en-US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r>
                        <a:rPr lang="en-US" sz="11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Detected: </a:t>
                      </a:r>
                      <a:r>
                        <a:rPr lang="en-US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US" sz="11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span</a:t>
                      </a:r>
                      <a:r>
                        <a:rPr lang="en-US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100" b="0" i="0" u="none" strike="noStrike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id</a:t>
                      </a:r>
                      <a:r>
                        <a:rPr lang="en-US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=</a:t>
                      </a:r>
                      <a:r>
                        <a:rPr lang="en-US" sz="11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en-US" sz="1100" b="0" i="0" u="none" strike="noStrike" dirty="0" err="1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irDetected</a:t>
                      </a:r>
                      <a:r>
                        <a:rPr lang="en-US" sz="11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en-US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</a:p>
                    <a:p>
                      <a:pPr rtl="0" fontAlgn="t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     </a:t>
                      </a:r>
                      <a:r>
                        <a:rPr lang="en-US" sz="11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--</a:t>
                      </a:r>
                      <a:r>
                        <a:rPr lang="en-US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&lt;/</a:t>
                      </a:r>
                      <a:r>
                        <a:rPr lang="en-US" sz="11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span</a:t>
                      </a:r>
                      <a:r>
                        <a:rPr lang="en-US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&gt;&lt;/</a:t>
                      </a:r>
                      <a:r>
                        <a:rPr lang="en-US" sz="11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p</a:t>
                      </a:r>
                      <a:r>
                        <a:rPr lang="en-US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br>
                        <a:rPr lang="en-US" sz="11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en-US" sz="11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sz="11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11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&lt;!-- Shows raw sensor value --&gt;</a:t>
                      </a:r>
                      <a:br>
                        <a:rPr lang="en-US" sz="11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sz="11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US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US" sz="11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p</a:t>
                      </a:r>
                      <a:r>
                        <a:rPr lang="en-US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r>
                        <a:rPr lang="en-US" sz="11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Raw: </a:t>
                      </a:r>
                      <a:r>
                        <a:rPr lang="en-US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US" sz="11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span</a:t>
                      </a:r>
                      <a:r>
                        <a:rPr lang="en-US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100" b="0" i="0" u="none" strike="noStrike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id</a:t>
                      </a:r>
                      <a:r>
                        <a:rPr lang="en-US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=</a:t>
                      </a:r>
                      <a:r>
                        <a:rPr lang="en-US" sz="11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en-US" sz="1100" b="0" i="0" u="none" strike="noStrike" dirty="0" err="1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irRaw</a:t>
                      </a:r>
                      <a:r>
                        <a:rPr lang="en-US" sz="11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en-US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r>
                        <a:rPr lang="en-US" sz="11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--</a:t>
                      </a:r>
                      <a:r>
                        <a:rPr lang="en-US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&lt;/</a:t>
                      </a:r>
                      <a:r>
                        <a:rPr lang="en-US" sz="11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span</a:t>
                      </a:r>
                      <a:r>
                        <a:rPr lang="en-US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&gt;&lt;/</a:t>
                      </a:r>
                      <a:r>
                        <a:rPr lang="en-US" sz="11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p</a:t>
                      </a:r>
                      <a:r>
                        <a:rPr lang="en-US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br>
                        <a:rPr lang="en-US" sz="11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en-US" sz="11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sz="11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US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&lt;/</a:t>
                      </a:r>
                      <a:r>
                        <a:rPr lang="en-US" sz="11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div</a:t>
                      </a:r>
                      <a:r>
                        <a:rPr lang="en-US" sz="110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br>
                        <a:rPr lang="en-US" sz="11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en-US" sz="11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endParaRPr lang="en-US" dirty="0">
                        <a:effectLst/>
                      </a:endParaRPr>
                    </a:p>
                  </a:txBody>
                  <a:tcPr marL="63500" marR="63500" marT="63500" marB="635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1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3587665"/>
                  </a:ext>
                </a:extLst>
              </a:tr>
            </a:tbl>
          </a:graphicData>
        </a:graphic>
      </p:graphicFrame>
      <p:sp>
        <p:nvSpPr>
          <p:cNvPr id="21" name="Rectangle 1">
            <a:extLst>
              <a:ext uri="{FF2B5EF4-FFF2-40B4-BE49-F238E27FC236}">
                <a16:creationId xmlns:a16="http://schemas.microsoft.com/office/drawing/2014/main" id="{45BE571C-2644-9F3F-F9F0-C0A38F7DDF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331" y="1021556"/>
            <a:ext cx="4666857" cy="491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MY"/>
          </a:p>
        </p:txBody>
      </p:sp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2A645100-B985-1891-2982-45A888CE12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2571257"/>
              </p:ext>
            </p:extLst>
          </p:nvPr>
        </p:nvGraphicFramePr>
        <p:xfrm>
          <a:off x="4709160" y="971360"/>
          <a:ext cx="4114800" cy="396640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965920904"/>
                    </a:ext>
                  </a:extLst>
                </a:gridCol>
              </a:tblGrid>
              <a:tr h="396640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105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&lt;!-- ========== MESSAGE TERMINAL CARD ========== --&gt;</a:t>
                      </a:r>
                      <a:b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105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MY" sz="105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div</a:t>
                      </a:r>
                      <a:r>
                        <a:rPr lang="en-MY" sz="105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MY" sz="1050" b="0" i="0" u="none" strike="noStrike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class</a:t>
                      </a:r>
                      <a:r>
                        <a:rPr lang="en-MY" sz="105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=</a:t>
                      </a:r>
                      <a:r>
                        <a:rPr lang="en-MY" sz="105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"card"</a:t>
                      </a:r>
                      <a:r>
                        <a:rPr lang="en-MY" sz="105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b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MY" sz="105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MY" sz="105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h2</a:t>
                      </a:r>
                      <a:r>
                        <a:rPr lang="en-MY" sz="105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Messages</a:t>
                      </a:r>
                      <a:r>
                        <a:rPr lang="en-MY" sz="105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&lt;/</a:t>
                      </a:r>
                      <a:r>
                        <a:rPr lang="en-MY" sz="105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h2</a:t>
                      </a:r>
                      <a:r>
                        <a:rPr lang="en-MY" sz="105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b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MY" sz="105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&lt;!-- Message display area --&gt;</a:t>
                      </a:r>
                      <a:b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MY" sz="105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MY" sz="105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div</a:t>
                      </a:r>
                      <a:r>
                        <a:rPr lang="en-MY" sz="105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MY" sz="1050" b="0" i="0" u="none" strike="noStrike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id</a:t>
                      </a:r>
                      <a:r>
                        <a:rPr lang="en-MY" sz="105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=</a:t>
                      </a:r>
                      <a:r>
                        <a:rPr lang="en-MY" sz="105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"messages"</a:t>
                      </a:r>
                      <a:r>
                        <a:rPr lang="en-MY" sz="105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No messages yet.</a:t>
                      </a:r>
                      <a:r>
                        <a:rPr lang="en-MY" sz="105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&lt;/</a:t>
                      </a:r>
                      <a:r>
                        <a:rPr lang="en-MY" sz="105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div</a:t>
                      </a:r>
                      <a:r>
                        <a:rPr lang="en-MY" sz="105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b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MY" sz="105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MY" sz="1050" b="0" i="0" u="none" strike="noStrike" dirty="0" err="1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br</a:t>
                      </a:r>
                      <a:r>
                        <a:rPr lang="en-MY" sz="105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b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MY" sz="105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&lt;!-- Message input row --&gt;</a:t>
                      </a:r>
                      <a:b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MY" sz="105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MY" sz="105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div</a:t>
                      </a:r>
                      <a:r>
                        <a:rPr lang="en-MY" sz="105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MY" sz="1050" b="0" i="0" u="none" strike="noStrike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class</a:t>
                      </a:r>
                      <a:r>
                        <a:rPr lang="en-MY" sz="105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=</a:t>
                      </a:r>
                      <a:r>
                        <a:rPr lang="en-MY" sz="105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"row"</a:t>
                      </a:r>
                      <a:r>
                        <a:rPr lang="en-MY" sz="105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b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  </a:t>
                      </a:r>
                      <a:r>
                        <a:rPr lang="en-MY" sz="105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MY" sz="105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input</a:t>
                      </a:r>
                      <a:r>
                        <a:rPr lang="en-MY" sz="105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MY" sz="1050" b="0" i="0" u="none" strike="noStrike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id</a:t>
                      </a:r>
                      <a:r>
                        <a:rPr lang="en-MY" sz="105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=</a:t>
                      </a:r>
                      <a:r>
                        <a:rPr lang="en-MY" sz="105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en-MY" sz="1050" b="0" i="0" u="none" strike="noStrike" dirty="0" err="1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msgInput</a:t>
                      </a:r>
                      <a:r>
                        <a:rPr lang="en-MY" sz="105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en-MY" sz="105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MY" sz="1050" b="0" i="0" u="none" strike="noStrike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type</a:t>
                      </a:r>
                      <a:r>
                        <a:rPr lang="en-MY" sz="105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=</a:t>
                      </a:r>
                      <a:r>
                        <a:rPr lang="en-MY" sz="105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"text"</a:t>
                      </a:r>
                      <a:r>
                        <a:rPr lang="en-MY" sz="105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MY" sz="1050" b="0" i="0" u="none" strike="noStrike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placeholder</a:t>
                      </a:r>
                      <a:r>
                        <a:rPr lang="en-MY" sz="105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=</a:t>
                      </a:r>
                    </a:p>
                    <a:p>
                      <a:pPr rtl="0" fontAlgn="t">
                        <a:buNone/>
                      </a:pPr>
                      <a:r>
                        <a:rPr lang="en-MY" sz="105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      </a:t>
                      </a:r>
                      <a:r>
                        <a:rPr lang="en-MY" sz="105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"Type a message"</a:t>
                      </a:r>
                      <a:r>
                        <a:rPr lang="en-MY" sz="105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b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  </a:t>
                      </a:r>
                      <a:r>
                        <a:rPr lang="en-MY" sz="105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</a:t>
                      </a:r>
                      <a:r>
                        <a:rPr lang="en-MY" sz="105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button</a:t>
                      </a:r>
                      <a:r>
                        <a:rPr lang="en-MY" sz="105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MY" sz="1050" b="0" i="0" u="none" strike="noStrike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id</a:t>
                      </a:r>
                      <a:r>
                        <a:rPr lang="en-MY" sz="105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=</a:t>
                      </a:r>
                      <a:r>
                        <a:rPr lang="en-MY" sz="105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en-MY" sz="1050" b="0" i="0" u="none" strike="noStrike" dirty="0" err="1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sendBtn</a:t>
                      </a:r>
                      <a:r>
                        <a:rPr lang="en-MY" sz="105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en-MY" sz="105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Send</a:t>
                      </a:r>
                      <a:r>
                        <a:rPr lang="en-MY" sz="105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&lt;/</a:t>
                      </a:r>
                      <a:r>
                        <a:rPr lang="en-MY" sz="105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button</a:t>
                      </a:r>
                      <a:r>
                        <a:rPr lang="en-MY" sz="105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b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MY" sz="105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&lt;/</a:t>
                      </a:r>
                      <a:r>
                        <a:rPr lang="en-MY" sz="105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div</a:t>
                      </a:r>
                      <a:r>
                        <a:rPr lang="en-MY" sz="105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b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105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&lt;/</a:t>
                      </a:r>
                      <a:r>
                        <a:rPr lang="en-MY" sz="105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div</a:t>
                      </a:r>
                      <a:r>
                        <a:rPr lang="en-MY" sz="1050" b="0" i="0" u="none" strike="noStrike" dirty="0">
                          <a:solidFill>
                            <a:srgbClr val="9B9B9B"/>
                          </a:solidFill>
                          <a:effectLst/>
                          <a:latin typeface="Consolas" panose="020B0609020204030204" pitchFamily="49" charset="0"/>
                        </a:rPr>
                        <a:t>&gt;</a:t>
                      </a:r>
                      <a:endParaRPr lang="en-MY" sz="1800" dirty="0">
                        <a:effectLst/>
                      </a:endParaRPr>
                    </a:p>
                  </a:txBody>
                  <a:tcPr marL="52822" marR="52822" marT="52822" marB="52822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1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6129770"/>
                  </a:ext>
                </a:extLst>
              </a:tr>
            </a:tbl>
          </a:graphicData>
        </a:graphic>
      </p:graphicFrame>
      <p:sp>
        <p:nvSpPr>
          <p:cNvPr id="23" name="Rectangle 2">
            <a:extLst>
              <a:ext uri="{FF2B5EF4-FFF2-40B4-BE49-F238E27FC236}">
                <a16:creationId xmlns:a16="http://schemas.microsoft.com/office/drawing/2014/main" id="{D004FB9F-7D35-ADAF-E0AE-E34E6D69C4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72758" y="971359"/>
            <a:ext cx="5735155" cy="555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MY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54864" cy="5943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 · CSS — Styling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CSS?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115214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(Cascading Style Sheets) controls how HTML looks. Without CSS, every page looks identical — plain black text on white.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16642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 CSS Rule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011680"/>
            <a:ext cx="4023360" cy="12344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9" name="Text 7"/>
          <p:cNvSpPr/>
          <p:nvPr/>
        </p:nvSpPr>
        <p:spPr>
          <a:xfrm>
            <a:off x="502920" y="2103120"/>
            <a:ext cx="37490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94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.card {             ← selector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4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background: #fff;  ← property: value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4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border-radius: 10px;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4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padding: 18px;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94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0040" y="3401568"/>
            <a:ext cx="274320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11" name="Shape 9"/>
          <p:cNvSpPr/>
          <p:nvPr/>
        </p:nvSpPr>
        <p:spPr>
          <a:xfrm>
            <a:off x="320040" y="3401568"/>
            <a:ext cx="2743200" cy="45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2" name="Text 10"/>
          <p:cNvSpPr/>
          <p:nvPr/>
        </p:nvSpPr>
        <p:spPr>
          <a:xfrm>
            <a:off x="457200" y="3511296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▦  Box Model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" y="3904488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margin  ·  border  ·  padding  ·  content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27832" y="3401568"/>
            <a:ext cx="274320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15" name="Shape 13"/>
          <p:cNvSpPr/>
          <p:nvPr/>
        </p:nvSpPr>
        <p:spPr>
          <a:xfrm>
            <a:off x="3227832" y="3401568"/>
            <a:ext cx="2743200" cy="457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6" name="Text 14"/>
          <p:cNvSpPr/>
          <p:nvPr/>
        </p:nvSpPr>
        <p:spPr>
          <a:xfrm>
            <a:off x="3364992" y="3511296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 Colors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364992" y="3904488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background, color, border-color — hex or named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35624" y="3401568"/>
            <a:ext cx="274320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19" name="Shape 17"/>
          <p:cNvSpPr/>
          <p:nvPr/>
        </p:nvSpPr>
        <p:spPr>
          <a:xfrm>
            <a:off x="6135624" y="3401568"/>
            <a:ext cx="2743200" cy="457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0" name="Text 18"/>
          <p:cNvSpPr/>
          <p:nvPr/>
        </p:nvSpPr>
        <p:spPr>
          <a:xfrm>
            <a:off x="6272784" y="3511296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⇔  Flexbox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72784" y="3904488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display:flex · gap · justify-content · align-items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663440" y="16642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Result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663440" y="2011680"/>
            <a:ext cx="41148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24" name="Text 22"/>
          <p:cNvSpPr/>
          <p:nvPr/>
        </p:nvSpPr>
        <p:spPr>
          <a:xfrm>
            <a:off x="480060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Servo Control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00600" y="24231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800600" y="2743200"/>
            <a:ext cx="3840480" cy="137160"/>
          </a:xfrm>
          <a:prstGeom prst="rect">
            <a:avLst/>
          </a:prstGeom>
          <a:solidFill>
            <a:srgbClr val="F1F5F9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7" name="Shape 25"/>
          <p:cNvSpPr/>
          <p:nvPr/>
        </p:nvSpPr>
        <p:spPr>
          <a:xfrm>
            <a:off x="6217920" y="2697480"/>
            <a:ext cx="228600" cy="22860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8" name="Text 26"/>
          <p:cNvSpPr/>
          <p:nvPr/>
        </p:nvSpPr>
        <p:spPr>
          <a:xfrm>
            <a:off x="4759838" y="3019889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card { border-radius: 10px; padding: 18px; }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-401" y="0"/>
            <a:ext cx="54864" cy="5943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4" name="Text 2"/>
          <p:cNvSpPr/>
          <p:nvPr/>
        </p:nvSpPr>
        <p:spPr>
          <a:xfrm>
            <a:off x="228199" y="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— Full Stylesheet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19639" y="713232"/>
            <a:ext cx="4114800" cy="4206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7" name="Shape 5"/>
          <p:cNvSpPr/>
          <p:nvPr/>
        </p:nvSpPr>
        <p:spPr>
          <a:xfrm>
            <a:off x="4708759" y="713232"/>
            <a:ext cx="4114800" cy="4206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9" name="Text 7"/>
          <p:cNvSpPr/>
          <p:nvPr/>
        </p:nvSpPr>
        <p:spPr>
          <a:xfrm>
            <a:off x="319639" y="4989187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 Centers the dashboard and sets max width to 700 px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708759" y="494216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 flex makes the input grow and button stay fixed</a:t>
            </a:r>
            <a:endParaRPr lang="en-US" sz="950" dirty="0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FB26B54B-3B86-1FFD-208A-6BA3FF463A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4991120"/>
              </p:ext>
            </p:extLst>
          </p:nvPr>
        </p:nvGraphicFramePr>
        <p:xfrm>
          <a:off x="320040" y="713232"/>
          <a:ext cx="4114400" cy="4321786"/>
        </p:xfrm>
        <a:graphic>
          <a:graphicData uri="http://schemas.openxmlformats.org/drawingml/2006/table">
            <a:tbl>
              <a:tblPr/>
              <a:tblGrid>
                <a:gridCol w="4114400">
                  <a:extLst>
                    <a:ext uri="{9D8B030D-6E8A-4147-A177-3AD203B41FA5}">
                      <a16:colId xmlns:a16="http://schemas.microsoft.com/office/drawing/2014/main" val="3990353833"/>
                    </a:ext>
                  </a:extLst>
                </a:gridCol>
              </a:tblGrid>
              <a:tr h="420624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MY" sz="9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/* ========== GLOBAL STYLES ========== */</a:t>
                      </a:r>
                      <a:b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900" b="0" i="0" u="none" strike="noStrike" dirty="0">
                          <a:solidFill>
                            <a:srgbClr val="D7BA7D"/>
                          </a:solidFill>
                          <a:effectLst/>
                          <a:latin typeface="Consolas" panose="020B0609020204030204" pitchFamily="49" charset="0"/>
                        </a:rPr>
                        <a:t>body</a:t>
                      </a:r>
                      <a: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{</a:t>
                      </a:r>
                      <a:b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900" b="0" i="0" u="none" strike="noStrike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font-family</a:t>
                      </a:r>
                      <a: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: Arial, sans-serif;</a:t>
                      </a:r>
                      <a:b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900" b="0" i="0" u="none" strike="noStrike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max-width</a:t>
                      </a:r>
                      <a: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: </a:t>
                      </a:r>
                      <a:r>
                        <a:rPr lang="en-MY" sz="900" b="0" i="0" u="none" strike="noStrike" dirty="0">
                          <a:solidFill>
                            <a:srgbClr val="B8D7A3"/>
                          </a:solidFill>
                          <a:effectLst/>
                          <a:latin typeface="Consolas" panose="020B0609020204030204" pitchFamily="49" charset="0"/>
                        </a:rPr>
                        <a:t>700px</a:t>
                      </a:r>
                      <a: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  <a:b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900" b="0" i="0" u="none" strike="noStrike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margin</a:t>
                      </a:r>
                      <a: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: </a:t>
                      </a:r>
                      <a:r>
                        <a:rPr lang="en-MY" sz="900" b="0" i="0" u="none" strike="noStrike" dirty="0">
                          <a:solidFill>
                            <a:srgbClr val="B8D7A3"/>
                          </a:solidFill>
                          <a:effectLst/>
                          <a:latin typeface="Consolas" panose="020B0609020204030204" pitchFamily="49" charset="0"/>
                        </a:rPr>
                        <a:t>30px</a:t>
                      </a:r>
                      <a: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auto;</a:t>
                      </a:r>
                      <a:b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900" b="0" i="0" u="none" strike="noStrike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padding</a:t>
                      </a:r>
                      <a: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: </a:t>
                      </a:r>
                      <a:r>
                        <a:rPr lang="en-MY" sz="900" b="0" i="0" u="none" strike="noStrike" dirty="0">
                          <a:solidFill>
                            <a:srgbClr val="B8D7A3"/>
                          </a:solidFill>
                          <a:effectLst/>
                          <a:latin typeface="Consolas" panose="020B0609020204030204" pitchFamily="49" charset="0"/>
                        </a:rPr>
                        <a:t>20px</a:t>
                      </a:r>
                      <a: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  <a:b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900" b="0" i="0" u="none" strike="noStrike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background</a:t>
                      </a:r>
                      <a: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: </a:t>
                      </a:r>
                      <a:r>
                        <a:rPr lang="en-MY" sz="900" b="0" i="0" u="none" strike="noStrike" dirty="0">
                          <a:solidFill>
                            <a:srgbClr val="B8D7A3"/>
                          </a:solidFill>
                          <a:effectLst/>
                          <a:latin typeface="Consolas" panose="020B0609020204030204" pitchFamily="49" charset="0"/>
                        </a:rPr>
                        <a:t>#f4f4f4</a:t>
                      </a:r>
                      <a: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  <a:b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900" b="0" i="0" u="none" strike="noStrike" dirty="0" err="1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color</a:t>
                      </a:r>
                      <a: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: </a:t>
                      </a:r>
                      <a:r>
                        <a:rPr lang="en-MY" sz="900" b="0" i="0" u="none" strike="noStrike" dirty="0">
                          <a:solidFill>
                            <a:srgbClr val="B8D7A3"/>
                          </a:solidFill>
                          <a:effectLst/>
                          <a:latin typeface="Consolas" panose="020B0609020204030204" pitchFamily="49" charset="0"/>
                        </a:rPr>
                        <a:t>#222</a:t>
                      </a:r>
                      <a: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  <a:b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  <a:b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9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/* ========== CARD STYLES ========== */</a:t>
                      </a:r>
                      <a:b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900" b="0" i="0" u="none" strike="noStrike" dirty="0">
                          <a:solidFill>
                            <a:srgbClr val="D7BA7D"/>
                          </a:solidFill>
                          <a:effectLst/>
                          <a:latin typeface="Consolas" panose="020B0609020204030204" pitchFamily="49" charset="0"/>
                        </a:rPr>
                        <a:t>.card</a:t>
                      </a:r>
                      <a: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{</a:t>
                      </a:r>
                      <a:b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900" b="0" i="0" u="none" strike="noStrike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background</a:t>
                      </a:r>
                      <a: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: </a:t>
                      </a:r>
                      <a:r>
                        <a:rPr lang="en-MY" sz="900" b="0" i="0" u="none" strike="noStrike" dirty="0">
                          <a:solidFill>
                            <a:srgbClr val="B8D7A3"/>
                          </a:solidFill>
                          <a:effectLst/>
                          <a:latin typeface="Consolas" panose="020B0609020204030204" pitchFamily="49" charset="0"/>
                        </a:rPr>
                        <a:t>#fff</a:t>
                      </a:r>
                      <a: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  <a:b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900" b="0" i="0" u="none" strike="noStrike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border</a:t>
                      </a:r>
                      <a: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: </a:t>
                      </a:r>
                      <a:r>
                        <a:rPr lang="en-MY" sz="900" b="0" i="0" u="none" strike="noStrike" dirty="0">
                          <a:solidFill>
                            <a:srgbClr val="B8D7A3"/>
                          </a:solidFill>
                          <a:effectLst/>
                          <a:latin typeface="Consolas" panose="020B0609020204030204" pitchFamily="49" charset="0"/>
                        </a:rPr>
                        <a:t>1px</a:t>
                      </a:r>
                      <a: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solid </a:t>
                      </a:r>
                      <a:r>
                        <a:rPr lang="en-MY" sz="900" b="0" i="0" u="none" strike="noStrike" dirty="0">
                          <a:solidFill>
                            <a:srgbClr val="B8D7A3"/>
                          </a:solidFill>
                          <a:effectLst/>
                          <a:latin typeface="Consolas" panose="020B0609020204030204" pitchFamily="49" charset="0"/>
                        </a:rPr>
                        <a:t>#ddd</a:t>
                      </a:r>
                      <a: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  <a:b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900" b="0" i="0" u="none" strike="noStrike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border-radius</a:t>
                      </a:r>
                      <a: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: </a:t>
                      </a:r>
                      <a:r>
                        <a:rPr lang="en-MY" sz="900" b="0" i="0" u="none" strike="noStrike" dirty="0">
                          <a:solidFill>
                            <a:srgbClr val="B8D7A3"/>
                          </a:solidFill>
                          <a:effectLst/>
                          <a:latin typeface="Consolas" panose="020B0609020204030204" pitchFamily="49" charset="0"/>
                        </a:rPr>
                        <a:t>10px</a:t>
                      </a:r>
                      <a: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  <a:b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900" b="0" i="0" u="none" strike="noStrike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padding</a:t>
                      </a:r>
                      <a: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: </a:t>
                      </a:r>
                      <a:r>
                        <a:rPr lang="en-MY" sz="900" b="0" i="0" u="none" strike="noStrike" dirty="0">
                          <a:solidFill>
                            <a:srgbClr val="B8D7A3"/>
                          </a:solidFill>
                          <a:effectLst/>
                          <a:latin typeface="Consolas" panose="020B0609020204030204" pitchFamily="49" charset="0"/>
                        </a:rPr>
                        <a:t>18px</a:t>
                      </a:r>
                      <a: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  <a:b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900" b="0" i="0" u="none" strike="noStrike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margin-bottom</a:t>
                      </a:r>
                      <a: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: </a:t>
                      </a:r>
                      <a:r>
                        <a:rPr lang="en-MY" sz="900" b="0" i="0" u="none" strike="noStrike" dirty="0">
                          <a:solidFill>
                            <a:srgbClr val="B8D7A3"/>
                          </a:solidFill>
                          <a:effectLst/>
                          <a:latin typeface="Consolas" panose="020B0609020204030204" pitchFamily="49" charset="0"/>
                        </a:rPr>
                        <a:t>18px</a:t>
                      </a:r>
                      <a: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  <a:b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  <a:b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900" b="0" i="0" u="none" strike="noStrike" dirty="0">
                          <a:solidFill>
                            <a:srgbClr val="D7BA7D"/>
                          </a:solidFill>
                          <a:effectLst/>
                          <a:latin typeface="Consolas" panose="020B0609020204030204" pitchFamily="49" charset="0"/>
                        </a:rPr>
                        <a:t>h1</a:t>
                      </a:r>
                      <a: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MY" sz="900" b="0" i="0" u="none" strike="noStrike" dirty="0">
                          <a:solidFill>
                            <a:srgbClr val="D7BA7D"/>
                          </a:solidFill>
                          <a:effectLst/>
                          <a:latin typeface="Consolas" panose="020B0609020204030204" pitchFamily="49" charset="0"/>
                        </a:rPr>
                        <a:t>h2</a:t>
                      </a:r>
                      <a: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{</a:t>
                      </a:r>
                      <a:b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900" b="0" i="0" u="none" strike="noStrike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margin-top</a:t>
                      </a:r>
                      <a: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: </a:t>
                      </a:r>
                      <a:r>
                        <a:rPr lang="en-MY" sz="900" b="0" i="0" u="none" strike="noStrike" dirty="0">
                          <a:solidFill>
                            <a:srgbClr val="B8D7A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  <a:b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  <a:b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900" b="0" i="0" u="none" strike="noStrike" dirty="0">
                          <a:solidFill>
                            <a:srgbClr val="D7BA7D"/>
                          </a:solidFill>
                          <a:effectLst/>
                          <a:latin typeface="Consolas" panose="020B0609020204030204" pitchFamily="49" charset="0"/>
                        </a:rPr>
                        <a:t>.status</a:t>
                      </a:r>
                      <a: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{</a:t>
                      </a:r>
                      <a:b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900" b="0" i="0" u="none" strike="noStrike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font-weight</a:t>
                      </a:r>
                      <a: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: bold;</a:t>
                      </a:r>
                      <a:b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  <a:b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9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/* ========== FORM ELEMENTS ========== */</a:t>
                      </a:r>
                      <a:b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900" b="0" i="0" u="none" strike="noStrike" dirty="0">
                          <a:solidFill>
                            <a:srgbClr val="D7BA7D"/>
                          </a:solidFill>
                          <a:effectLst/>
                          <a:latin typeface="Consolas" panose="020B0609020204030204" pitchFamily="49" charset="0"/>
                        </a:rPr>
                        <a:t>input[type="range"]</a:t>
                      </a:r>
                      <a: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{</a:t>
                      </a:r>
                      <a:b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900" b="0" i="0" u="none" strike="noStrike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width</a:t>
                      </a:r>
                      <a: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: </a:t>
                      </a:r>
                      <a:r>
                        <a:rPr lang="en-MY" sz="900" b="0" i="0" u="none" strike="noStrike" dirty="0">
                          <a:solidFill>
                            <a:srgbClr val="B8D7A3"/>
                          </a:solidFill>
                          <a:effectLst/>
                          <a:latin typeface="Consolas" panose="020B0609020204030204" pitchFamily="49" charset="0"/>
                        </a:rPr>
                        <a:t>100%</a:t>
                      </a:r>
                      <a: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  <a:b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9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  <a:endParaRPr lang="en-MY" sz="1200" dirty="0">
                        <a:effectLst/>
                      </a:endParaRPr>
                    </a:p>
                  </a:txBody>
                  <a:tcPr marL="34913" marR="34913" marT="34913" marB="34913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1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3177927"/>
                  </a:ext>
                </a:extLst>
              </a:tr>
            </a:tbl>
          </a:graphicData>
        </a:graphic>
      </p:graphicFrame>
      <p:sp>
        <p:nvSpPr>
          <p:cNvPr id="12" name="Rectangle 1">
            <a:extLst>
              <a:ext uri="{FF2B5EF4-FFF2-40B4-BE49-F238E27FC236}">
                <a16:creationId xmlns:a16="http://schemas.microsoft.com/office/drawing/2014/main" id="{907F37FB-CA9F-3033-2A1E-2069E953BF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9639" y="713232"/>
            <a:ext cx="8676179" cy="589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MY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7AD223C9-12CB-2C6F-9AB8-F2A346DCE5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6336021"/>
              </p:ext>
            </p:extLst>
          </p:nvPr>
        </p:nvGraphicFramePr>
        <p:xfrm>
          <a:off x="4708760" y="713366"/>
          <a:ext cx="4114800" cy="4293282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1443592947"/>
                    </a:ext>
                  </a:extLst>
                </a:gridCol>
              </a:tblGrid>
              <a:tr h="4206105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MY" sz="10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/* ========== MESSAGE TERMINAL ========== */</a:t>
                      </a:r>
                      <a:b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00" b="0" i="0" u="none" strike="noStrike" dirty="0">
                          <a:solidFill>
                            <a:srgbClr val="D7BA7D"/>
                          </a:solidFill>
                          <a:effectLst/>
                          <a:latin typeface="Consolas" panose="020B0609020204030204" pitchFamily="49" charset="0"/>
                        </a:rPr>
                        <a:t>#messages</a:t>
                      </a:r>
                      <a: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{</a:t>
                      </a:r>
                      <a:b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1000" b="0" i="0" u="none" strike="noStrike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height</a:t>
                      </a:r>
                      <a: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: </a:t>
                      </a:r>
                      <a:r>
                        <a:rPr lang="en-MY" sz="1000" b="0" i="0" u="none" strike="noStrike" dirty="0">
                          <a:solidFill>
                            <a:srgbClr val="B8D7A3"/>
                          </a:solidFill>
                          <a:effectLst/>
                          <a:latin typeface="Consolas" panose="020B0609020204030204" pitchFamily="49" charset="0"/>
                        </a:rPr>
                        <a:t>180px</a:t>
                      </a:r>
                      <a: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  <a:b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1000" b="0" i="0" u="none" strike="noStrike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overflow-y</a:t>
                      </a:r>
                      <a: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: auto;</a:t>
                      </a:r>
                      <a:b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1000" b="0" i="0" u="none" strike="noStrike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border</a:t>
                      </a:r>
                      <a: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: </a:t>
                      </a:r>
                      <a:r>
                        <a:rPr lang="en-MY" sz="1000" b="0" i="0" u="none" strike="noStrike" dirty="0">
                          <a:solidFill>
                            <a:srgbClr val="B8D7A3"/>
                          </a:solidFill>
                          <a:effectLst/>
                          <a:latin typeface="Consolas" panose="020B0609020204030204" pitchFamily="49" charset="0"/>
                        </a:rPr>
                        <a:t>1px</a:t>
                      </a:r>
                      <a: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solid </a:t>
                      </a:r>
                      <a:r>
                        <a:rPr lang="en-MY" sz="1000" b="0" i="0" u="none" strike="noStrike" dirty="0">
                          <a:solidFill>
                            <a:srgbClr val="B8D7A3"/>
                          </a:solidFill>
                          <a:effectLst/>
                          <a:latin typeface="Consolas" panose="020B0609020204030204" pitchFamily="49" charset="0"/>
                        </a:rPr>
                        <a:t>#ccc</a:t>
                      </a:r>
                      <a: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  <a:b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1000" b="0" i="0" u="none" strike="noStrike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padding</a:t>
                      </a:r>
                      <a: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: </a:t>
                      </a:r>
                      <a:r>
                        <a:rPr lang="en-MY" sz="1000" b="0" i="0" u="none" strike="noStrike" dirty="0">
                          <a:solidFill>
                            <a:srgbClr val="B8D7A3"/>
                          </a:solidFill>
                          <a:effectLst/>
                          <a:latin typeface="Consolas" panose="020B0609020204030204" pitchFamily="49" charset="0"/>
                        </a:rPr>
                        <a:t>10px</a:t>
                      </a:r>
                      <a: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  <a:b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1000" b="0" i="0" u="none" strike="noStrike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background</a:t>
                      </a:r>
                      <a: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: </a:t>
                      </a:r>
                      <a:r>
                        <a:rPr lang="en-MY" sz="1000" b="0" i="0" u="none" strike="noStrike" dirty="0">
                          <a:solidFill>
                            <a:srgbClr val="B8D7A3"/>
                          </a:solidFill>
                          <a:effectLst/>
                          <a:latin typeface="Consolas" panose="020B0609020204030204" pitchFamily="49" charset="0"/>
                        </a:rPr>
                        <a:t>#fafafa</a:t>
                      </a:r>
                      <a: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  <a:b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1000" b="0" i="0" u="none" strike="noStrike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white-space</a:t>
                      </a:r>
                      <a: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: pre-wrap;</a:t>
                      </a:r>
                      <a:b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  <a:b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/* ========== ROW LAYOUT (FLEXBOX) ========== */</a:t>
                      </a:r>
                      <a:b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00" b="0" i="0" u="none" strike="noStrike" dirty="0">
                          <a:solidFill>
                            <a:srgbClr val="D7BA7D"/>
                          </a:solidFill>
                          <a:effectLst/>
                          <a:latin typeface="Consolas" panose="020B0609020204030204" pitchFamily="49" charset="0"/>
                        </a:rPr>
                        <a:t>.row</a:t>
                      </a:r>
                      <a: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{</a:t>
                      </a:r>
                      <a:b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1000" b="0" i="0" u="none" strike="noStrike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display</a:t>
                      </a:r>
                      <a: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: flex;</a:t>
                      </a:r>
                      <a:b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1000" b="0" i="0" u="none" strike="noStrike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gap</a:t>
                      </a:r>
                      <a: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: </a:t>
                      </a:r>
                      <a:r>
                        <a:rPr lang="en-MY" sz="1000" b="0" i="0" u="none" strike="noStrike" dirty="0">
                          <a:solidFill>
                            <a:srgbClr val="B8D7A3"/>
                          </a:solidFill>
                          <a:effectLst/>
                          <a:latin typeface="Consolas" panose="020B0609020204030204" pitchFamily="49" charset="0"/>
                        </a:rPr>
                        <a:t>10px</a:t>
                      </a:r>
                      <a: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  <a:b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  <a:b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00" b="0" i="0" u="none" strike="noStrike" dirty="0">
                          <a:solidFill>
                            <a:srgbClr val="D7BA7D"/>
                          </a:solidFill>
                          <a:effectLst/>
                          <a:latin typeface="Consolas" panose="020B0609020204030204" pitchFamily="49" charset="0"/>
                        </a:rPr>
                        <a:t>input[type="text"]</a:t>
                      </a:r>
                      <a: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{</a:t>
                      </a:r>
                      <a:b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1000" b="0" i="0" u="none" strike="noStrike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flex</a:t>
                      </a:r>
                      <a: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: </a:t>
                      </a:r>
                      <a:r>
                        <a:rPr lang="en-MY" sz="1000" b="0" i="0" u="none" strike="noStrike" dirty="0">
                          <a:solidFill>
                            <a:srgbClr val="B8D7A3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  <a:b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1000" b="0" i="0" u="none" strike="noStrike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padding</a:t>
                      </a:r>
                      <a: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: </a:t>
                      </a:r>
                      <a:r>
                        <a:rPr lang="en-MY" sz="1000" b="0" i="0" u="none" strike="noStrike" dirty="0">
                          <a:solidFill>
                            <a:srgbClr val="B8D7A3"/>
                          </a:solidFill>
                          <a:effectLst/>
                          <a:latin typeface="Consolas" panose="020B0609020204030204" pitchFamily="49" charset="0"/>
                        </a:rPr>
                        <a:t>8px</a:t>
                      </a:r>
                      <a: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  <a:b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  <a:b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00" b="0" i="0" u="none" strike="noStrike" dirty="0">
                          <a:solidFill>
                            <a:srgbClr val="D7BA7D"/>
                          </a:solidFill>
                          <a:effectLst/>
                          <a:latin typeface="Consolas" panose="020B0609020204030204" pitchFamily="49" charset="0"/>
                        </a:rPr>
                        <a:t>button</a:t>
                      </a:r>
                      <a: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{</a:t>
                      </a:r>
                      <a:b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1000" b="0" i="0" u="none" strike="noStrike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padding</a:t>
                      </a:r>
                      <a: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: </a:t>
                      </a:r>
                      <a:r>
                        <a:rPr lang="en-MY" sz="1000" b="0" i="0" u="none" strike="noStrike" dirty="0">
                          <a:solidFill>
                            <a:srgbClr val="B8D7A3"/>
                          </a:solidFill>
                          <a:effectLst/>
                          <a:latin typeface="Consolas" panose="020B0609020204030204" pitchFamily="49" charset="0"/>
                        </a:rPr>
                        <a:t>8px</a:t>
                      </a:r>
                      <a: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MY" sz="1000" b="0" i="0" u="none" strike="noStrike" dirty="0">
                          <a:solidFill>
                            <a:srgbClr val="B8D7A3"/>
                          </a:solidFill>
                          <a:effectLst/>
                          <a:latin typeface="Consolas" panose="020B0609020204030204" pitchFamily="49" charset="0"/>
                        </a:rPr>
                        <a:t>14px</a:t>
                      </a:r>
                      <a: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  <a:b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1000" b="0" i="0" u="none" strike="noStrike" dirty="0">
                          <a:solidFill>
                            <a:srgbClr val="9CDCFE"/>
                          </a:solidFill>
                          <a:effectLst/>
                          <a:latin typeface="Consolas" panose="020B0609020204030204" pitchFamily="49" charset="0"/>
                        </a:rPr>
                        <a:t>cursor</a:t>
                      </a:r>
                      <a: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: pointer;</a:t>
                      </a:r>
                      <a:b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  <a:b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en-MY" sz="10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endParaRPr lang="en-MY" sz="1600" dirty="0">
                        <a:effectLst/>
                      </a:endParaRPr>
                    </a:p>
                  </a:txBody>
                  <a:tcPr marL="43521" marR="43521" marT="43521" marB="43521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1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2924020"/>
                  </a:ext>
                </a:extLst>
              </a:tr>
            </a:tbl>
          </a:graphicData>
        </a:graphic>
      </p:graphicFrame>
      <p:sp>
        <p:nvSpPr>
          <p:cNvPr id="14" name="Rectangle 2">
            <a:extLst>
              <a:ext uri="{FF2B5EF4-FFF2-40B4-BE49-F238E27FC236}">
                <a16:creationId xmlns:a16="http://schemas.microsoft.com/office/drawing/2014/main" id="{FE0ACCEC-C157-5A55-D204-E4CA4972C7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09470" y="713232"/>
            <a:ext cx="6960933" cy="5590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MY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54864" cy="59436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 · JavaScript — Logic + Firebase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JavaScript?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117043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is the brain of the webpage. It reads inputs, calls Firebase, and updates the display — all without reloading the page.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168249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All Connects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5760" y="2057400"/>
            <a:ext cx="2194560" cy="10515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9" name="Text 7"/>
          <p:cNvSpPr/>
          <p:nvPr/>
        </p:nvSpPr>
        <p:spPr>
          <a:xfrm>
            <a:off x="365760" y="208483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Browser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" y="2560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Slider / Button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474720" y="2057400"/>
            <a:ext cx="2194560" cy="10515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12" name="Text 10"/>
          <p:cNvSpPr/>
          <p:nvPr/>
        </p:nvSpPr>
        <p:spPr>
          <a:xfrm>
            <a:off x="3474720" y="208483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74720" y="2560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Realtime DB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583680" y="2057400"/>
            <a:ext cx="2194560" cy="105156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15" name="Text 13"/>
          <p:cNvSpPr/>
          <p:nvPr/>
        </p:nvSpPr>
        <p:spPr>
          <a:xfrm>
            <a:off x="6583680" y="208483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83680" y="2560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Servo / IR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560320" y="2583180"/>
            <a:ext cx="91440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dash"/>
          </a:ln>
        </p:spPr>
        <p:txBody>
          <a:bodyPr/>
          <a:lstStyle/>
          <a:p>
            <a:endParaRPr lang="en-MY"/>
          </a:p>
        </p:txBody>
      </p:sp>
      <p:sp>
        <p:nvSpPr>
          <p:cNvPr id="18" name="Text 16"/>
          <p:cNvSpPr/>
          <p:nvPr/>
        </p:nvSpPr>
        <p:spPr>
          <a:xfrm>
            <a:off x="2560320" y="233353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set(ref, value)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 flipV="1">
            <a:off x="5669280" y="2555638"/>
            <a:ext cx="914400" cy="13771"/>
          </a:xfrm>
          <a:prstGeom prst="line">
            <a:avLst/>
          </a:prstGeom>
          <a:noFill/>
          <a:ln w="25400">
            <a:solidFill>
              <a:srgbClr val="64748B"/>
            </a:solidFill>
            <a:prstDash val="dash"/>
          </a:ln>
        </p:spPr>
        <p:txBody>
          <a:bodyPr/>
          <a:lstStyle/>
          <a:p>
            <a:endParaRPr lang="en-MY"/>
          </a:p>
        </p:txBody>
      </p:sp>
      <p:sp>
        <p:nvSpPr>
          <p:cNvPr id="20" name="Text 18"/>
          <p:cNvSpPr/>
          <p:nvPr/>
        </p:nvSpPr>
        <p:spPr>
          <a:xfrm>
            <a:off x="5662394" y="22371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onValue(ref, cb)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320040" y="3337560"/>
            <a:ext cx="27432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22" name="Shape 20"/>
          <p:cNvSpPr/>
          <p:nvPr/>
        </p:nvSpPr>
        <p:spPr>
          <a:xfrm>
            <a:off x="320040" y="3337560"/>
            <a:ext cx="45720" cy="84124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3" name="Text 21"/>
          <p:cNvSpPr/>
          <p:nvPr/>
        </p:nvSpPr>
        <p:spPr>
          <a:xfrm>
            <a:off x="438912" y="3410712"/>
            <a:ext cx="257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Libraries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38912" y="37033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Firebase SDK modules at the top of app.js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73552" y="3337560"/>
            <a:ext cx="27432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26" name="Shape 24"/>
          <p:cNvSpPr/>
          <p:nvPr/>
        </p:nvSpPr>
        <p:spPr>
          <a:xfrm>
            <a:off x="3273552" y="3337560"/>
            <a:ext cx="45720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7" name="Text 25"/>
          <p:cNvSpPr/>
          <p:nvPr/>
        </p:nvSpPr>
        <p:spPr>
          <a:xfrm>
            <a:off x="3392424" y="3410712"/>
            <a:ext cx="257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Initialize App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392424" y="37033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initializeApp(config) with your project credentials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227064" y="3337560"/>
            <a:ext cx="27432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30" name="Shape 28"/>
          <p:cNvSpPr/>
          <p:nvPr/>
        </p:nvSpPr>
        <p:spPr>
          <a:xfrm>
            <a:off x="6227064" y="3337560"/>
            <a:ext cx="45720" cy="84124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1" name="Text 29"/>
          <p:cNvSpPr/>
          <p:nvPr/>
        </p:nvSpPr>
        <p:spPr>
          <a:xfrm>
            <a:off x="6345936" y="3410712"/>
            <a:ext cx="257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DOM Elements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345936" y="37033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getElementById to grab HTML controls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20040" y="4343400"/>
            <a:ext cx="27432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34" name="Shape 32"/>
          <p:cNvSpPr/>
          <p:nvPr/>
        </p:nvSpPr>
        <p:spPr>
          <a:xfrm>
            <a:off x="320040" y="4343400"/>
            <a:ext cx="45720" cy="8412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5" name="Text 33"/>
          <p:cNvSpPr/>
          <p:nvPr/>
        </p:nvSpPr>
        <p:spPr>
          <a:xfrm>
            <a:off x="438912" y="4416552"/>
            <a:ext cx="257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&amp; Update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38912" y="47091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onValue() watches Firebase and updates the page instantly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3273552" y="4343400"/>
            <a:ext cx="27432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38" name="Shape 36"/>
          <p:cNvSpPr/>
          <p:nvPr/>
        </p:nvSpPr>
        <p:spPr>
          <a:xfrm>
            <a:off x="3273552" y="4343400"/>
            <a:ext cx="45720" cy="84124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9" name="Text 37"/>
          <p:cNvSpPr/>
          <p:nvPr/>
        </p:nvSpPr>
        <p:spPr>
          <a:xfrm>
            <a:off x="3392424" y="4416552"/>
            <a:ext cx="2578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to Firebase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3392424" y="47091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set(ref(db, path), value) pushes a new value to the cloud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54864" cy="59436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— Firebase Setup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20040" y="685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Parts 1 &amp; 2 · Import + Initialize Firebase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0040" y="1024128"/>
            <a:ext cx="5349240" cy="41605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8" name="Text 6"/>
          <p:cNvSpPr/>
          <p:nvPr/>
        </p:nvSpPr>
        <p:spPr>
          <a:xfrm>
            <a:off x="5852160" y="6858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Console Setup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852160" y="1097280"/>
            <a:ext cx="347472" cy="347472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0" name="Text 8"/>
          <p:cNvSpPr/>
          <p:nvPr/>
        </p:nvSpPr>
        <p:spPr>
          <a:xfrm>
            <a:off x="5852160" y="10972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291072" y="107899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Project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291072" y="134416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console.firebase.google.com → Add Project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25896" y="1444752"/>
            <a:ext cx="0" cy="731520"/>
          </a:xfrm>
          <a:prstGeom prst="line">
            <a:avLst/>
          </a:prstGeom>
          <a:noFill/>
          <a:ln w="19050">
            <a:solidFill>
              <a:srgbClr val="E2E8F0"/>
            </a:solidFill>
            <a:prstDash val="dash"/>
          </a:ln>
        </p:spPr>
        <p:txBody>
          <a:bodyPr/>
          <a:lstStyle/>
          <a:p>
            <a:endParaRPr lang="en-MY"/>
          </a:p>
        </p:txBody>
      </p:sp>
      <p:sp>
        <p:nvSpPr>
          <p:cNvPr id="14" name="Shape 12"/>
          <p:cNvSpPr/>
          <p:nvPr/>
        </p:nvSpPr>
        <p:spPr>
          <a:xfrm>
            <a:off x="5852160" y="2130552"/>
            <a:ext cx="347472" cy="347472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5" name="Text 13"/>
          <p:cNvSpPr/>
          <p:nvPr/>
        </p:nvSpPr>
        <p:spPr>
          <a:xfrm>
            <a:off x="5852160" y="21305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91072" y="211226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Realtime Database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91072" y="23774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→ Realtime DB → Start in Test Mode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025896" y="2478024"/>
            <a:ext cx="0" cy="731520"/>
          </a:xfrm>
          <a:prstGeom prst="line">
            <a:avLst/>
          </a:prstGeom>
          <a:noFill/>
          <a:ln w="19050">
            <a:solidFill>
              <a:srgbClr val="E2E8F0"/>
            </a:solidFill>
            <a:prstDash val="dash"/>
          </a:ln>
        </p:spPr>
        <p:txBody>
          <a:bodyPr/>
          <a:lstStyle/>
          <a:p>
            <a:endParaRPr lang="en-MY"/>
          </a:p>
        </p:txBody>
      </p:sp>
      <p:sp>
        <p:nvSpPr>
          <p:cNvPr id="19" name="Shape 17"/>
          <p:cNvSpPr/>
          <p:nvPr/>
        </p:nvSpPr>
        <p:spPr>
          <a:xfrm>
            <a:off x="5852160" y="3163824"/>
            <a:ext cx="347472" cy="347472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0" name="Text 18"/>
          <p:cNvSpPr/>
          <p:nvPr/>
        </p:nvSpPr>
        <p:spPr>
          <a:xfrm>
            <a:off x="5852160" y="3163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91072" y="3145536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291072" y="341071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→ Auth → Enable Anonymous Sign-In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025896" y="3511296"/>
            <a:ext cx="0" cy="731520"/>
          </a:xfrm>
          <a:prstGeom prst="line">
            <a:avLst/>
          </a:prstGeom>
          <a:noFill/>
          <a:ln w="19050">
            <a:solidFill>
              <a:srgbClr val="E2E8F0"/>
            </a:solidFill>
            <a:prstDash val="dash"/>
          </a:ln>
        </p:spPr>
        <p:txBody>
          <a:bodyPr/>
          <a:lstStyle/>
          <a:p>
            <a:endParaRPr lang="en-MY"/>
          </a:p>
        </p:txBody>
      </p:sp>
      <p:sp>
        <p:nvSpPr>
          <p:cNvPr id="24" name="Shape 22"/>
          <p:cNvSpPr/>
          <p:nvPr/>
        </p:nvSpPr>
        <p:spPr>
          <a:xfrm>
            <a:off x="5852160" y="4197096"/>
            <a:ext cx="347472" cy="347472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5" name="Text 23"/>
          <p:cNvSpPr/>
          <p:nvPr/>
        </p:nvSpPr>
        <p:spPr>
          <a:xfrm>
            <a:off x="5852160" y="41970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291072" y="417880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Config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291072" y="4443984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Your Apps → Web → copy block</a:t>
            </a:r>
            <a:endParaRPr lang="en-US" sz="1000" dirty="0"/>
          </a:p>
        </p:txBody>
      </p:sp>
      <p:sp>
        <p:nvSpPr>
          <p:cNvPr id="29" name="Rectangle 1">
            <a:extLst>
              <a:ext uri="{FF2B5EF4-FFF2-40B4-BE49-F238E27FC236}">
                <a16:creationId xmlns:a16="http://schemas.microsoft.com/office/drawing/2014/main" id="{8FCF3561-0F4E-9877-A256-EA6B25F6EE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9662" y="1052346"/>
            <a:ext cx="10005320" cy="5601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MY"/>
          </a:p>
        </p:txBody>
      </p: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018FBE96-9357-D067-6B07-A4A0E734D7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2044174"/>
              </p:ext>
            </p:extLst>
          </p:nvPr>
        </p:nvGraphicFramePr>
        <p:xfrm>
          <a:off x="310519" y="915223"/>
          <a:ext cx="5358761" cy="4213188"/>
        </p:xfrm>
        <a:graphic>
          <a:graphicData uri="http://schemas.openxmlformats.org/drawingml/2006/table">
            <a:tbl>
              <a:tblPr/>
              <a:tblGrid>
                <a:gridCol w="5358761">
                  <a:extLst>
                    <a:ext uri="{9D8B030D-6E8A-4147-A177-3AD203B41FA5}">
                      <a16:colId xmlns:a16="http://schemas.microsoft.com/office/drawing/2014/main" val="3586327116"/>
                    </a:ext>
                  </a:extLst>
                </a:gridCol>
              </a:tblGrid>
              <a:tr h="4119372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MY" sz="8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/* ============================================</a:t>
                      </a:r>
                      <a:br>
                        <a:rPr lang="en-MY" sz="8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8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  PART 1: IMPORT FIREBASE LIBRARIES</a:t>
                      </a:r>
                      <a:br>
                        <a:rPr lang="en-MY" sz="8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8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============================================ */</a:t>
                      </a:r>
                      <a:b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800" b="0" i="0" u="none" strike="noStrike" dirty="0">
                          <a:solidFill>
                            <a:srgbClr val="B8D7A3"/>
                          </a:solidFill>
                          <a:effectLst/>
                          <a:latin typeface="Consolas" panose="020B0609020204030204" pitchFamily="49" charset="0"/>
                        </a:rPr>
                        <a:t>import </a:t>
                      </a:r>
                      <a: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{ </a:t>
                      </a:r>
                      <a:r>
                        <a:rPr lang="en-MY" sz="80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initializeApp</a:t>
                      </a:r>
                      <a: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} from </a:t>
                      </a:r>
                      <a:r>
                        <a:rPr lang="en-MY" sz="8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"https://www.gstatic.com/firebasejs/10.12.0/firebase-app.js"</a:t>
                      </a:r>
                      <a: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  <a:b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800" b="0" i="0" u="none" strike="noStrike" dirty="0">
                          <a:solidFill>
                            <a:srgbClr val="B8D7A3"/>
                          </a:solidFill>
                          <a:effectLst/>
                          <a:latin typeface="Consolas" panose="020B0609020204030204" pitchFamily="49" charset="0"/>
                        </a:rPr>
                        <a:t>import </a:t>
                      </a:r>
                      <a: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{ </a:t>
                      </a:r>
                      <a:r>
                        <a:rPr lang="en-MY" sz="80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getAuth</a:t>
                      </a:r>
                      <a: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MY" sz="80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signInAnonymously</a:t>
                      </a:r>
                      <a: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MY" sz="80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onAuthStateChanged</a:t>
                      </a:r>
                      <a: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}</a:t>
                      </a:r>
                      <a:b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from </a:t>
                      </a:r>
                      <a:r>
                        <a:rPr lang="en-MY" sz="8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"https://www.gstatic.com/firebasejs/10.12.0/firebase-auth.js"</a:t>
                      </a:r>
                      <a: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  <a:b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800" b="0" i="0" u="none" strike="noStrike" dirty="0">
                          <a:solidFill>
                            <a:srgbClr val="B8D7A3"/>
                          </a:solidFill>
                          <a:effectLst/>
                          <a:latin typeface="Consolas" panose="020B0609020204030204" pitchFamily="49" charset="0"/>
                        </a:rPr>
                        <a:t>import </a:t>
                      </a:r>
                      <a: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{ </a:t>
                      </a:r>
                      <a:r>
                        <a:rPr lang="en-MY" sz="80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getDatabase</a:t>
                      </a:r>
                      <a: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, ref, </a:t>
                      </a:r>
                      <a:r>
                        <a:rPr lang="en-MY" sz="80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onValue</a:t>
                      </a:r>
                      <a: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, set }</a:t>
                      </a:r>
                      <a:b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from </a:t>
                      </a:r>
                      <a:r>
                        <a:rPr lang="en-MY" sz="8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"https://www.gstatic.com/firebasejs/10.12.0/firebase-database.js"</a:t>
                      </a:r>
                      <a: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  <a:b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8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/* ============================================</a:t>
                      </a:r>
                      <a:br>
                        <a:rPr lang="en-MY" sz="8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8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  PART 2: FIREBASE CONFIGURATION</a:t>
                      </a:r>
                      <a:br>
                        <a:rPr lang="en-MY" sz="8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8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  REPLACE WITH YOUR OWN PROJECT SETTINGS</a:t>
                      </a:r>
                      <a:br>
                        <a:rPr lang="en-MY" sz="8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8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============================================ */</a:t>
                      </a:r>
                      <a:b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80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MY" sz="80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firebaseConfig</a:t>
                      </a:r>
                      <a: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= {</a:t>
                      </a:r>
                      <a:b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8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800" b="0" i="0" u="none" strike="noStrike" dirty="0" err="1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apiKey</a:t>
                      </a:r>
                      <a:r>
                        <a:rPr lang="en-MY" sz="8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MY" sz="8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"AIzaSyBlxLdiakI8Zv5gtRWtAcfwxTcW-XtGbTw"</a:t>
                      </a:r>
                      <a: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,</a:t>
                      </a:r>
                      <a:b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8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800" b="0" i="0" u="none" strike="noStrike" dirty="0" err="1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authDomain</a:t>
                      </a:r>
                      <a:r>
                        <a:rPr lang="en-MY" sz="8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MY" sz="8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"sivi-arduino-database.firebaseapp.com"</a:t>
                      </a:r>
                      <a: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,</a:t>
                      </a:r>
                      <a:b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8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800" b="0" i="0" u="none" strike="noStrike" dirty="0" err="1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databaseURL</a:t>
                      </a:r>
                      <a:r>
                        <a:rPr lang="en-MY" sz="8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MY" sz="8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"https://sivi-arduino-database-default-rtdb.asia-southeast1.firebasedatabase.app"</a:t>
                      </a:r>
                      <a: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,</a:t>
                      </a:r>
                      <a:b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8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800" b="0" i="0" u="none" strike="noStrike" dirty="0" err="1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projectId</a:t>
                      </a:r>
                      <a:r>
                        <a:rPr lang="en-MY" sz="8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MY" sz="8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"sivi-</a:t>
                      </a:r>
                      <a:r>
                        <a:rPr lang="en-MY" sz="800" b="0" i="0" u="none" strike="noStrike" dirty="0" err="1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arduino</a:t>
                      </a:r>
                      <a:r>
                        <a:rPr lang="en-MY" sz="8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-database"</a:t>
                      </a:r>
                      <a: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,</a:t>
                      </a:r>
                      <a:b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8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800" b="0" i="0" u="none" strike="noStrike" dirty="0" err="1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storageBucket</a:t>
                      </a:r>
                      <a:r>
                        <a:rPr lang="en-MY" sz="8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MY" sz="8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"sivi-</a:t>
                      </a:r>
                      <a:r>
                        <a:rPr lang="en-MY" sz="800" b="0" i="0" u="none" strike="noStrike" dirty="0" err="1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arduino</a:t>
                      </a:r>
                      <a:r>
                        <a:rPr lang="en-MY" sz="8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en-MY" sz="800" b="0" i="0" u="none" strike="noStrike" dirty="0" err="1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database.firebasestorage.app</a:t>
                      </a:r>
                      <a:r>
                        <a:rPr lang="en-MY" sz="8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,</a:t>
                      </a:r>
                      <a:b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8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800" b="0" i="0" u="none" strike="noStrike" dirty="0" err="1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messagingSenderId</a:t>
                      </a:r>
                      <a:r>
                        <a:rPr lang="en-MY" sz="8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MY" sz="8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"854752663108"</a:t>
                      </a:r>
                      <a: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,</a:t>
                      </a:r>
                      <a:b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8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800" b="0" i="0" u="none" strike="noStrike" dirty="0" err="1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appId</a:t>
                      </a:r>
                      <a:r>
                        <a:rPr lang="en-MY" sz="8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MY" sz="8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"1:854752663108:web:b80bad680b96bb63478e11"</a:t>
                      </a:r>
                      <a: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,</a:t>
                      </a:r>
                      <a:b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8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800" b="0" i="0" u="none" strike="noStrike" dirty="0" err="1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measurementId</a:t>
                      </a:r>
                      <a:r>
                        <a:rPr lang="en-MY" sz="8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MY" sz="8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"G-C1XE1J4ZJR"</a:t>
                      </a:r>
                      <a:b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};</a:t>
                      </a:r>
                      <a:b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8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/* ============================================</a:t>
                      </a:r>
                      <a:br>
                        <a:rPr lang="en-MY" sz="8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8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  INITIALIZE FIREBASE</a:t>
                      </a:r>
                      <a:br>
                        <a:rPr lang="en-MY" sz="8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8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============================================ */</a:t>
                      </a:r>
                      <a:b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80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app = </a:t>
                      </a:r>
                      <a:r>
                        <a:rPr lang="en-MY" sz="80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initializeApp</a:t>
                      </a:r>
                      <a: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MY" sz="80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firebaseConfig</a:t>
                      </a:r>
                      <a: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  <a:b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80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auth = </a:t>
                      </a:r>
                      <a:r>
                        <a:rPr lang="en-MY" sz="80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getAuth</a:t>
                      </a:r>
                      <a: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(app);</a:t>
                      </a:r>
                      <a:b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80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MY" sz="80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db</a:t>
                      </a:r>
                      <a: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en-MY" sz="80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getDatabase</a:t>
                      </a:r>
                      <a:r>
                        <a:rPr lang="en-MY" sz="8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(app);</a:t>
                      </a:r>
                      <a:endParaRPr lang="en-MY" sz="1100" dirty="0">
                        <a:effectLst/>
                      </a:endParaRPr>
                    </a:p>
                  </a:txBody>
                  <a:tcPr marL="33954" marR="33954" marT="33954" marB="3395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1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1116433"/>
                  </a:ext>
                </a:extLst>
              </a:tr>
            </a:tbl>
          </a:graphicData>
        </a:graphic>
      </p:graphicFrame>
      <p:sp>
        <p:nvSpPr>
          <p:cNvPr id="31" name="Rectangle 2">
            <a:extLst>
              <a:ext uri="{FF2B5EF4-FFF2-40B4-BE49-F238E27FC236}">
                <a16:creationId xmlns:a16="http://schemas.microsoft.com/office/drawing/2014/main" id="{355CDB43-ED9B-2527-C75F-0872699F55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013" y="988688"/>
            <a:ext cx="11619478" cy="5657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MY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54864" cy="59436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— DOM Elements + Event Listeners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94895" y="52454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Get HTML Elements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01780" y="862870"/>
            <a:ext cx="4107915" cy="1826156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8" name="Text 6"/>
          <p:cNvSpPr/>
          <p:nvPr/>
        </p:nvSpPr>
        <p:spPr>
          <a:xfrm>
            <a:off x="294892" y="26773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&amp; 6 · Slider Event + Button Listener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3103286"/>
            <a:ext cx="4107915" cy="19392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11" name="Text 9"/>
          <p:cNvSpPr/>
          <p:nvPr/>
        </p:nvSpPr>
        <p:spPr>
          <a:xfrm>
            <a:off x="4674869" y="56529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Serial Display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09160" y="932688"/>
            <a:ext cx="4114800" cy="41605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BF5F2330-EBC9-6231-7AE5-6F8353CB88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3549817"/>
              </p:ext>
            </p:extLst>
          </p:nvPr>
        </p:nvGraphicFramePr>
        <p:xfrm>
          <a:off x="294894" y="757809"/>
          <a:ext cx="4114799" cy="1955800"/>
        </p:xfrm>
        <a:graphic>
          <a:graphicData uri="http://schemas.openxmlformats.org/drawingml/2006/table">
            <a:tbl>
              <a:tblPr/>
              <a:tblGrid>
                <a:gridCol w="4114799">
                  <a:extLst>
                    <a:ext uri="{9D8B030D-6E8A-4147-A177-3AD203B41FA5}">
                      <a16:colId xmlns:a16="http://schemas.microsoft.com/office/drawing/2014/main" val="2281940299"/>
                    </a:ext>
                  </a:extLst>
                </a:gridCol>
              </a:tblGrid>
              <a:tr h="1712295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MY" sz="800" b="1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/* ============================================</a:t>
                      </a:r>
                      <a:br>
                        <a:rPr lang="en-MY" sz="800" b="1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800" b="1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  PART 3: GET HTML ELEMENTS</a:t>
                      </a:r>
                      <a:br>
                        <a:rPr lang="en-MY" sz="800" b="1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800" b="1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============================================ */</a:t>
                      </a:r>
                      <a:br>
                        <a:rPr lang="en-MY" sz="800" b="1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en-MY" sz="800" b="1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800" b="1" i="0" u="none" strike="noStrike" dirty="0" err="1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r>
                        <a:rPr lang="en-MY" sz="800" b="1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MY" sz="800" b="1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statusEl</a:t>
                      </a:r>
                      <a:r>
                        <a:rPr lang="en-MY" sz="800" b="1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= </a:t>
                      </a:r>
                      <a:r>
                        <a:rPr lang="en-MY" sz="800" b="1" i="0" u="none" strike="noStrike" dirty="0" err="1">
                          <a:solidFill>
                            <a:srgbClr val="4EC9B0"/>
                          </a:solidFill>
                          <a:effectLst/>
                          <a:latin typeface="Consolas" panose="020B0609020204030204" pitchFamily="49" charset="0"/>
                        </a:rPr>
                        <a:t>document</a:t>
                      </a:r>
                      <a:r>
                        <a:rPr lang="en-MY" sz="800" b="1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.getElementById</a:t>
                      </a:r>
                      <a:r>
                        <a:rPr lang="en-MY" sz="800" b="1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MY" sz="800" b="1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"status"</a:t>
                      </a:r>
                      <a:r>
                        <a:rPr lang="en-MY" sz="800" b="1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  <a:br>
                        <a:rPr lang="en-MY" sz="800" b="1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800" b="1" i="0" u="none" strike="noStrike" dirty="0" err="1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r>
                        <a:rPr lang="en-MY" sz="800" b="1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MY" sz="800" b="1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angleSlider</a:t>
                      </a:r>
                      <a:r>
                        <a:rPr lang="en-MY" sz="800" b="1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en-MY" sz="800" b="1" i="0" u="none" strike="noStrike" dirty="0" err="1">
                          <a:solidFill>
                            <a:srgbClr val="4EC9B0"/>
                          </a:solidFill>
                          <a:effectLst/>
                          <a:latin typeface="Consolas" panose="020B0609020204030204" pitchFamily="49" charset="0"/>
                        </a:rPr>
                        <a:t>document</a:t>
                      </a:r>
                      <a:r>
                        <a:rPr lang="en-MY" sz="800" b="1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.getElementById</a:t>
                      </a:r>
                      <a:r>
                        <a:rPr lang="en-MY" sz="800" b="1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MY" sz="800" b="1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en-MY" sz="800" b="1" i="0" u="none" strike="noStrike" dirty="0" err="1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angleSlider</a:t>
                      </a:r>
                      <a:r>
                        <a:rPr lang="en-MY" sz="800" b="1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en-MY" sz="800" b="1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  <a:br>
                        <a:rPr lang="en-MY" sz="800" b="1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800" b="1" i="0" u="none" strike="noStrike" dirty="0" err="1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r>
                        <a:rPr lang="en-MY" sz="800" b="1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MY" sz="800" b="1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angleValue</a:t>
                      </a:r>
                      <a:r>
                        <a:rPr lang="en-MY" sz="800" b="1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= </a:t>
                      </a:r>
                      <a:r>
                        <a:rPr lang="en-MY" sz="800" b="1" i="0" u="none" strike="noStrike" dirty="0" err="1">
                          <a:solidFill>
                            <a:srgbClr val="4EC9B0"/>
                          </a:solidFill>
                          <a:effectLst/>
                          <a:latin typeface="Consolas" panose="020B0609020204030204" pitchFamily="49" charset="0"/>
                        </a:rPr>
                        <a:t>document</a:t>
                      </a:r>
                      <a:r>
                        <a:rPr lang="en-MY" sz="800" b="1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.getElementById</a:t>
                      </a:r>
                      <a:r>
                        <a:rPr lang="en-MY" sz="800" b="1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MY" sz="800" b="1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en-MY" sz="800" b="1" i="0" u="none" strike="noStrike" dirty="0" err="1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angleValue</a:t>
                      </a:r>
                      <a:r>
                        <a:rPr lang="en-MY" sz="800" b="1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en-MY" sz="800" b="1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  <a:br>
                        <a:rPr lang="en-MY" sz="800" b="1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800" b="1" i="0" u="none" strike="noStrike" dirty="0" err="1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r>
                        <a:rPr lang="en-MY" sz="800" b="1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MY" sz="800" b="1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servoAngle</a:t>
                      </a:r>
                      <a:r>
                        <a:rPr lang="en-MY" sz="800" b="1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= </a:t>
                      </a:r>
                      <a:r>
                        <a:rPr lang="en-MY" sz="800" b="1" i="0" u="none" strike="noStrike" dirty="0" err="1">
                          <a:solidFill>
                            <a:srgbClr val="4EC9B0"/>
                          </a:solidFill>
                          <a:effectLst/>
                          <a:latin typeface="Consolas" panose="020B0609020204030204" pitchFamily="49" charset="0"/>
                        </a:rPr>
                        <a:t>document</a:t>
                      </a:r>
                      <a:r>
                        <a:rPr lang="en-MY" sz="800" b="1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.getElementById</a:t>
                      </a:r>
                      <a:r>
                        <a:rPr lang="en-MY" sz="800" b="1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MY" sz="800" b="1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en-MY" sz="800" b="1" i="0" u="none" strike="noStrike" dirty="0" err="1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servoAngle</a:t>
                      </a:r>
                      <a:r>
                        <a:rPr lang="en-MY" sz="800" b="1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en-MY" sz="800" b="1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  <a:br>
                        <a:rPr lang="en-MY" sz="800" b="1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800" b="1" i="0" u="none" strike="noStrike" dirty="0" err="1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r>
                        <a:rPr lang="en-MY" sz="800" b="1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MY" sz="800" b="1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irDetected</a:t>
                      </a:r>
                      <a:r>
                        <a:rPr lang="en-MY" sz="800" b="1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= </a:t>
                      </a:r>
                      <a:r>
                        <a:rPr lang="en-MY" sz="800" b="1" i="0" u="none" strike="noStrike" dirty="0" err="1">
                          <a:solidFill>
                            <a:srgbClr val="4EC9B0"/>
                          </a:solidFill>
                          <a:effectLst/>
                          <a:latin typeface="Consolas" panose="020B0609020204030204" pitchFamily="49" charset="0"/>
                        </a:rPr>
                        <a:t>document</a:t>
                      </a:r>
                      <a:r>
                        <a:rPr lang="en-MY" sz="800" b="1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.getElementById</a:t>
                      </a:r>
                      <a:r>
                        <a:rPr lang="en-MY" sz="800" b="1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MY" sz="800" b="1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en-MY" sz="800" b="1" i="0" u="none" strike="noStrike" dirty="0" err="1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irDetected</a:t>
                      </a:r>
                      <a:r>
                        <a:rPr lang="en-MY" sz="800" b="1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en-MY" sz="800" b="1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  <a:br>
                        <a:rPr lang="en-MY" sz="800" b="1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800" b="1" i="0" u="none" strike="noStrike" dirty="0" err="1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r>
                        <a:rPr lang="en-MY" sz="800" b="1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MY" sz="800" b="1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irRaw</a:t>
                      </a:r>
                      <a:r>
                        <a:rPr lang="en-MY" sz="800" b="1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      = </a:t>
                      </a:r>
                      <a:r>
                        <a:rPr lang="en-MY" sz="800" b="1" i="0" u="none" strike="noStrike" dirty="0" err="1">
                          <a:solidFill>
                            <a:srgbClr val="4EC9B0"/>
                          </a:solidFill>
                          <a:effectLst/>
                          <a:latin typeface="Consolas" panose="020B0609020204030204" pitchFamily="49" charset="0"/>
                        </a:rPr>
                        <a:t>document</a:t>
                      </a:r>
                      <a:r>
                        <a:rPr lang="en-MY" sz="800" b="1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.getElementById</a:t>
                      </a:r>
                      <a:r>
                        <a:rPr lang="en-MY" sz="800" b="1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MY" sz="800" b="1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en-MY" sz="800" b="1" i="0" u="none" strike="noStrike" dirty="0" err="1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irRaw</a:t>
                      </a:r>
                      <a:r>
                        <a:rPr lang="en-MY" sz="800" b="1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en-MY" sz="800" b="1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  <a:br>
                        <a:rPr lang="en-MY" sz="800" b="1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800" b="1" i="0" u="none" strike="noStrike" dirty="0" err="1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r>
                        <a:rPr lang="en-MY" sz="800" b="1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messages    = </a:t>
                      </a:r>
                      <a:r>
                        <a:rPr lang="en-MY" sz="800" b="1" i="0" u="none" strike="noStrike" dirty="0" err="1">
                          <a:solidFill>
                            <a:srgbClr val="4EC9B0"/>
                          </a:solidFill>
                          <a:effectLst/>
                          <a:latin typeface="Consolas" panose="020B0609020204030204" pitchFamily="49" charset="0"/>
                        </a:rPr>
                        <a:t>document</a:t>
                      </a:r>
                      <a:r>
                        <a:rPr lang="en-MY" sz="800" b="1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.getElementById</a:t>
                      </a:r>
                      <a:r>
                        <a:rPr lang="en-MY" sz="800" b="1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MY" sz="800" b="1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"messages"</a:t>
                      </a:r>
                      <a:r>
                        <a:rPr lang="en-MY" sz="800" b="1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  <a:br>
                        <a:rPr lang="en-MY" sz="800" b="1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800" b="1" i="0" u="none" strike="noStrike" dirty="0" err="1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r>
                        <a:rPr lang="en-MY" sz="800" b="1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MY" sz="800" b="1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msgInput</a:t>
                      </a:r>
                      <a:r>
                        <a:rPr lang="en-MY" sz="800" b="1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= </a:t>
                      </a:r>
                      <a:r>
                        <a:rPr lang="en-MY" sz="800" b="1" i="0" u="none" strike="noStrike" dirty="0" err="1">
                          <a:solidFill>
                            <a:srgbClr val="4EC9B0"/>
                          </a:solidFill>
                          <a:effectLst/>
                          <a:latin typeface="Consolas" panose="020B0609020204030204" pitchFamily="49" charset="0"/>
                        </a:rPr>
                        <a:t>document</a:t>
                      </a:r>
                      <a:r>
                        <a:rPr lang="en-MY" sz="800" b="1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.getElementById</a:t>
                      </a:r>
                      <a:r>
                        <a:rPr lang="en-MY" sz="800" b="1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MY" sz="800" b="1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en-MY" sz="800" b="1" i="0" u="none" strike="noStrike" dirty="0" err="1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msgInput</a:t>
                      </a:r>
                      <a:r>
                        <a:rPr lang="en-MY" sz="800" b="1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en-MY" sz="800" b="1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  <a:br>
                        <a:rPr lang="en-MY" sz="800" b="1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800" b="1" i="0" u="none" strike="noStrike" dirty="0" err="1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r>
                        <a:rPr lang="en-MY" sz="800" b="1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MY" sz="800" b="1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sendBtn</a:t>
                      </a:r>
                      <a:r>
                        <a:rPr lang="en-MY" sz="800" b="1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    = </a:t>
                      </a:r>
                      <a:r>
                        <a:rPr lang="en-MY" sz="800" b="1" i="0" u="none" strike="noStrike" dirty="0" err="1">
                          <a:solidFill>
                            <a:srgbClr val="4EC9B0"/>
                          </a:solidFill>
                          <a:effectLst/>
                          <a:latin typeface="Consolas" panose="020B0609020204030204" pitchFamily="49" charset="0"/>
                        </a:rPr>
                        <a:t>document</a:t>
                      </a:r>
                      <a:r>
                        <a:rPr lang="en-MY" sz="800" b="1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.getElementById</a:t>
                      </a:r>
                      <a:r>
                        <a:rPr lang="en-MY" sz="800" b="1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MY" sz="800" b="1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en-MY" sz="800" b="1" i="0" u="none" strike="noStrike" dirty="0" err="1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sendBtn</a:t>
                      </a:r>
                      <a:r>
                        <a:rPr lang="en-MY" sz="800" b="1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en-MY" sz="800" b="1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  <a:br>
                        <a:rPr lang="en-MY" sz="800" b="1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en-MY" sz="800" b="1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800" b="1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let</a:t>
                      </a:r>
                      <a:r>
                        <a:rPr lang="en-MY" sz="800" b="1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MY" sz="800" b="1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lastEspMsg</a:t>
                      </a:r>
                      <a:r>
                        <a:rPr lang="en-MY" sz="800" b="1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en-MY" sz="800" b="1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""</a:t>
                      </a:r>
                      <a:r>
                        <a:rPr lang="en-MY" sz="800" b="1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  <a:endParaRPr lang="en-MY" sz="1100" b="1" dirty="0">
                        <a:effectLst/>
                      </a:endParaRPr>
                    </a:p>
                  </a:txBody>
                  <a:tcPr marL="63500" marR="63500" marT="63500" marB="635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1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6484632"/>
                  </a:ext>
                </a:extLst>
              </a:tr>
            </a:tbl>
          </a:graphicData>
        </a:graphic>
      </p:graphicFrame>
      <p:sp>
        <p:nvSpPr>
          <p:cNvPr id="15" name="Rectangle 1">
            <a:extLst>
              <a:ext uri="{FF2B5EF4-FFF2-40B4-BE49-F238E27FC236}">
                <a16:creationId xmlns:a16="http://schemas.microsoft.com/office/drawing/2014/main" id="{4053190F-5AB1-D2A4-0468-27B23C986F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331" y="1024922"/>
            <a:ext cx="4786268" cy="3026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MY"/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5A828CE7-D9AB-B14F-DCE1-4D0D9F5D17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2639329"/>
              </p:ext>
            </p:extLst>
          </p:nvPr>
        </p:nvGraphicFramePr>
        <p:xfrm>
          <a:off x="4681756" y="798862"/>
          <a:ext cx="4101028" cy="4294346"/>
        </p:xfrm>
        <a:graphic>
          <a:graphicData uri="http://schemas.openxmlformats.org/drawingml/2006/table">
            <a:tbl>
              <a:tblPr/>
              <a:tblGrid>
                <a:gridCol w="4101028">
                  <a:extLst>
                    <a:ext uri="{9D8B030D-6E8A-4147-A177-3AD203B41FA5}">
                      <a16:colId xmlns:a16="http://schemas.microsoft.com/office/drawing/2014/main" val="3224967399"/>
                    </a:ext>
                  </a:extLst>
                </a:gridCol>
              </a:tblGrid>
              <a:tr h="4294346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MY" sz="105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/* ============================================</a:t>
                      </a:r>
                      <a:br>
                        <a:rPr lang="en-MY" sz="105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5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PART 4   : Serial Display</a:t>
                      </a:r>
                      <a:br>
                        <a:rPr lang="en-MY" sz="105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5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============================================ */</a:t>
                      </a:r>
                      <a:b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5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// FUNCTION: DISPLAY MESSAGE</a:t>
                      </a:r>
                      <a:b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5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function</a:t>
                      </a:r>
                      <a: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MY" sz="105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addMessage</a:t>
                      </a:r>
                      <a: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(text, source) {</a:t>
                      </a:r>
                      <a:b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105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en-MY" sz="105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messages.textContent</a:t>
                      </a:r>
                      <a: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=== </a:t>
                      </a:r>
                      <a:r>
                        <a:rPr lang="en-MY" sz="105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"No messages yet."</a:t>
                      </a:r>
                      <a: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) {</a:t>
                      </a:r>
                      <a:b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MY" sz="105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messages.textContent</a:t>
                      </a:r>
                      <a: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en-MY" sz="105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""</a:t>
                      </a:r>
                      <a: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  <a:b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}</a:t>
                      </a:r>
                      <a:b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105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messages.textContent</a:t>
                      </a:r>
                      <a: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+= `[${source}] ${</a:t>
                      </a:r>
                      <a:r>
                        <a:rPr lang="en-MY" sz="1050" b="0" i="0" u="none" strike="noStrike" dirty="0">
                          <a:solidFill>
                            <a:srgbClr val="4EC9B0"/>
                          </a:solidFill>
                          <a:effectLst/>
                          <a:latin typeface="Consolas" panose="020B0609020204030204" pitchFamily="49" charset="0"/>
                        </a:rPr>
                        <a:t>text</a:t>
                      </a:r>
                      <a: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}\n`;</a:t>
                      </a:r>
                      <a:b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105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messages.scrollTop</a:t>
                      </a:r>
                      <a: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en-MY" sz="105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messages.scrollHeight</a:t>
                      </a:r>
                      <a: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  <a:b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  <a:b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5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// FUNCTION: SEND MESSAGE FROM WEB</a:t>
                      </a:r>
                      <a:b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5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function</a:t>
                      </a:r>
                      <a: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MY" sz="105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sendWebMessage</a:t>
                      </a:r>
                      <a: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() {</a:t>
                      </a:r>
                      <a:b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105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MY" sz="1050" b="0" i="0" u="none" strike="noStrike" dirty="0">
                          <a:solidFill>
                            <a:srgbClr val="4EC9B0"/>
                          </a:solidFill>
                          <a:effectLst/>
                          <a:latin typeface="Consolas" panose="020B0609020204030204" pitchFamily="49" charset="0"/>
                        </a:rPr>
                        <a:t>text</a:t>
                      </a:r>
                      <a: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en-MY" sz="105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msgInput.value.trim</a:t>
                      </a:r>
                      <a: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();</a:t>
                      </a:r>
                      <a:b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105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(!</a:t>
                      </a:r>
                      <a:r>
                        <a:rPr lang="en-MY" sz="1050" b="0" i="0" u="none" strike="noStrike" dirty="0">
                          <a:solidFill>
                            <a:srgbClr val="4EC9B0"/>
                          </a:solidFill>
                          <a:effectLst/>
                          <a:latin typeface="Consolas" panose="020B0609020204030204" pitchFamily="49" charset="0"/>
                        </a:rPr>
                        <a:t>text</a:t>
                      </a:r>
                      <a: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) return;</a:t>
                      </a:r>
                      <a:b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105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addMessage</a:t>
                      </a:r>
                      <a: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MY" sz="1050" b="0" i="0" u="none" strike="noStrike" dirty="0">
                          <a:solidFill>
                            <a:srgbClr val="4EC9B0"/>
                          </a:solidFill>
                          <a:effectLst/>
                          <a:latin typeface="Consolas" panose="020B0609020204030204" pitchFamily="49" charset="0"/>
                        </a:rPr>
                        <a:t>text</a:t>
                      </a:r>
                      <a: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MY" sz="105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"Web"</a:t>
                      </a:r>
                      <a: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  <a:b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105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msgInput.value</a:t>
                      </a:r>
                      <a: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en-MY" sz="105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""</a:t>
                      </a:r>
                      <a: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  <a:b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set(ref(</a:t>
                      </a:r>
                      <a:r>
                        <a:rPr lang="en-MY" sz="105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db</a:t>
                      </a:r>
                      <a: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MY" sz="105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"serial/message"</a:t>
                      </a:r>
                      <a: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), {</a:t>
                      </a:r>
                      <a:b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MY" sz="1050" b="0" i="0" u="none" strike="noStrike" dirty="0">
                          <a:solidFill>
                            <a:srgbClr val="4EC9B0"/>
                          </a:solidFill>
                          <a:effectLst/>
                          <a:latin typeface="Consolas" panose="020B0609020204030204" pitchFamily="49" charset="0"/>
                        </a:rPr>
                        <a:t>text</a:t>
                      </a:r>
                      <a: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: </a:t>
                      </a:r>
                      <a:r>
                        <a:rPr lang="en-MY" sz="1050" b="0" i="0" u="none" strike="noStrike" dirty="0">
                          <a:solidFill>
                            <a:srgbClr val="4EC9B0"/>
                          </a:solidFill>
                          <a:effectLst/>
                          <a:latin typeface="Consolas" panose="020B0609020204030204" pitchFamily="49" charset="0"/>
                        </a:rPr>
                        <a:t>text</a:t>
                      </a:r>
                      <a: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,</a:t>
                      </a:r>
                      <a:b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source: </a:t>
                      </a:r>
                      <a:r>
                        <a:rPr lang="en-MY" sz="105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"web"</a:t>
                      </a:r>
                      <a:b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});</a:t>
                      </a:r>
                      <a:b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105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  <a:endParaRPr lang="en-MY" sz="2000" dirty="0">
                        <a:effectLst/>
                      </a:endParaRPr>
                    </a:p>
                  </a:txBody>
                  <a:tcPr marL="42040" marR="42040" marT="42040" marB="4204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1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6247902"/>
                  </a:ext>
                </a:extLst>
              </a:tr>
            </a:tbl>
          </a:graphicData>
        </a:graphic>
      </p:graphicFrame>
      <p:sp>
        <p:nvSpPr>
          <p:cNvPr id="17" name="Rectangle 2">
            <a:extLst>
              <a:ext uri="{FF2B5EF4-FFF2-40B4-BE49-F238E27FC236}">
                <a16:creationId xmlns:a16="http://schemas.microsoft.com/office/drawing/2014/main" id="{F6D5C9D9-4DEF-E847-FCAA-CB8927E0DC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7562" y="1027874"/>
            <a:ext cx="7133983" cy="5830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MY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B21F7E3B-FFFF-FE20-C006-C86FC62B39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3800455"/>
              </p:ext>
            </p:extLst>
          </p:nvPr>
        </p:nvGraphicFramePr>
        <p:xfrm>
          <a:off x="301777" y="2939669"/>
          <a:ext cx="4133064" cy="2252662"/>
        </p:xfrm>
        <a:graphic>
          <a:graphicData uri="http://schemas.openxmlformats.org/drawingml/2006/table">
            <a:tbl>
              <a:tblPr/>
              <a:tblGrid>
                <a:gridCol w="4133064">
                  <a:extLst>
                    <a:ext uri="{9D8B030D-6E8A-4147-A177-3AD203B41FA5}">
                      <a16:colId xmlns:a16="http://schemas.microsoft.com/office/drawing/2014/main" val="197867404"/>
                    </a:ext>
                  </a:extLst>
                </a:gridCol>
              </a:tblGrid>
              <a:tr h="1939244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MY" sz="7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/* ============================================</a:t>
                      </a:r>
                      <a:br>
                        <a:rPr lang="en-MY" sz="7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7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  PART 5: SERVO SLIDER CONTROL Listener</a:t>
                      </a:r>
                      <a:br>
                        <a:rPr lang="en-MY" sz="7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7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============================================ */</a:t>
                      </a:r>
                      <a:br>
                        <a:rPr lang="en-MY" sz="7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en-MY" sz="7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70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angleSlider.addEventListener</a:t>
                      </a:r>
                      <a:r>
                        <a:rPr lang="en-MY" sz="7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MY" sz="7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"input"</a:t>
                      </a:r>
                      <a:r>
                        <a:rPr lang="en-MY" sz="7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, () =&gt; {</a:t>
                      </a:r>
                      <a:br>
                        <a:rPr lang="en-MY" sz="7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7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700" b="0" i="0" u="none" strike="noStrike" dirty="0" err="1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r>
                        <a:rPr lang="en-MY" sz="7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angle = </a:t>
                      </a:r>
                      <a:r>
                        <a:rPr lang="en-MY" sz="700" b="0" i="0" u="none" strike="noStrike" dirty="0">
                          <a:solidFill>
                            <a:srgbClr val="4EC9B0"/>
                          </a:solidFill>
                          <a:effectLst/>
                          <a:latin typeface="Consolas" panose="020B0609020204030204" pitchFamily="49" charset="0"/>
                        </a:rPr>
                        <a:t>Number</a:t>
                      </a:r>
                      <a:r>
                        <a:rPr lang="en-MY" sz="7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MY" sz="70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angleSlider.value</a:t>
                      </a:r>
                      <a:r>
                        <a:rPr lang="en-MY" sz="7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  <a:br>
                        <a:rPr lang="en-MY" sz="7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7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70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angleValue.textContent</a:t>
                      </a:r>
                      <a:r>
                        <a:rPr lang="en-MY" sz="7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= angle;</a:t>
                      </a:r>
                      <a:br>
                        <a:rPr lang="en-MY" sz="7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7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7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set</a:t>
                      </a:r>
                      <a:r>
                        <a:rPr lang="en-MY" sz="7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(ref(</a:t>
                      </a:r>
                      <a:r>
                        <a:rPr lang="en-MY" sz="70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db</a:t>
                      </a:r>
                      <a:r>
                        <a:rPr lang="en-MY" sz="7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MY" sz="7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"servo/</a:t>
                      </a:r>
                      <a:r>
                        <a:rPr lang="en-MY" sz="700" b="0" i="0" u="none" strike="noStrike" dirty="0" err="1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msgTitle</a:t>
                      </a:r>
                      <a:r>
                        <a:rPr lang="en-MY" sz="7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en-MY" sz="7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), angle);</a:t>
                      </a:r>
                      <a:br>
                        <a:rPr lang="en-MY" sz="7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7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});</a:t>
                      </a:r>
                      <a:br>
                        <a:rPr lang="en-MY" sz="7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en-MY" sz="7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7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/* ============================================</a:t>
                      </a:r>
                      <a:br>
                        <a:rPr lang="en-MY" sz="7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7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  PART 6: Send button Listener</a:t>
                      </a:r>
                      <a:br>
                        <a:rPr lang="en-MY" sz="7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7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============================================ */</a:t>
                      </a:r>
                      <a:br>
                        <a:rPr lang="en-MY" sz="7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7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// BUTTON EVENTS</a:t>
                      </a:r>
                      <a:br>
                        <a:rPr lang="en-MY" sz="7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70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sendBtn.addEventListener</a:t>
                      </a:r>
                      <a:r>
                        <a:rPr lang="en-MY" sz="7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MY" sz="7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"click"</a:t>
                      </a:r>
                      <a:r>
                        <a:rPr lang="en-MY" sz="7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MY" sz="70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sendWebMessage</a:t>
                      </a:r>
                      <a:r>
                        <a:rPr lang="en-MY" sz="7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  <a:br>
                        <a:rPr lang="en-MY" sz="7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70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msgInput.addEventListener</a:t>
                      </a:r>
                      <a:r>
                        <a:rPr lang="en-MY" sz="7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MY" sz="7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en-MY" sz="700" b="0" i="0" u="none" strike="noStrike" dirty="0" err="1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keydown</a:t>
                      </a:r>
                      <a:r>
                        <a:rPr lang="en-MY" sz="7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en-MY" sz="7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, (e) =&gt; {</a:t>
                      </a:r>
                      <a:br>
                        <a:rPr lang="en-MY" sz="7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7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7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en-MY" sz="7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en-MY" sz="70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e.key</a:t>
                      </a:r>
                      <a:r>
                        <a:rPr lang="en-MY" sz="7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=== </a:t>
                      </a:r>
                      <a:r>
                        <a:rPr lang="en-MY" sz="7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"Enter"</a:t>
                      </a:r>
                      <a:r>
                        <a:rPr lang="en-MY" sz="7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) {</a:t>
                      </a:r>
                      <a:br>
                        <a:rPr lang="en-MY" sz="7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7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MY" sz="70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sendWebMessage</a:t>
                      </a:r>
                      <a:r>
                        <a:rPr lang="en-MY" sz="7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();</a:t>
                      </a:r>
                      <a:br>
                        <a:rPr lang="en-MY" sz="7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7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}</a:t>
                      </a:r>
                      <a:br>
                        <a:rPr lang="en-MY" sz="7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7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});</a:t>
                      </a:r>
                      <a:endParaRPr lang="en-MY" sz="1200" dirty="0">
                        <a:effectLst/>
                      </a:endParaRPr>
                    </a:p>
                  </a:txBody>
                  <a:tcPr marL="59531" marR="59531" marT="59531" marB="59531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1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2217559"/>
                  </a:ext>
                </a:extLst>
              </a:tr>
            </a:tbl>
          </a:graphicData>
        </a:graphic>
      </p:graphicFrame>
      <p:sp>
        <p:nvSpPr>
          <p:cNvPr id="19" name="Rectangle 3">
            <a:extLst>
              <a:ext uri="{FF2B5EF4-FFF2-40B4-BE49-F238E27FC236}">
                <a16:creationId xmlns:a16="http://schemas.microsoft.com/office/drawing/2014/main" id="{C5E63D4B-624F-8700-1806-9D19EA57AE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9086" y="1610954"/>
            <a:ext cx="9144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MY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54864" cy="59436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— Firebase Real-Time Listeners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315551" y="578375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· Listen for Changes from Firebase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818387"/>
            <a:ext cx="3715523" cy="4163195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8" name="Shape 6"/>
          <p:cNvSpPr/>
          <p:nvPr/>
        </p:nvSpPr>
        <p:spPr>
          <a:xfrm>
            <a:off x="5315551" y="925847"/>
            <a:ext cx="28346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9" name="Shape 7"/>
          <p:cNvSpPr/>
          <p:nvPr/>
        </p:nvSpPr>
        <p:spPr>
          <a:xfrm>
            <a:off x="5315551" y="925847"/>
            <a:ext cx="45720" cy="91440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0" name="Text 8"/>
          <p:cNvSpPr/>
          <p:nvPr/>
        </p:nvSpPr>
        <p:spPr>
          <a:xfrm>
            <a:off x="5452711" y="1017287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onValue()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52711" y="1309895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Fires every time the Firebase path changes — no polling needed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315551" y="1977407"/>
            <a:ext cx="28346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13" name="Shape 11"/>
          <p:cNvSpPr/>
          <p:nvPr/>
        </p:nvSpPr>
        <p:spPr>
          <a:xfrm>
            <a:off x="5315551" y="1977407"/>
            <a:ext cx="45720" cy="9144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4" name="Text 12"/>
          <p:cNvSpPr/>
          <p:nvPr/>
        </p:nvSpPr>
        <p:spPr>
          <a:xfrm>
            <a:off x="5452711" y="2068847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snap.val()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52711" y="2361455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the current data at that path (null if nothing saved yet)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315551" y="3028967"/>
            <a:ext cx="28346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17" name="Shape 15"/>
          <p:cNvSpPr/>
          <p:nvPr/>
        </p:nvSpPr>
        <p:spPr>
          <a:xfrm>
            <a:off x="5315551" y="3028967"/>
            <a:ext cx="45720" cy="91440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8" name="Text 16"/>
          <p:cNvSpPr/>
          <p:nvPr/>
        </p:nvSpPr>
        <p:spPr>
          <a:xfrm>
            <a:off x="5452711" y="3120407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Anonymous Auth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52711" y="3413015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no login required — Firebase still knows each session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315551" y="4080527"/>
            <a:ext cx="28346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21" name="Shape 19"/>
          <p:cNvSpPr/>
          <p:nvPr/>
        </p:nvSpPr>
        <p:spPr>
          <a:xfrm>
            <a:off x="5315551" y="4080527"/>
            <a:ext cx="45720" cy="9144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2" name="Text 20"/>
          <p:cNvSpPr/>
          <p:nvPr/>
        </p:nvSpPr>
        <p:spPr>
          <a:xfrm>
            <a:off x="5452711" y="4171967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lastEspMsg guard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52711" y="4464575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re-showing a message already displayed</a:t>
            </a:r>
            <a:endParaRPr lang="en-US" sz="1100" dirty="0"/>
          </a:p>
        </p:txBody>
      </p:sp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F5EB5AB8-2C6A-3C65-01E5-82A8CCD99E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137042"/>
              </p:ext>
            </p:extLst>
          </p:nvPr>
        </p:nvGraphicFramePr>
        <p:xfrm>
          <a:off x="365760" y="815713"/>
          <a:ext cx="3715523" cy="4165870"/>
        </p:xfrm>
        <a:graphic>
          <a:graphicData uri="http://schemas.openxmlformats.org/drawingml/2006/table">
            <a:tbl>
              <a:tblPr/>
              <a:tblGrid>
                <a:gridCol w="3715523">
                  <a:extLst>
                    <a:ext uri="{9D8B030D-6E8A-4147-A177-3AD203B41FA5}">
                      <a16:colId xmlns:a16="http://schemas.microsoft.com/office/drawing/2014/main" val="1974573389"/>
                    </a:ext>
                  </a:extLst>
                </a:gridCol>
              </a:tblGrid>
              <a:tr h="4160520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MY" sz="6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/* ============================================</a:t>
                      </a:r>
                      <a:br>
                        <a:rPr lang="en-MY" sz="6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  PART 7: Listen for Changes from Firebase</a:t>
                      </a:r>
                      <a:br>
                        <a:rPr lang="en-MY" sz="6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============================================ */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// LOGIN TO FIREBASE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signInAnonymously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(auth).</a:t>
                      </a:r>
                      <a:r>
                        <a:rPr lang="en-MY" sz="6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catch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(err =&gt; {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60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console.error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(err)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60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statusEl.textContent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en-MY" sz="6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"Auth failed"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});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// AFTER LOGIN - ATTACH REAL-TIME LISTENERS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onAuthStateChanged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(auth, (user) =&gt; {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6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(!user) {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MY" sz="60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statusEl.textContent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en-MY" sz="6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"Connecting..."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MY" sz="6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return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}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60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statusEl.textContent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en-MY" sz="6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"Connected"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6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/* ----- SERVO LISTENER ----- */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60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onValue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(ref(</a:t>
                      </a:r>
                      <a:r>
                        <a:rPr lang="en-MY" sz="60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db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MY" sz="6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"servo/</a:t>
                      </a:r>
                      <a:r>
                        <a:rPr lang="en-MY" sz="600" b="0" i="0" u="none" strike="noStrike" dirty="0" err="1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msgTitle</a:t>
                      </a:r>
                      <a:r>
                        <a:rPr lang="en-MY" sz="6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), (snap) =&gt; {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MY" sz="60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MY" sz="600" b="0" i="0" u="none" strike="noStrike" dirty="0" err="1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val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en-MY" sz="60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snap.</a:t>
                      </a:r>
                      <a:r>
                        <a:rPr lang="en-MY" sz="600" b="0" i="0" u="none" strike="noStrike" dirty="0" err="1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val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();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MY" sz="6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en-MY" sz="600" b="0" i="0" u="none" strike="noStrike" dirty="0" err="1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val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=== </a:t>
                      </a:r>
                      <a:r>
                        <a:rPr lang="en-MY" sz="6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null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) </a:t>
                      </a:r>
                      <a:r>
                        <a:rPr lang="en-MY" sz="6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return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MY" sz="60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angleSlider.value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en-MY" sz="600" b="0" i="0" u="none" strike="noStrike" dirty="0" err="1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val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MY" sz="60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angleValue.textContent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en-MY" sz="600" b="0" i="0" u="none" strike="noStrike" dirty="0" err="1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val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MY" sz="60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servoAngle.textContent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en-MY" sz="600" b="0" i="0" u="none" strike="noStrike" dirty="0" err="1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val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});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6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/* ----- IR SENSOR LISTENER ----- */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60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onValue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(ref(</a:t>
                      </a:r>
                      <a:r>
                        <a:rPr lang="en-MY" sz="60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db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MY" sz="6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"sensor/obstacle"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), (snap) =&gt; {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MY" sz="60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MY" sz="600" b="0" i="0" u="none" strike="noStrike" dirty="0" err="1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val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en-MY" sz="60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snap.</a:t>
                      </a:r>
                      <a:r>
                        <a:rPr lang="en-MY" sz="600" b="0" i="0" u="none" strike="noStrike" dirty="0" err="1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val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();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MY" sz="6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en-MY" sz="600" b="0" i="0" u="none" strike="noStrike" dirty="0" err="1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val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=== </a:t>
                      </a:r>
                      <a:r>
                        <a:rPr lang="en-MY" sz="6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null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) </a:t>
                      </a:r>
                      <a:r>
                        <a:rPr lang="en-MY" sz="6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return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MY" sz="60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irRaw.textContent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en-MY" sz="600" b="0" i="0" u="none" strike="noStrike" dirty="0" err="1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val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MY" sz="60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irDetected.textContent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en-MY" sz="600" b="0" i="0" u="none" strike="noStrike" dirty="0" err="1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val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=== </a:t>
                      </a:r>
                      <a:r>
                        <a:rPr lang="en-MY" sz="600" b="0" i="0" u="none" strike="noStrike" dirty="0">
                          <a:solidFill>
                            <a:srgbClr val="B8D7A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? </a:t>
                      </a:r>
                      <a:r>
                        <a:rPr lang="en-MY" sz="6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"YES"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: </a:t>
                      </a:r>
                      <a:r>
                        <a:rPr lang="en-MY" sz="6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"NO"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});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600" b="0" i="1" u="none" strike="noStrike" dirty="0">
                          <a:solidFill>
                            <a:srgbClr val="57A64A"/>
                          </a:solidFill>
                          <a:effectLst/>
                          <a:latin typeface="Consolas" panose="020B0609020204030204" pitchFamily="49" charset="0"/>
                        </a:rPr>
                        <a:t>/* ----- MESSAGE LISTENER ----- */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</a:t>
                      </a:r>
                      <a:r>
                        <a:rPr lang="en-MY" sz="60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onValue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(ref(</a:t>
                      </a:r>
                      <a:r>
                        <a:rPr lang="en-MY" sz="60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db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MY" sz="6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"serial/message"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), (snap) =&gt; {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MY" sz="60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MY" sz="6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data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en-MY" sz="60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snap.</a:t>
                      </a:r>
                      <a:r>
                        <a:rPr lang="en-MY" sz="600" b="0" i="0" u="none" strike="noStrike" dirty="0" err="1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val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();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MY" sz="6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(!</a:t>
                      </a:r>
                      <a:r>
                        <a:rPr lang="en-MY" sz="6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data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|| !</a:t>
                      </a:r>
                      <a:r>
                        <a:rPr lang="en-MY" sz="600" b="0" i="0" u="none" strike="noStrike" dirty="0" err="1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data</a:t>
                      </a:r>
                      <a:r>
                        <a:rPr lang="en-MY" sz="60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.text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) </a:t>
                      </a:r>
                      <a:r>
                        <a:rPr lang="en-MY" sz="6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return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</a:t>
                      </a:r>
                      <a:r>
                        <a:rPr lang="en-MY" sz="600" b="0" i="0" u="none" strike="noStrike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(</a:t>
                      </a:r>
                      <a:r>
                        <a:rPr lang="en-MY" sz="600" b="0" i="0" u="none" strike="noStrike" dirty="0" err="1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data</a:t>
                      </a:r>
                      <a:r>
                        <a:rPr lang="en-MY" sz="60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.source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=== </a:t>
                      </a:r>
                      <a:r>
                        <a:rPr lang="en-MY" sz="6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"esp32"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&amp;&amp; </a:t>
                      </a:r>
                      <a:r>
                        <a:rPr lang="en-MY" sz="600" b="0" i="0" u="none" strike="noStrike" dirty="0" err="1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data</a:t>
                      </a:r>
                      <a:r>
                        <a:rPr lang="en-MY" sz="60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.text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!== </a:t>
                      </a:r>
                      <a:r>
                        <a:rPr lang="en-MY" sz="60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lastEspMsg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) {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  </a:t>
                      </a:r>
                      <a:r>
                        <a:rPr lang="en-MY" sz="60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lastEspMsg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en-MY" sz="600" b="0" i="0" u="none" strike="noStrike" dirty="0" err="1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data</a:t>
                      </a:r>
                      <a:r>
                        <a:rPr lang="en-MY" sz="60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.text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  </a:t>
                      </a:r>
                      <a:r>
                        <a:rPr lang="en-MY" sz="60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addMessage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MY" sz="600" b="0" i="0" u="none" strike="noStrike" dirty="0" err="1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data</a:t>
                      </a:r>
                      <a:r>
                        <a:rPr lang="en-MY" sz="600" b="0" i="0" u="none" strike="noStrike" dirty="0" err="1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.text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MY" sz="600" b="0" i="0" u="none" strike="noStrike" dirty="0">
                          <a:solidFill>
                            <a:srgbClr val="D69D85"/>
                          </a:solidFill>
                          <a:effectLst/>
                          <a:latin typeface="Consolas" panose="020B0609020204030204" pitchFamily="49" charset="0"/>
                        </a:rPr>
                        <a:t>"ESP32"</a:t>
                      </a: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);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  }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  });</a:t>
                      </a:r>
                      <a:b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MY" sz="600" b="0" i="0" u="none" strike="noStrike" dirty="0">
                          <a:solidFill>
                            <a:srgbClr val="DCDCDC"/>
                          </a:solidFill>
                          <a:effectLst/>
                          <a:latin typeface="Consolas" panose="020B0609020204030204" pitchFamily="49" charset="0"/>
                        </a:rPr>
                        <a:t>});</a:t>
                      </a:r>
                      <a:endParaRPr lang="en-MY" sz="900" dirty="0">
                        <a:effectLst/>
                      </a:endParaRPr>
                    </a:p>
                  </a:txBody>
                  <a:tcPr marL="25535" marR="25535" marT="25535" marB="25535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1E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4326354"/>
                  </a:ext>
                </a:extLst>
              </a:tr>
            </a:tbl>
          </a:graphicData>
        </a:graphic>
      </p:graphicFrame>
      <p:sp>
        <p:nvSpPr>
          <p:cNvPr id="25" name="Rectangle 1">
            <a:extLst>
              <a:ext uri="{FF2B5EF4-FFF2-40B4-BE49-F238E27FC236}">
                <a16:creationId xmlns:a16="http://schemas.microsoft.com/office/drawing/2014/main" id="{769B5153-2911-932C-C7A9-1F34454511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9832" y="1024128"/>
            <a:ext cx="15818728" cy="5830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MY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54864" cy="5943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Realtime Database Structure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database looks like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47541" y="1097280"/>
            <a:ext cx="4251960" cy="3838197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8" name="Shape 6"/>
          <p:cNvSpPr/>
          <p:nvPr/>
        </p:nvSpPr>
        <p:spPr>
          <a:xfrm>
            <a:off x="5074920" y="1481328"/>
            <a:ext cx="37490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9" name="Shape 7"/>
          <p:cNvSpPr/>
          <p:nvPr/>
        </p:nvSpPr>
        <p:spPr>
          <a:xfrm>
            <a:off x="5074920" y="1481328"/>
            <a:ext cx="45720" cy="89611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0" name="Text 8"/>
          <p:cNvSpPr/>
          <p:nvPr/>
        </p:nvSpPr>
        <p:spPr>
          <a:xfrm>
            <a:off x="5212080" y="157276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servo/msgTitle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212080" y="1865376"/>
            <a:ext cx="3520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→ ESP32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Slider value (0–180) written by browser, read by ESP32 to move servo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74920" y="2468880"/>
            <a:ext cx="37490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13" name="Shape 11"/>
          <p:cNvSpPr/>
          <p:nvPr/>
        </p:nvSpPr>
        <p:spPr>
          <a:xfrm>
            <a:off x="5074920" y="2468880"/>
            <a:ext cx="45720" cy="89611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4" name="Text 12"/>
          <p:cNvSpPr/>
          <p:nvPr/>
        </p:nvSpPr>
        <p:spPr>
          <a:xfrm>
            <a:off x="5212080" y="256032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sensor/obstacle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212080" y="2852928"/>
            <a:ext cx="3520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 → Web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Integer: 0 = object detected, 1 = clear (digitalRead behaviour)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74920" y="3456432"/>
            <a:ext cx="37490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21" name="Shape 19"/>
          <p:cNvSpPr/>
          <p:nvPr/>
        </p:nvSpPr>
        <p:spPr>
          <a:xfrm>
            <a:off x="5074920" y="3456432"/>
            <a:ext cx="45720" cy="89611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2" name="Text 20"/>
          <p:cNvSpPr/>
          <p:nvPr/>
        </p:nvSpPr>
        <p:spPr>
          <a:xfrm>
            <a:off x="5212080" y="354787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serial/message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212080" y="3840480"/>
            <a:ext cx="3520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+ source — used for two-way chat between browser and ESP32</a:t>
            </a:r>
            <a:endParaRPr lang="en-US" sz="110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2AC5F331-58CF-A857-D8F6-6F0E2F1C99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541" y="1097280"/>
            <a:ext cx="4251960" cy="383819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JS Syntax Part 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54864" cy="594360"/>
          </a:xfrm>
          <a:prstGeom prst="rect">
            <a:avLst/>
          </a:prstGeom>
          <a:solidFill>
            <a:srgbClr val="22C55E"/>
          </a:solidFill>
        </p:spPr>
        <p:txBody>
          <a:bodyPr/>
          <a:lstStyle/>
          <a:p>
            <a:endParaRPr lang="en-MY"/>
          </a:p>
        </p:txBody>
      </p:sp>
      <p:sp>
        <p:nvSpPr>
          <p:cNvPr id="4" name="Title"/>
          <p:cNvSpPr/>
          <p:nvPr/>
        </p:nvSpPr>
        <p:spPr>
          <a:xfrm>
            <a:off x="228600" y="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JavaScript Syntax — Variables, Functions &amp; Events</a:t>
            </a:r>
          </a:p>
        </p:txBody>
      </p:sp>
      <p:sp>
        <p:nvSpPr>
          <p:cNvPr id="5" name="Subtitle"/>
          <p:cNvSpPr/>
          <p:nvPr/>
        </p:nvSpPr>
        <p:spPr>
          <a:xfrm>
            <a:off x="320040" y="685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</a:rPr>
              <a:t>Key syntax used in app.js — explained line by line</a:t>
            </a:r>
          </a:p>
        </p:txBody>
      </p:sp>
      <p:sp>
        <p:nvSpPr>
          <p:cNvPr id="6" name="Box1Bg"/>
          <p:cNvSpPr/>
          <p:nvPr/>
        </p:nvSpPr>
        <p:spPr>
          <a:xfrm>
            <a:off x="320040" y="1024128"/>
            <a:ext cx="4114800" cy="1920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7" name="Box1Content"/>
          <p:cNvSpPr/>
          <p:nvPr/>
        </p:nvSpPr>
        <p:spPr>
          <a:xfrm>
            <a:off x="457200" y="1060848"/>
            <a:ext cx="3977640" cy="184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97316"/>
                </a:solidFill>
                <a:latin typeface="Calibri" pitchFamily="34" charset="0"/>
              </a:rPr>
              <a:t>const  and  let — Declaring Variables</a:t>
            </a:r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50" dirty="0">
                <a:solidFill>
                  <a:srgbClr val="94D4FF"/>
                </a:solidFill>
                <a:latin typeface="Consolas" pitchFamily="34" charset="0"/>
              </a:rPr>
              <a:t>const angleSlider = document.getElementById(...);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94D4FF"/>
                </a:solidFill>
                <a:latin typeface="Consolas" pitchFamily="34" charset="0"/>
              </a:rPr>
              <a:t>let lastEspMsg = "";</a:t>
            </a:r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</a:rPr>
              <a:t>const — value never reassigned (use by default)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</a:rPr>
              <a:t>let — value can change later (e.g. lastEspMsg)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</a:rPr>
              <a:t>var — old style, avoid in modern JS</a:t>
            </a:r>
          </a:p>
        </p:txBody>
      </p:sp>
      <p:sp>
        <p:nvSpPr>
          <p:cNvPr id="8" name="Box2Bg"/>
          <p:cNvSpPr/>
          <p:nvPr/>
        </p:nvSpPr>
        <p:spPr>
          <a:xfrm>
            <a:off x="320040" y="3035640"/>
            <a:ext cx="4114800" cy="20698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9" name="Box2Content"/>
          <p:cNvSpPr/>
          <p:nvPr/>
        </p:nvSpPr>
        <p:spPr>
          <a:xfrm>
            <a:off x="457200" y="3072360"/>
            <a:ext cx="3977640" cy="1996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97316"/>
                </a:solidFill>
                <a:latin typeface="Calibri" pitchFamily="34" charset="0"/>
              </a:rPr>
              <a:t>Arrow Functions  () =&gt; { }</a:t>
            </a:r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50" dirty="0">
                <a:solidFill>
                  <a:srgbClr val="94D4FF"/>
                </a:solidFill>
                <a:latin typeface="Consolas" pitchFamily="34" charset="0"/>
              </a:rPr>
              <a:t>angleSlider.addEventListener("input", () =&gt; {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94D4FF"/>
                </a:solidFill>
                <a:latin typeface="Consolas" pitchFamily="34" charset="0"/>
              </a:rPr>
              <a:t>  const angle = Number(angleSlider.value);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94D4FF"/>
                </a:solidFill>
                <a:latin typeface="Consolas" pitchFamily="34" charset="0"/>
              </a:rPr>
              <a:t>});</a:t>
            </a:r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</a:rPr>
              <a:t>() =&gt; { }  is shorthand for  function() { }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</a:rPr>
              <a:t>(e) =&gt; { }  receives an event object as parameter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</a:rPr>
              <a:t>Used everywhere callbacks are needed</a:t>
            </a:r>
          </a:p>
        </p:txBody>
      </p:sp>
      <p:sp>
        <p:nvSpPr>
          <p:cNvPr id="10" name="Box3Bg"/>
          <p:cNvSpPr/>
          <p:nvPr/>
        </p:nvSpPr>
        <p:spPr>
          <a:xfrm>
            <a:off x="4663920" y="1024128"/>
            <a:ext cx="4160160" cy="1920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11" name="Box3Content"/>
          <p:cNvSpPr/>
          <p:nvPr/>
        </p:nvSpPr>
        <p:spPr>
          <a:xfrm>
            <a:off x="4801080" y="1060848"/>
            <a:ext cx="4023000" cy="184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97316"/>
                </a:solidFill>
                <a:latin typeface="Calibri" pitchFamily="34" charset="0"/>
              </a:rPr>
              <a:t>addEventListener — Reacting to Events</a:t>
            </a:r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50" dirty="0">
                <a:solidFill>
                  <a:srgbClr val="94D4FF"/>
                </a:solidFill>
                <a:latin typeface="Consolas" pitchFamily="34" charset="0"/>
              </a:rPr>
              <a:t>sendBtn.addEventListener("click", sendWebMessage);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94D4FF"/>
                </a:solidFill>
                <a:latin typeface="Consolas" pitchFamily="34" charset="0"/>
              </a:rPr>
              <a:t>msgInput.addEventListener("keydown", (e) =&gt; {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94D4FF"/>
                </a:solidFill>
                <a:latin typeface="Consolas" pitchFamily="34" charset="0"/>
              </a:rPr>
              <a:t>  if (e.key === "Enter") sendWebMessage();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94D4FF"/>
                </a:solidFill>
                <a:latin typeface="Consolas" pitchFamily="34" charset="0"/>
              </a:rPr>
              <a:t>});</a:t>
            </a:r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</a:rPr>
              <a:t>element.addEventListener(event, callback)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</a:rPr>
              <a:t>Runs callback when event fires on element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</a:rPr>
              <a:t>Common events: click, input, keydown, change</a:t>
            </a:r>
          </a:p>
        </p:txBody>
      </p:sp>
      <p:sp>
        <p:nvSpPr>
          <p:cNvPr id="12" name="Box4Bg"/>
          <p:cNvSpPr/>
          <p:nvPr/>
        </p:nvSpPr>
        <p:spPr>
          <a:xfrm>
            <a:off x="4663920" y="3035640"/>
            <a:ext cx="4160160" cy="20698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13" name="Box4Content"/>
          <p:cNvSpPr/>
          <p:nvPr/>
        </p:nvSpPr>
        <p:spPr>
          <a:xfrm>
            <a:off x="4801080" y="3072360"/>
            <a:ext cx="4023000" cy="1996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97316"/>
                </a:solidFill>
                <a:latin typeface="Calibri" pitchFamily="34" charset="0"/>
              </a:rPr>
              <a:t>Template Literals — Dynamic Strings</a:t>
            </a:r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50" dirty="0">
                <a:solidFill>
                  <a:srgbClr val="94D4FF"/>
                </a:solidFill>
                <a:latin typeface="Consolas" pitchFamily="34" charset="0"/>
              </a:rPr>
              <a:t>// Old way (string concatenation):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94D4FF"/>
                </a:solidFill>
                <a:latin typeface="Consolas" pitchFamily="34" charset="0"/>
              </a:rPr>
              <a:t>"[" + source + "] " + text + "\n"</a:t>
            </a:r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50" dirty="0">
                <a:solidFill>
                  <a:srgbClr val="94D4FF"/>
                </a:solidFill>
                <a:latin typeface="Consolas" pitchFamily="34" charset="0"/>
              </a:rPr>
              <a:t>// New way (template literal with backticks):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94D4FF"/>
                </a:solidFill>
                <a:latin typeface="Consolas" pitchFamily="34" charset="0"/>
              </a:rPr>
              <a:t>`[${source}] ${text}\n`</a:t>
            </a:r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</a:rPr>
              <a:t>Use backtick  `  not a quote  "  or  '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</a:rPr>
              <a:t>${ }  inserts any JS expression inside the string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JS Syntax Part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Bar"/>
          <p:cNvSpPr/>
          <p:nvPr/>
        </p:nvSpPr>
        <p:spPr>
          <a:xfrm>
            <a:off x="0" y="0"/>
            <a:ext cx="54864" cy="594360"/>
          </a:xfrm>
          <a:prstGeom prst="rect">
            <a:avLst/>
          </a:prstGeom>
          <a:solidFill>
            <a:srgbClr val="22C55E"/>
          </a:solidFill>
        </p:spPr>
        <p:txBody>
          <a:bodyPr/>
          <a:lstStyle/>
          <a:p>
            <a:endParaRPr lang="en-MY"/>
          </a:p>
        </p:txBody>
      </p:sp>
      <p:sp>
        <p:nvSpPr>
          <p:cNvPr id="4" name="Title"/>
          <p:cNvSpPr/>
          <p:nvPr/>
        </p:nvSpPr>
        <p:spPr>
          <a:xfrm>
            <a:off x="228600" y="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JavaScript Syntax — Conditions, Callbacks &amp; Comparisons</a:t>
            </a:r>
          </a:p>
        </p:txBody>
      </p:sp>
      <p:sp>
        <p:nvSpPr>
          <p:cNvPr id="5" name="Subtitle"/>
          <p:cNvSpPr/>
          <p:nvPr/>
        </p:nvSpPr>
        <p:spPr>
          <a:xfrm>
            <a:off x="320040" y="685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</a:rPr>
              <a:t>More patterns from app.js — explained line by line</a:t>
            </a:r>
          </a:p>
        </p:txBody>
      </p:sp>
      <p:sp>
        <p:nvSpPr>
          <p:cNvPr id="6" name="Box1Bg"/>
          <p:cNvSpPr/>
          <p:nvPr/>
        </p:nvSpPr>
        <p:spPr>
          <a:xfrm>
            <a:off x="320040" y="1024128"/>
            <a:ext cx="4114800" cy="1920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7" name="Box1Content"/>
          <p:cNvSpPr/>
          <p:nvPr/>
        </p:nvSpPr>
        <p:spPr>
          <a:xfrm>
            <a:off x="457200" y="1060848"/>
            <a:ext cx="3977640" cy="184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97316"/>
                </a:solidFill>
                <a:latin typeface="Calibri" pitchFamily="34" charset="0"/>
              </a:rPr>
              <a:t>if  and Guard Clauses</a:t>
            </a:r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50" dirty="0">
                <a:solidFill>
                  <a:srgbClr val="94D4FF"/>
                </a:solidFill>
                <a:latin typeface="Consolas" pitchFamily="34" charset="0"/>
              </a:rPr>
              <a:t>if (val === null) return;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94D4FF"/>
                </a:solidFill>
                <a:latin typeface="Consolas" pitchFamily="34" charset="0"/>
              </a:rPr>
              <a:t>if (!text) return;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94D4FF"/>
                </a:solidFill>
                <a:latin typeface="Consolas" pitchFamily="34" charset="0"/>
              </a:rPr>
              <a:t>if (!data || !data.text) return;</a:t>
            </a:r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</a:rPr>
              <a:t>Guard clause: exit early if data is not ready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</a:rPr>
              <a:t>!x  means  "x is falsy" (null, 0, "", undefined)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</a:rPr>
              <a:t>||  means  "or" — either condition triggers exit</a:t>
            </a:r>
          </a:p>
        </p:txBody>
      </p:sp>
      <p:sp>
        <p:nvSpPr>
          <p:cNvPr id="8" name="Box2Bg"/>
          <p:cNvSpPr/>
          <p:nvPr/>
        </p:nvSpPr>
        <p:spPr>
          <a:xfrm>
            <a:off x="320040" y="3035640"/>
            <a:ext cx="4114800" cy="20698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9" name="Box2Content"/>
          <p:cNvSpPr/>
          <p:nvPr/>
        </p:nvSpPr>
        <p:spPr>
          <a:xfrm>
            <a:off x="457200" y="3072360"/>
            <a:ext cx="3977640" cy="1996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97316"/>
                </a:solidFill>
                <a:latin typeface="Calibri" pitchFamily="34" charset="0"/>
              </a:rPr>
              <a:t>Ternary Operator — Inline if/else</a:t>
            </a:r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50" dirty="0">
                <a:solidFill>
                  <a:srgbClr val="94D4FF"/>
                </a:solidFill>
                <a:latin typeface="Consolas" pitchFamily="34" charset="0"/>
              </a:rPr>
              <a:t>irDetected.textContent = val === 0 ? "YES" : "NO";</a:t>
            </a:r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50" dirty="0">
                <a:solidFill>
                  <a:srgbClr val="94D4FF"/>
                </a:solidFill>
                <a:latin typeface="Consolas" pitchFamily="34" charset="0"/>
              </a:rPr>
              <a:t>condition ? valueIfTrue : valueIfFalse</a:t>
            </a:r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</a:rPr>
              <a:t>IR sensor: 0 = object detected, 1 = clear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</a:rPr>
              <a:t>Shorter than writing a full if/else block</a:t>
            </a:r>
          </a:p>
        </p:txBody>
      </p:sp>
      <p:sp>
        <p:nvSpPr>
          <p:cNvPr id="10" name="Box3Bg"/>
          <p:cNvSpPr/>
          <p:nvPr/>
        </p:nvSpPr>
        <p:spPr>
          <a:xfrm>
            <a:off x="4663920" y="1024128"/>
            <a:ext cx="4160160" cy="1920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11" name="Box3Content"/>
          <p:cNvSpPr/>
          <p:nvPr/>
        </p:nvSpPr>
        <p:spPr>
          <a:xfrm>
            <a:off x="4801080" y="1060848"/>
            <a:ext cx="4023000" cy="184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97316"/>
                </a:solidFill>
                <a:latin typeface="Calibri" pitchFamily="34" charset="0"/>
              </a:rPr>
              <a:t>onValue Callback — snap.val()</a:t>
            </a:r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50" dirty="0">
                <a:solidFill>
                  <a:srgbClr val="94D4FF"/>
                </a:solidFill>
                <a:latin typeface="Consolas" pitchFamily="34" charset="0"/>
              </a:rPr>
              <a:t>onValue(ref(db, "servo/msgTitle"), (snap) =&gt; {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94D4FF"/>
                </a:solidFill>
                <a:latin typeface="Consolas" pitchFamily="34" charset="0"/>
              </a:rPr>
              <a:t>  const val = snap.val();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94D4FF"/>
                </a:solidFill>
                <a:latin typeface="Consolas" pitchFamily="34" charset="0"/>
              </a:rPr>
              <a:t>  if (val === null) return;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94D4FF"/>
                </a:solidFill>
                <a:latin typeface="Consolas" pitchFamily="34" charset="0"/>
              </a:rPr>
              <a:t>  angleSlider.value = val;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94D4FF"/>
                </a:solidFill>
                <a:latin typeface="Consolas" pitchFamily="34" charset="0"/>
              </a:rPr>
              <a:t>});</a:t>
            </a:r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</a:rPr>
              <a:t>snap  is a DataSnapshot object from Firebase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</a:rPr>
              <a:t>snap.val()  extracts the raw JS value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</a:rPr>
              <a:t>Returns null if the path has no data yet</a:t>
            </a:r>
          </a:p>
        </p:txBody>
      </p:sp>
      <p:sp>
        <p:nvSpPr>
          <p:cNvPr id="12" name="Box4Bg"/>
          <p:cNvSpPr/>
          <p:nvPr/>
        </p:nvSpPr>
        <p:spPr>
          <a:xfrm>
            <a:off x="4663920" y="3035640"/>
            <a:ext cx="4160160" cy="20698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13" name="Box4Content"/>
          <p:cNvSpPr/>
          <p:nvPr/>
        </p:nvSpPr>
        <p:spPr>
          <a:xfrm>
            <a:off x="4801080" y="3072360"/>
            <a:ext cx="4023000" cy="1996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97316"/>
                </a:solidFill>
                <a:latin typeface="Calibri" pitchFamily="34" charset="0"/>
              </a:rPr>
              <a:t>===  Strict Equality</a:t>
            </a:r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50" dirty="0">
                <a:solidFill>
                  <a:srgbClr val="94D4FF"/>
                </a:solidFill>
                <a:latin typeface="Consolas" pitchFamily="34" charset="0"/>
              </a:rPr>
              <a:t>if (val === null) return;       // exact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94D4FF"/>
                </a:solidFill>
                <a:latin typeface="Consolas" pitchFamily="34" charset="0"/>
              </a:rPr>
              <a:t>if (data.source === "esp32") ...  // exact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94D4FF"/>
                </a:solidFill>
                <a:latin typeface="Consolas" pitchFamily="34" charset="0"/>
              </a:rPr>
              <a:t>if (val === 0) ...              // exact</a:t>
            </a:r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</a:rPr>
              <a:t>===  checks value AND type (always use this)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</a:rPr>
              <a:t>==  only checks value — can cause surprises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</a:rPr>
              <a:t>!==  is "not equal" (strict)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828800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18288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4" name="Text 2"/>
          <p:cNvSpPr/>
          <p:nvPr/>
        </p:nvSpPr>
        <p:spPr>
          <a:xfrm>
            <a:off x="27432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Summary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274320" y="777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now have a fully working real-time IoT dashboard. Here's what each file does: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74320" y="12070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files · 3 technologies · 1 live dashboard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2084832"/>
            <a:ext cx="2834640" cy="2743200"/>
          </a:xfrm>
          <a:prstGeom prst="rect">
            <a:avLst/>
          </a:prstGeom>
          <a:solidFill>
            <a:srgbClr val="111827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8" name="Shape 6"/>
          <p:cNvSpPr/>
          <p:nvPr/>
        </p:nvSpPr>
        <p:spPr>
          <a:xfrm>
            <a:off x="274320" y="2084832"/>
            <a:ext cx="2834640" cy="5029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9" name="Text 7"/>
          <p:cNvSpPr/>
          <p:nvPr/>
        </p:nvSpPr>
        <p:spPr>
          <a:xfrm>
            <a:off x="384048" y="211226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index.html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84048" y="23774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BBC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— Structure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84048" y="2743200"/>
            <a:ext cx="2615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Defines the 3 cards: Servo, IR Sensor, Messages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84048" y="3410712"/>
            <a:ext cx="2615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id attributes so JS can find each element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84048" y="4078224"/>
            <a:ext cx="2615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styles.css and app.js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46120" y="2084832"/>
            <a:ext cx="2834640" cy="2743200"/>
          </a:xfrm>
          <a:prstGeom prst="rect">
            <a:avLst/>
          </a:prstGeom>
          <a:solidFill>
            <a:srgbClr val="111827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5" name="Shape 13"/>
          <p:cNvSpPr/>
          <p:nvPr/>
        </p:nvSpPr>
        <p:spPr>
          <a:xfrm>
            <a:off x="3246120" y="2084832"/>
            <a:ext cx="2834640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6" name="Text 14"/>
          <p:cNvSpPr/>
          <p:nvPr/>
        </p:nvSpPr>
        <p:spPr>
          <a:xfrm>
            <a:off x="3355848" y="211226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styles.css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355848" y="23774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BBC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— Styling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355848" y="2743200"/>
            <a:ext cx="2615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Centers dashboard at 700 px max-width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355848" y="3410712"/>
            <a:ext cx="2615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Styles cards with border-radius + shadow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355848" y="4078224"/>
            <a:ext cx="2615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flexbox for the message input row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17920" y="2084832"/>
            <a:ext cx="2834640" cy="2743200"/>
          </a:xfrm>
          <a:prstGeom prst="rect">
            <a:avLst/>
          </a:prstGeom>
          <a:solidFill>
            <a:srgbClr val="111827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2" name="Shape 20"/>
          <p:cNvSpPr/>
          <p:nvPr/>
        </p:nvSpPr>
        <p:spPr>
          <a:xfrm>
            <a:off x="6217920" y="2084832"/>
            <a:ext cx="2834640" cy="5029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3" name="Text 21"/>
          <p:cNvSpPr/>
          <p:nvPr/>
        </p:nvSpPr>
        <p:spPr>
          <a:xfrm>
            <a:off x="6327648" y="211226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app.js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327648" y="23774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BBC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— Logic + Firebase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327648" y="2743200"/>
            <a:ext cx="2615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Imports Firebase SDK (app, auth, database)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327648" y="3410712"/>
            <a:ext cx="2615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slider value → servo/msgTitle on every move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327648" y="4078224"/>
            <a:ext cx="2615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Listens to sensor/obstacle and serial/message with onValue()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" name="Shape 1"/>
          <p:cNvSpPr/>
          <p:nvPr/>
        </p:nvSpPr>
        <p:spPr>
          <a:xfrm>
            <a:off x="0" y="42976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4" name="Shape 2"/>
          <p:cNvSpPr/>
          <p:nvPr/>
        </p:nvSpPr>
        <p:spPr>
          <a:xfrm>
            <a:off x="0" y="85953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5" name="Shape 3"/>
          <p:cNvSpPr/>
          <p:nvPr/>
        </p:nvSpPr>
        <p:spPr>
          <a:xfrm>
            <a:off x="0" y="128930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6" name="Shape 4"/>
          <p:cNvSpPr/>
          <p:nvPr/>
        </p:nvSpPr>
        <p:spPr>
          <a:xfrm>
            <a:off x="0" y="171907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7" name="Shape 5"/>
          <p:cNvSpPr/>
          <p:nvPr/>
        </p:nvSpPr>
        <p:spPr>
          <a:xfrm>
            <a:off x="0" y="214884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8" name="Shape 6"/>
          <p:cNvSpPr/>
          <p:nvPr/>
        </p:nvSpPr>
        <p:spPr>
          <a:xfrm>
            <a:off x="0" y="257860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9" name="Shape 7"/>
          <p:cNvSpPr/>
          <p:nvPr/>
        </p:nvSpPr>
        <p:spPr>
          <a:xfrm>
            <a:off x="0" y="300837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0" name="Shape 8"/>
          <p:cNvSpPr/>
          <p:nvPr/>
        </p:nvSpPr>
        <p:spPr>
          <a:xfrm>
            <a:off x="0" y="343814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1" name="Shape 9"/>
          <p:cNvSpPr/>
          <p:nvPr/>
        </p:nvSpPr>
        <p:spPr>
          <a:xfrm>
            <a:off x="0" y="386791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2" name="Shape 10"/>
          <p:cNvSpPr/>
          <p:nvPr/>
        </p:nvSpPr>
        <p:spPr>
          <a:xfrm>
            <a:off x="0" y="429768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3" name="Shape 11"/>
          <p:cNvSpPr/>
          <p:nvPr/>
        </p:nvSpPr>
        <p:spPr>
          <a:xfrm>
            <a:off x="0" y="472744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4" name="Shape 12"/>
          <p:cNvSpPr/>
          <p:nvPr/>
        </p:nvSpPr>
        <p:spPr>
          <a:xfrm>
            <a:off x="457200" y="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5" name="Shape 13"/>
          <p:cNvSpPr/>
          <p:nvPr/>
        </p:nvSpPr>
        <p:spPr>
          <a:xfrm>
            <a:off x="457200" y="42976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6" name="Shape 14"/>
          <p:cNvSpPr/>
          <p:nvPr/>
        </p:nvSpPr>
        <p:spPr>
          <a:xfrm>
            <a:off x="457200" y="85953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7" name="Shape 15"/>
          <p:cNvSpPr/>
          <p:nvPr/>
        </p:nvSpPr>
        <p:spPr>
          <a:xfrm>
            <a:off x="457200" y="128930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8" name="Shape 16"/>
          <p:cNvSpPr/>
          <p:nvPr/>
        </p:nvSpPr>
        <p:spPr>
          <a:xfrm>
            <a:off x="457200" y="171907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9" name="Shape 17"/>
          <p:cNvSpPr/>
          <p:nvPr/>
        </p:nvSpPr>
        <p:spPr>
          <a:xfrm>
            <a:off x="457200" y="214884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0" name="Shape 18"/>
          <p:cNvSpPr/>
          <p:nvPr/>
        </p:nvSpPr>
        <p:spPr>
          <a:xfrm>
            <a:off x="457200" y="257860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1" name="Shape 19"/>
          <p:cNvSpPr/>
          <p:nvPr/>
        </p:nvSpPr>
        <p:spPr>
          <a:xfrm>
            <a:off x="457200" y="300837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2" name="Shape 20"/>
          <p:cNvSpPr/>
          <p:nvPr/>
        </p:nvSpPr>
        <p:spPr>
          <a:xfrm>
            <a:off x="457200" y="343814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3" name="Shape 21"/>
          <p:cNvSpPr/>
          <p:nvPr/>
        </p:nvSpPr>
        <p:spPr>
          <a:xfrm>
            <a:off x="457200" y="386791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6" name="Shape 24"/>
          <p:cNvSpPr/>
          <p:nvPr/>
        </p:nvSpPr>
        <p:spPr>
          <a:xfrm>
            <a:off x="914400" y="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7" name="Shape 25"/>
          <p:cNvSpPr/>
          <p:nvPr/>
        </p:nvSpPr>
        <p:spPr>
          <a:xfrm>
            <a:off x="914400" y="42976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8" name="Shape 26"/>
          <p:cNvSpPr/>
          <p:nvPr/>
        </p:nvSpPr>
        <p:spPr>
          <a:xfrm>
            <a:off x="914400" y="85953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9" name="Shape 27"/>
          <p:cNvSpPr/>
          <p:nvPr/>
        </p:nvSpPr>
        <p:spPr>
          <a:xfrm>
            <a:off x="914400" y="128930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0" name="Shape 28"/>
          <p:cNvSpPr/>
          <p:nvPr/>
        </p:nvSpPr>
        <p:spPr>
          <a:xfrm>
            <a:off x="914400" y="171907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1" name="Shape 29"/>
          <p:cNvSpPr/>
          <p:nvPr/>
        </p:nvSpPr>
        <p:spPr>
          <a:xfrm>
            <a:off x="914400" y="214884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2" name="Shape 30"/>
          <p:cNvSpPr/>
          <p:nvPr/>
        </p:nvSpPr>
        <p:spPr>
          <a:xfrm>
            <a:off x="914400" y="257860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3" name="Shape 31"/>
          <p:cNvSpPr/>
          <p:nvPr/>
        </p:nvSpPr>
        <p:spPr>
          <a:xfrm>
            <a:off x="914400" y="300837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4" name="Shape 32"/>
          <p:cNvSpPr/>
          <p:nvPr/>
        </p:nvSpPr>
        <p:spPr>
          <a:xfrm>
            <a:off x="914400" y="343814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5" name="Shape 33"/>
          <p:cNvSpPr/>
          <p:nvPr/>
        </p:nvSpPr>
        <p:spPr>
          <a:xfrm>
            <a:off x="914400" y="386791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8" name="Shape 36"/>
          <p:cNvSpPr/>
          <p:nvPr/>
        </p:nvSpPr>
        <p:spPr>
          <a:xfrm>
            <a:off x="1371600" y="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39" name="Shape 37"/>
          <p:cNvSpPr/>
          <p:nvPr/>
        </p:nvSpPr>
        <p:spPr>
          <a:xfrm>
            <a:off x="1371600" y="42976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40" name="Shape 38"/>
          <p:cNvSpPr/>
          <p:nvPr/>
        </p:nvSpPr>
        <p:spPr>
          <a:xfrm>
            <a:off x="1371600" y="85953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41" name="Shape 39"/>
          <p:cNvSpPr/>
          <p:nvPr/>
        </p:nvSpPr>
        <p:spPr>
          <a:xfrm>
            <a:off x="1371600" y="128930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42" name="Shape 40"/>
          <p:cNvSpPr/>
          <p:nvPr/>
        </p:nvSpPr>
        <p:spPr>
          <a:xfrm>
            <a:off x="1371600" y="171907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43" name="Shape 41"/>
          <p:cNvSpPr/>
          <p:nvPr/>
        </p:nvSpPr>
        <p:spPr>
          <a:xfrm>
            <a:off x="1371600" y="214884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44" name="Shape 42"/>
          <p:cNvSpPr/>
          <p:nvPr/>
        </p:nvSpPr>
        <p:spPr>
          <a:xfrm>
            <a:off x="1371600" y="257860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45" name="Shape 43"/>
          <p:cNvSpPr/>
          <p:nvPr/>
        </p:nvSpPr>
        <p:spPr>
          <a:xfrm>
            <a:off x="1371600" y="300837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46" name="Shape 44"/>
          <p:cNvSpPr/>
          <p:nvPr/>
        </p:nvSpPr>
        <p:spPr>
          <a:xfrm>
            <a:off x="1371600" y="343814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47" name="Shape 45"/>
          <p:cNvSpPr/>
          <p:nvPr/>
        </p:nvSpPr>
        <p:spPr>
          <a:xfrm>
            <a:off x="1371600" y="386791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50" name="Shape 48"/>
          <p:cNvSpPr/>
          <p:nvPr/>
        </p:nvSpPr>
        <p:spPr>
          <a:xfrm>
            <a:off x="1828800" y="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51" name="Shape 49"/>
          <p:cNvSpPr/>
          <p:nvPr/>
        </p:nvSpPr>
        <p:spPr>
          <a:xfrm>
            <a:off x="1828800" y="42976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52" name="Shape 50"/>
          <p:cNvSpPr/>
          <p:nvPr/>
        </p:nvSpPr>
        <p:spPr>
          <a:xfrm>
            <a:off x="1828800" y="85953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53" name="Shape 51"/>
          <p:cNvSpPr/>
          <p:nvPr/>
        </p:nvSpPr>
        <p:spPr>
          <a:xfrm>
            <a:off x="1828800" y="128930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54" name="Shape 52"/>
          <p:cNvSpPr/>
          <p:nvPr/>
        </p:nvSpPr>
        <p:spPr>
          <a:xfrm>
            <a:off x="1828800" y="171907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55" name="Shape 53"/>
          <p:cNvSpPr/>
          <p:nvPr/>
        </p:nvSpPr>
        <p:spPr>
          <a:xfrm>
            <a:off x="1828800" y="214884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56" name="Shape 54"/>
          <p:cNvSpPr/>
          <p:nvPr/>
        </p:nvSpPr>
        <p:spPr>
          <a:xfrm>
            <a:off x="1828800" y="257860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57" name="Shape 55"/>
          <p:cNvSpPr/>
          <p:nvPr/>
        </p:nvSpPr>
        <p:spPr>
          <a:xfrm>
            <a:off x="1828800" y="300837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58" name="Shape 56"/>
          <p:cNvSpPr/>
          <p:nvPr/>
        </p:nvSpPr>
        <p:spPr>
          <a:xfrm>
            <a:off x="1828800" y="343814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59" name="Shape 57"/>
          <p:cNvSpPr/>
          <p:nvPr/>
        </p:nvSpPr>
        <p:spPr>
          <a:xfrm>
            <a:off x="1828800" y="386791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62" name="Shape 60"/>
          <p:cNvSpPr/>
          <p:nvPr/>
        </p:nvSpPr>
        <p:spPr>
          <a:xfrm>
            <a:off x="2286000" y="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63" name="Shape 61"/>
          <p:cNvSpPr/>
          <p:nvPr/>
        </p:nvSpPr>
        <p:spPr>
          <a:xfrm>
            <a:off x="2286000" y="42976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64" name="Shape 62"/>
          <p:cNvSpPr/>
          <p:nvPr/>
        </p:nvSpPr>
        <p:spPr>
          <a:xfrm>
            <a:off x="2286000" y="85953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65" name="Shape 63"/>
          <p:cNvSpPr/>
          <p:nvPr/>
        </p:nvSpPr>
        <p:spPr>
          <a:xfrm>
            <a:off x="2286000" y="128930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66" name="Shape 64"/>
          <p:cNvSpPr/>
          <p:nvPr/>
        </p:nvSpPr>
        <p:spPr>
          <a:xfrm>
            <a:off x="2286000" y="171907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67" name="Shape 65"/>
          <p:cNvSpPr/>
          <p:nvPr/>
        </p:nvSpPr>
        <p:spPr>
          <a:xfrm>
            <a:off x="2286000" y="214884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68" name="Shape 66"/>
          <p:cNvSpPr/>
          <p:nvPr/>
        </p:nvSpPr>
        <p:spPr>
          <a:xfrm>
            <a:off x="2286000" y="257860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69" name="Shape 67"/>
          <p:cNvSpPr/>
          <p:nvPr/>
        </p:nvSpPr>
        <p:spPr>
          <a:xfrm>
            <a:off x="2286000" y="300837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70" name="Shape 68"/>
          <p:cNvSpPr/>
          <p:nvPr/>
        </p:nvSpPr>
        <p:spPr>
          <a:xfrm>
            <a:off x="2286000" y="343814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71" name="Shape 69"/>
          <p:cNvSpPr/>
          <p:nvPr/>
        </p:nvSpPr>
        <p:spPr>
          <a:xfrm>
            <a:off x="2286000" y="386791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74" name="Shape 72"/>
          <p:cNvSpPr/>
          <p:nvPr/>
        </p:nvSpPr>
        <p:spPr>
          <a:xfrm>
            <a:off x="2743200" y="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75" name="Shape 73"/>
          <p:cNvSpPr/>
          <p:nvPr/>
        </p:nvSpPr>
        <p:spPr>
          <a:xfrm>
            <a:off x="2743200" y="42976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76" name="Shape 74"/>
          <p:cNvSpPr/>
          <p:nvPr/>
        </p:nvSpPr>
        <p:spPr>
          <a:xfrm>
            <a:off x="2743200" y="85953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77" name="Shape 75"/>
          <p:cNvSpPr/>
          <p:nvPr/>
        </p:nvSpPr>
        <p:spPr>
          <a:xfrm>
            <a:off x="2743200" y="128930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78" name="Shape 76"/>
          <p:cNvSpPr/>
          <p:nvPr/>
        </p:nvSpPr>
        <p:spPr>
          <a:xfrm>
            <a:off x="2743200" y="171907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79" name="Shape 77"/>
          <p:cNvSpPr/>
          <p:nvPr/>
        </p:nvSpPr>
        <p:spPr>
          <a:xfrm>
            <a:off x="2743200" y="214884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80" name="Shape 78"/>
          <p:cNvSpPr/>
          <p:nvPr/>
        </p:nvSpPr>
        <p:spPr>
          <a:xfrm>
            <a:off x="2743200" y="257860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81" name="Shape 79"/>
          <p:cNvSpPr/>
          <p:nvPr/>
        </p:nvSpPr>
        <p:spPr>
          <a:xfrm>
            <a:off x="2743200" y="300837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82" name="Shape 80"/>
          <p:cNvSpPr/>
          <p:nvPr/>
        </p:nvSpPr>
        <p:spPr>
          <a:xfrm>
            <a:off x="2743200" y="343814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83" name="Shape 81"/>
          <p:cNvSpPr/>
          <p:nvPr/>
        </p:nvSpPr>
        <p:spPr>
          <a:xfrm>
            <a:off x="2743200" y="386791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86" name="Shape 84"/>
          <p:cNvSpPr/>
          <p:nvPr/>
        </p:nvSpPr>
        <p:spPr>
          <a:xfrm>
            <a:off x="3200400" y="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87" name="Shape 85"/>
          <p:cNvSpPr/>
          <p:nvPr/>
        </p:nvSpPr>
        <p:spPr>
          <a:xfrm>
            <a:off x="3200400" y="42976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88" name="Shape 86"/>
          <p:cNvSpPr/>
          <p:nvPr/>
        </p:nvSpPr>
        <p:spPr>
          <a:xfrm>
            <a:off x="3200400" y="85953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89" name="Shape 87"/>
          <p:cNvSpPr/>
          <p:nvPr/>
        </p:nvSpPr>
        <p:spPr>
          <a:xfrm>
            <a:off x="3200400" y="128930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90" name="Shape 88"/>
          <p:cNvSpPr/>
          <p:nvPr/>
        </p:nvSpPr>
        <p:spPr>
          <a:xfrm>
            <a:off x="3200400" y="171907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91" name="Shape 89"/>
          <p:cNvSpPr/>
          <p:nvPr/>
        </p:nvSpPr>
        <p:spPr>
          <a:xfrm>
            <a:off x="3200400" y="214884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92" name="Shape 90"/>
          <p:cNvSpPr/>
          <p:nvPr/>
        </p:nvSpPr>
        <p:spPr>
          <a:xfrm>
            <a:off x="3200400" y="257860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93" name="Shape 91"/>
          <p:cNvSpPr/>
          <p:nvPr/>
        </p:nvSpPr>
        <p:spPr>
          <a:xfrm>
            <a:off x="3200400" y="300837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94" name="Shape 92"/>
          <p:cNvSpPr/>
          <p:nvPr/>
        </p:nvSpPr>
        <p:spPr>
          <a:xfrm>
            <a:off x="3200400" y="343814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95" name="Shape 93"/>
          <p:cNvSpPr/>
          <p:nvPr/>
        </p:nvSpPr>
        <p:spPr>
          <a:xfrm>
            <a:off x="3200400" y="386791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98" name="Shape 96"/>
          <p:cNvSpPr/>
          <p:nvPr/>
        </p:nvSpPr>
        <p:spPr>
          <a:xfrm>
            <a:off x="3657600" y="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99" name="Shape 97"/>
          <p:cNvSpPr/>
          <p:nvPr/>
        </p:nvSpPr>
        <p:spPr>
          <a:xfrm>
            <a:off x="3657600" y="42976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00" name="Shape 98"/>
          <p:cNvSpPr/>
          <p:nvPr/>
        </p:nvSpPr>
        <p:spPr>
          <a:xfrm>
            <a:off x="3657600" y="85953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01" name="Shape 99"/>
          <p:cNvSpPr/>
          <p:nvPr/>
        </p:nvSpPr>
        <p:spPr>
          <a:xfrm>
            <a:off x="3657600" y="128930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02" name="Shape 100"/>
          <p:cNvSpPr/>
          <p:nvPr/>
        </p:nvSpPr>
        <p:spPr>
          <a:xfrm>
            <a:off x="3657600" y="171907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03" name="Shape 101"/>
          <p:cNvSpPr/>
          <p:nvPr/>
        </p:nvSpPr>
        <p:spPr>
          <a:xfrm>
            <a:off x="3657600" y="214884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04" name="Shape 102"/>
          <p:cNvSpPr/>
          <p:nvPr/>
        </p:nvSpPr>
        <p:spPr>
          <a:xfrm>
            <a:off x="3657600" y="257860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05" name="Shape 103"/>
          <p:cNvSpPr/>
          <p:nvPr/>
        </p:nvSpPr>
        <p:spPr>
          <a:xfrm>
            <a:off x="3657600" y="300837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06" name="Shape 104"/>
          <p:cNvSpPr/>
          <p:nvPr/>
        </p:nvSpPr>
        <p:spPr>
          <a:xfrm>
            <a:off x="3657600" y="343814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07" name="Shape 105"/>
          <p:cNvSpPr/>
          <p:nvPr/>
        </p:nvSpPr>
        <p:spPr>
          <a:xfrm>
            <a:off x="3657600" y="386791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10" name="Shape 108"/>
          <p:cNvSpPr/>
          <p:nvPr/>
        </p:nvSpPr>
        <p:spPr>
          <a:xfrm>
            <a:off x="4114800" y="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11" name="Shape 109"/>
          <p:cNvSpPr/>
          <p:nvPr/>
        </p:nvSpPr>
        <p:spPr>
          <a:xfrm>
            <a:off x="4114800" y="42976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12" name="Shape 110"/>
          <p:cNvSpPr/>
          <p:nvPr/>
        </p:nvSpPr>
        <p:spPr>
          <a:xfrm>
            <a:off x="4114800" y="85953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13" name="Shape 111"/>
          <p:cNvSpPr/>
          <p:nvPr/>
        </p:nvSpPr>
        <p:spPr>
          <a:xfrm>
            <a:off x="4114800" y="128930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14" name="Shape 112"/>
          <p:cNvSpPr/>
          <p:nvPr/>
        </p:nvSpPr>
        <p:spPr>
          <a:xfrm>
            <a:off x="4114800" y="171907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15" name="Shape 113"/>
          <p:cNvSpPr/>
          <p:nvPr/>
        </p:nvSpPr>
        <p:spPr>
          <a:xfrm>
            <a:off x="4114800" y="214884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16" name="Shape 114"/>
          <p:cNvSpPr/>
          <p:nvPr/>
        </p:nvSpPr>
        <p:spPr>
          <a:xfrm>
            <a:off x="4114800" y="257860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17" name="Shape 115"/>
          <p:cNvSpPr/>
          <p:nvPr/>
        </p:nvSpPr>
        <p:spPr>
          <a:xfrm>
            <a:off x="4114800" y="300837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18" name="Shape 116"/>
          <p:cNvSpPr/>
          <p:nvPr/>
        </p:nvSpPr>
        <p:spPr>
          <a:xfrm>
            <a:off x="4114800" y="343814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19" name="Shape 117"/>
          <p:cNvSpPr/>
          <p:nvPr/>
        </p:nvSpPr>
        <p:spPr>
          <a:xfrm>
            <a:off x="4114800" y="386791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22" name="Shape 120"/>
          <p:cNvSpPr/>
          <p:nvPr/>
        </p:nvSpPr>
        <p:spPr>
          <a:xfrm>
            <a:off x="4572000" y="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23" name="Shape 121"/>
          <p:cNvSpPr/>
          <p:nvPr/>
        </p:nvSpPr>
        <p:spPr>
          <a:xfrm>
            <a:off x="4572000" y="42976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24" name="Shape 122"/>
          <p:cNvSpPr/>
          <p:nvPr/>
        </p:nvSpPr>
        <p:spPr>
          <a:xfrm>
            <a:off x="4572000" y="85953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25" name="Shape 123"/>
          <p:cNvSpPr/>
          <p:nvPr/>
        </p:nvSpPr>
        <p:spPr>
          <a:xfrm>
            <a:off x="4572000" y="128930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26" name="Shape 124"/>
          <p:cNvSpPr/>
          <p:nvPr/>
        </p:nvSpPr>
        <p:spPr>
          <a:xfrm>
            <a:off x="4572000" y="171907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27" name="Shape 125"/>
          <p:cNvSpPr/>
          <p:nvPr/>
        </p:nvSpPr>
        <p:spPr>
          <a:xfrm>
            <a:off x="4572000" y="214884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28" name="Shape 126"/>
          <p:cNvSpPr/>
          <p:nvPr/>
        </p:nvSpPr>
        <p:spPr>
          <a:xfrm>
            <a:off x="4572000" y="257860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29" name="Shape 127"/>
          <p:cNvSpPr/>
          <p:nvPr/>
        </p:nvSpPr>
        <p:spPr>
          <a:xfrm>
            <a:off x="4572000" y="300837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30" name="Shape 128"/>
          <p:cNvSpPr/>
          <p:nvPr/>
        </p:nvSpPr>
        <p:spPr>
          <a:xfrm>
            <a:off x="4572000" y="343814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31" name="Shape 129"/>
          <p:cNvSpPr/>
          <p:nvPr/>
        </p:nvSpPr>
        <p:spPr>
          <a:xfrm>
            <a:off x="4572000" y="386791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34" name="Shape 132"/>
          <p:cNvSpPr/>
          <p:nvPr/>
        </p:nvSpPr>
        <p:spPr>
          <a:xfrm>
            <a:off x="5029200" y="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35" name="Shape 133"/>
          <p:cNvSpPr/>
          <p:nvPr/>
        </p:nvSpPr>
        <p:spPr>
          <a:xfrm>
            <a:off x="5029200" y="42976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36" name="Shape 134"/>
          <p:cNvSpPr/>
          <p:nvPr/>
        </p:nvSpPr>
        <p:spPr>
          <a:xfrm>
            <a:off x="5029200" y="85953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37" name="Shape 135"/>
          <p:cNvSpPr/>
          <p:nvPr/>
        </p:nvSpPr>
        <p:spPr>
          <a:xfrm>
            <a:off x="5029200" y="128930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38" name="Shape 136"/>
          <p:cNvSpPr/>
          <p:nvPr/>
        </p:nvSpPr>
        <p:spPr>
          <a:xfrm>
            <a:off x="5029200" y="171907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39" name="Shape 137"/>
          <p:cNvSpPr/>
          <p:nvPr/>
        </p:nvSpPr>
        <p:spPr>
          <a:xfrm>
            <a:off x="5029200" y="214884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40" name="Shape 138"/>
          <p:cNvSpPr/>
          <p:nvPr/>
        </p:nvSpPr>
        <p:spPr>
          <a:xfrm>
            <a:off x="5029200" y="257860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41" name="Shape 139"/>
          <p:cNvSpPr/>
          <p:nvPr/>
        </p:nvSpPr>
        <p:spPr>
          <a:xfrm>
            <a:off x="5029200" y="300837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42" name="Shape 140"/>
          <p:cNvSpPr/>
          <p:nvPr/>
        </p:nvSpPr>
        <p:spPr>
          <a:xfrm>
            <a:off x="5029200" y="343814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43" name="Shape 141"/>
          <p:cNvSpPr/>
          <p:nvPr/>
        </p:nvSpPr>
        <p:spPr>
          <a:xfrm>
            <a:off x="5029200" y="386791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46" name="Shape 144"/>
          <p:cNvSpPr/>
          <p:nvPr/>
        </p:nvSpPr>
        <p:spPr>
          <a:xfrm>
            <a:off x="5486400" y="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47" name="Shape 145"/>
          <p:cNvSpPr/>
          <p:nvPr/>
        </p:nvSpPr>
        <p:spPr>
          <a:xfrm>
            <a:off x="5486400" y="42976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48" name="Shape 146"/>
          <p:cNvSpPr/>
          <p:nvPr/>
        </p:nvSpPr>
        <p:spPr>
          <a:xfrm>
            <a:off x="5486400" y="85953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49" name="Shape 147"/>
          <p:cNvSpPr/>
          <p:nvPr/>
        </p:nvSpPr>
        <p:spPr>
          <a:xfrm>
            <a:off x="5486400" y="128930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50" name="Shape 148"/>
          <p:cNvSpPr/>
          <p:nvPr/>
        </p:nvSpPr>
        <p:spPr>
          <a:xfrm>
            <a:off x="5486400" y="171907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51" name="Shape 149"/>
          <p:cNvSpPr/>
          <p:nvPr/>
        </p:nvSpPr>
        <p:spPr>
          <a:xfrm>
            <a:off x="5486400" y="214884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52" name="Shape 150"/>
          <p:cNvSpPr/>
          <p:nvPr/>
        </p:nvSpPr>
        <p:spPr>
          <a:xfrm>
            <a:off x="5486400" y="257860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53" name="Shape 151"/>
          <p:cNvSpPr/>
          <p:nvPr/>
        </p:nvSpPr>
        <p:spPr>
          <a:xfrm>
            <a:off x="5486400" y="300837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54" name="Shape 152"/>
          <p:cNvSpPr/>
          <p:nvPr/>
        </p:nvSpPr>
        <p:spPr>
          <a:xfrm>
            <a:off x="5486400" y="343814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55" name="Shape 153"/>
          <p:cNvSpPr/>
          <p:nvPr/>
        </p:nvSpPr>
        <p:spPr>
          <a:xfrm>
            <a:off x="5486400" y="386791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58" name="Shape 156"/>
          <p:cNvSpPr/>
          <p:nvPr/>
        </p:nvSpPr>
        <p:spPr>
          <a:xfrm>
            <a:off x="5943600" y="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59" name="Shape 157"/>
          <p:cNvSpPr/>
          <p:nvPr/>
        </p:nvSpPr>
        <p:spPr>
          <a:xfrm>
            <a:off x="5943600" y="42976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60" name="Shape 158"/>
          <p:cNvSpPr/>
          <p:nvPr/>
        </p:nvSpPr>
        <p:spPr>
          <a:xfrm>
            <a:off x="5943600" y="85953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61" name="Shape 159"/>
          <p:cNvSpPr/>
          <p:nvPr/>
        </p:nvSpPr>
        <p:spPr>
          <a:xfrm>
            <a:off x="5943600" y="128930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62" name="Shape 160"/>
          <p:cNvSpPr/>
          <p:nvPr/>
        </p:nvSpPr>
        <p:spPr>
          <a:xfrm>
            <a:off x="5943600" y="171907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63" name="Shape 161"/>
          <p:cNvSpPr/>
          <p:nvPr/>
        </p:nvSpPr>
        <p:spPr>
          <a:xfrm>
            <a:off x="5943600" y="214884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64" name="Shape 162"/>
          <p:cNvSpPr/>
          <p:nvPr/>
        </p:nvSpPr>
        <p:spPr>
          <a:xfrm>
            <a:off x="5943600" y="257860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65" name="Shape 163"/>
          <p:cNvSpPr/>
          <p:nvPr/>
        </p:nvSpPr>
        <p:spPr>
          <a:xfrm>
            <a:off x="5943600" y="300837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66" name="Shape 164"/>
          <p:cNvSpPr/>
          <p:nvPr/>
        </p:nvSpPr>
        <p:spPr>
          <a:xfrm>
            <a:off x="5943600" y="343814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67" name="Shape 165"/>
          <p:cNvSpPr/>
          <p:nvPr/>
        </p:nvSpPr>
        <p:spPr>
          <a:xfrm>
            <a:off x="5943600" y="386791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70" name="Shape 168"/>
          <p:cNvSpPr/>
          <p:nvPr/>
        </p:nvSpPr>
        <p:spPr>
          <a:xfrm>
            <a:off x="6400800" y="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71" name="Shape 169"/>
          <p:cNvSpPr/>
          <p:nvPr/>
        </p:nvSpPr>
        <p:spPr>
          <a:xfrm>
            <a:off x="6400800" y="42976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72" name="Shape 170"/>
          <p:cNvSpPr/>
          <p:nvPr/>
        </p:nvSpPr>
        <p:spPr>
          <a:xfrm>
            <a:off x="6400800" y="85953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73" name="Shape 171"/>
          <p:cNvSpPr/>
          <p:nvPr/>
        </p:nvSpPr>
        <p:spPr>
          <a:xfrm>
            <a:off x="6400800" y="128930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74" name="Shape 172"/>
          <p:cNvSpPr/>
          <p:nvPr/>
        </p:nvSpPr>
        <p:spPr>
          <a:xfrm>
            <a:off x="6400800" y="171907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75" name="Shape 173"/>
          <p:cNvSpPr/>
          <p:nvPr/>
        </p:nvSpPr>
        <p:spPr>
          <a:xfrm>
            <a:off x="6400800" y="214884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76" name="Shape 174"/>
          <p:cNvSpPr/>
          <p:nvPr/>
        </p:nvSpPr>
        <p:spPr>
          <a:xfrm>
            <a:off x="6400800" y="257860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77" name="Shape 175"/>
          <p:cNvSpPr/>
          <p:nvPr/>
        </p:nvSpPr>
        <p:spPr>
          <a:xfrm>
            <a:off x="6400800" y="300837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78" name="Shape 176"/>
          <p:cNvSpPr/>
          <p:nvPr/>
        </p:nvSpPr>
        <p:spPr>
          <a:xfrm>
            <a:off x="6400800" y="343814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79" name="Shape 177"/>
          <p:cNvSpPr/>
          <p:nvPr/>
        </p:nvSpPr>
        <p:spPr>
          <a:xfrm>
            <a:off x="6400800" y="386791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82" name="Shape 180"/>
          <p:cNvSpPr/>
          <p:nvPr/>
        </p:nvSpPr>
        <p:spPr>
          <a:xfrm>
            <a:off x="6858000" y="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83" name="Shape 181"/>
          <p:cNvSpPr/>
          <p:nvPr/>
        </p:nvSpPr>
        <p:spPr>
          <a:xfrm>
            <a:off x="6858000" y="42976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84" name="Shape 182"/>
          <p:cNvSpPr/>
          <p:nvPr/>
        </p:nvSpPr>
        <p:spPr>
          <a:xfrm>
            <a:off x="6858000" y="85953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85" name="Shape 183"/>
          <p:cNvSpPr/>
          <p:nvPr/>
        </p:nvSpPr>
        <p:spPr>
          <a:xfrm>
            <a:off x="6858000" y="128930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86" name="Shape 184"/>
          <p:cNvSpPr/>
          <p:nvPr/>
        </p:nvSpPr>
        <p:spPr>
          <a:xfrm>
            <a:off x="6858000" y="171907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87" name="Shape 185"/>
          <p:cNvSpPr/>
          <p:nvPr/>
        </p:nvSpPr>
        <p:spPr>
          <a:xfrm>
            <a:off x="6858000" y="214884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88" name="Shape 186"/>
          <p:cNvSpPr/>
          <p:nvPr/>
        </p:nvSpPr>
        <p:spPr>
          <a:xfrm>
            <a:off x="6858000" y="257860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89" name="Shape 187"/>
          <p:cNvSpPr/>
          <p:nvPr/>
        </p:nvSpPr>
        <p:spPr>
          <a:xfrm>
            <a:off x="6858000" y="300837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90" name="Shape 188"/>
          <p:cNvSpPr/>
          <p:nvPr/>
        </p:nvSpPr>
        <p:spPr>
          <a:xfrm>
            <a:off x="6858000" y="343814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91" name="Shape 189"/>
          <p:cNvSpPr/>
          <p:nvPr/>
        </p:nvSpPr>
        <p:spPr>
          <a:xfrm>
            <a:off x="6858000" y="386791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94" name="Shape 192"/>
          <p:cNvSpPr/>
          <p:nvPr/>
        </p:nvSpPr>
        <p:spPr>
          <a:xfrm>
            <a:off x="7315200" y="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95" name="Shape 193"/>
          <p:cNvSpPr/>
          <p:nvPr/>
        </p:nvSpPr>
        <p:spPr>
          <a:xfrm>
            <a:off x="7315200" y="42976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96" name="Shape 194"/>
          <p:cNvSpPr/>
          <p:nvPr/>
        </p:nvSpPr>
        <p:spPr>
          <a:xfrm>
            <a:off x="7315200" y="85953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97" name="Shape 195"/>
          <p:cNvSpPr/>
          <p:nvPr/>
        </p:nvSpPr>
        <p:spPr>
          <a:xfrm>
            <a:off x="7315200" y="128930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98" name="Shape 196"/>
          <p:cNvSpPr/>
          <p:nvPr/>
        </p:nvSpPr>
        <p:spPr>
          <a:xfrm>
            <a:off x="7315200" y="171907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99" name="Shape 197"/>
          <p:cNvSpPr/>
          <p:nvPr/>
        </p:nvSpPr>
        <p:spPr>
          <a:xfrm>
            <a:off x="7315200" y="214884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00" name="Shape 198"/>
          <p:cNvSpPr/>
          <p:nvPr/>
        </p:nvSpPr>
        <p:spPr>
          <a:xfrm>
            <a:off x="7315200" y="257860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01" name="Shape 199"/>
          <p:cNvSpPr/>
          <p:nvPr/>
        </p:nvSpPr>
        <p:spPr>
          <a:xfrm>
            <a:off x="7315200" y="300837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02" name="Shape 200"/>
          <p:cNvSpPr/>
          <p:nvPr/>
        </p:nvSpPr>
        <p:spPr>
          <a:xfrm>
            <a:off x="7315200" y="343814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03" name="Shape 201"/>
          <p:cNvSpPr/>
          <p:nvPr/>
        </p:nvSpPr>
        <p:spPr>
          <a:xfrm>
            <a:off x="7315200" y="386791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06" name="Shape 204"/>
          <p:cNvSpPr/>
          <p:nvPr/>
        </p:nvSpPr>
        <p:spPr>
          <a:xfrm>
            <a:off x="7772400" y="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07" name="Shape 205"/>
          <p:cNvSpPr/>
          <p:nvPr/>
        </p:nvSpPr>
        <p:spPr>
          <a:xfrm>
            <a:off x="7772400" y="42976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08" name="Shape 206"/>
          <p:cNvSpPr/>
          <p:nvPr/>
        </p:nvSpPr>
        <p:spPr>
          <a:xfrm>
            <a:off x="7772400" y="85953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09" name="Shape 207"/>
          <p:cNvSpPr/>
          <p:nvPr/>
        </p:nvSpPr>
        <p:spPr>
          <a:xfrm>
            <a:off x="7772400" y="128930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10" name="Shape 208"/>
          <p:cNvSpPr/>
          <p:nvPr/>
        </p:nvSpPr>
        <p:spPr>
          <a:xfrm>
            <a:off x="7772400" y="171907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11" name="Shape 209"/>
          <p:cNvSpPr/>
          <p:nvPr/>
        </p:nvSpPr>
        <p:spPr>
          <a:xfrm>
            <a:off x="7772400" y="214884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12" name="Shape 210"/>
          <p:cNvSpPr/>
          <p:nvPr/>
        </p:nvSpPr>
        <p:spPr>
          <a:xfrm>
            <a:off x="7772400" y="257860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13" name="Shape 211"/>
          <p:cNvSpPr/>
          <p:nvPr/>
        </p:nvSpPr>
        <p:spPr>
          <a:xfrm>
            <a:off x="7772400" y="300837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14" name="Shape 212"/>
          <p:cNvSpPr/>
          <p:nvPr/>
        </p:nvSpPr>
        <p:spPr>
          <a:xfrm>
            <a:off x="7772400" y="343814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15" name="Shape 213"/>
          <p:cNvSpPr/>
          <p:nvPr/>
        </p:nvSpPr>
        <p:spPr>
          <a:xfrm>
            <a:off x="7772400" y="386791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18" name="Shape 216"/>
          <p:cNvSpPr/>
          <p:nvPr/>
        </p:nvSpPr>
        <p:spPr>
          <a:xfrm>
            <a:off x="8229600" y="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19" name="Shape 217"/>
          <p:cNvSpPr/>
          <p:nvPr/>
        </p:nvSpPr>
        <p:spPr>
          <a:xfrm>
            <a:off x="8229600" y="42976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20" name="Shape 218"/>
          <p:cNvSpPr/>
          <p:nvPr/>
        </p:nvSpPr>
        <p:spPr>
          <a:xfrm>
            <a:off x="8229600" y="85953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21" name="Shape 219"/>
          <p:cNvSpPr/>
          <p:nvPr/>
        </p:nvSpPr>
        <p:spPr>
          <a:xfrm>
            <a:off x="8229600" y="128930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22" name="Shape 220"/>
          <p:cNvSpPr/>
          <p:nvPr/>
        </p:nvSpPr>
        <p:spPr>
          <a:xfrm>
            <a:off x="8229600" y="171907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23" name="Shape 221"/>
          <p:cNvSpPr/>
          <p:nvPr/>
        </p:nvSpPr>
        <p:spPr>
          <a:xfrm>
            <a:off x="8229600" y="214884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24" name="Shape 222"/>
          <p:cNvSpPr/>
          <p:nvPr/>
        </p:nvSpPr>
        <p:spPr>
          <a:xfrm>
            <a:off x="8229600" y="257860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25" name="Shape 223"/>
          <p:cNvSpPr/>
          <p:nvPr/>
        </p:nvSpPr>
        <p:spPr>
          <a:xfrm>
            <a:off x="8229600" y="300837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26" name="Shape 224"/>
          <p:cNvSpPr/>
          <p:nvPr/>
        </p:nvSpPr>
        <p:spPr>
          <a:xfrm>
            <a:off x="8229600" y="343814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27" name="Shape 225"/>
          <p:cNvSpPr/>
          <p:nvPr/>
        </p:nvSpPr>
        <p:spPr>
          <a:xfrm>
            <a:off x="8229600" y="386791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28" name="Shape 226"/>
          <p:cNvSpPr/>
          <p:nvPr/>
        </p:nvSpPr>
        <p:spPr>
          <a:xfrm>
            <a:off x="8229600" y="429768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29" name="Shape 227"/>
          <p:cNvSpPr/>
          <p:nvPr/>
        </p:nvSpPr>
        <p:spPr>
          <a:xfrm>
            <a:off x="8229600" y="472744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30" name="Shape 228"/>
          <p:cNvSpPr/>
          <p:nvPr/>
        </p:nvSpPr>
        <p:spPr>
          <a:xfrm>
            <a:off x="8686800" y="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31" name="Shape 229"/>
          <p:cNvSpPr/>
          <p:nvPr/>
        </p:nvSpPr>
        <p:spPr>
          <a:xfrm>
            <a:off x="8686800" y="42976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32" name="Shape 230"/>
          <p:cNvSpPr/>
          <p:nvPr/>
        </p:nvSpPr>
        <p:spPr>
          <a:xfrm>
            <a:off x="8686800" y="85953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33" name="Shape 231"/>
          <p:cNvSpPr/>
          <p:nvPr/>
        </p:nvSpPr>
        <p:spPr>
          <a:xfrm>
            <a:off x="8686800" y="128930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34" name="Shape 232"/>
          <p:cNvSpPr/>
          <p:nvPr/>
        </p:nvSpPr>
        <p:spPr>
          <a:xfrm>
            <a:off x="8686800" y="171907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35" name="Shape 233"/>
          <p:cNvSpPr/>
          <p:nvPr/>
        </p:nvSpPr>
        <p:spPr>
          <a:xfrm>
            <a:off x="8686800" y="214884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36" name="Shape 234"/>
          <p:cNvSpPr/>
          <p:nvPr/>
        </p:nvSpPr>
        <p:spPr>
          <a:xfrm>
            <a:off x="8686800" y="257860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37" name="Shape 235"/>
          <p:cNvSpPr/>
          <p:nvPr/>
        </p:nvSpPr>
        <p:spPr>
          <a:xfrm>
            <a:off x="8686800" y="3008376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38" name="Shape 236"/>
          <p:cNvSpPr/>
          <p:nvPr/>
        </p:nvSpPr>
        <p:spPr>
          <a:xfrm>
            <a:off x="8686800" y="3438144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39" name="Shape 237"/>
          <p:cNvSpPr/>
          <p:nvPr/>
        </p:nvSpPr>
        <p:spPr>
          <a:xfrm>
            <a:off x="8686800" y="3867912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40" name="Shape 238"/>
          <p:cNvSpPr/>
          <p:nvPr/>
        </p:nvSpPr>
        <p:spPr>
          <a:xfrm>
            <a:off x="8686800" y="4297680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41" name="Shape 239"/>
          <p:cNvSpPr/>
          <p:nvPr/>
        </p:nvSpPr>
        <p:spPr>
          <a:xfrm>
            <a:off x="8686800" y="4727448"/>
            <a:ext cx="36576" cy="3657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42" name="Shape 240"/>
          <p:cNvSpPr/>
          <p:nvPr/>
        </p:nvSpPr>
        <p:spPr>
          <a:xfrm>
            <a:off x="0" y="1645920"/>
            <a:ext cx="9144000" cy="1920240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43" name="Shape 241"/>
          <p:cNvSpPr/>
          <p:nvPr/>
        </p:nvSpPr>
        <p:spPr>
          <a:xfrm>
            <a:off x="0" y="1645920"/>
            <a:ext cx="91440" cy="192024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244" name="Text 242"/>
          <p:cNvSpPr/>
          <p:nvPr/>
        </p:nvSpPr>
        <p:spPr>
          <a:xfrm>
            <a:off x="365760" y="1691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🙋  Questions?</a:t>
            </a:r>
            <a:endParaRPr lang="en-US" sz="4400" dirty="0"/>
          </a:p>
        </p:txBody>
      </p:sp>
      <p:sp>
        <p:nvSpPr>
          <p:cNvPr id="245" name="Text 243"/>
          <p:cNvSpPr/>
          <p:nvPr/>
        </p:nvSpPr>
        <p:spPr>
          <a:xfrm>
            <a:off x="365760" y="254203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or ask in chat — happy to help!</a:t>
            </a:r>
            <a:endParaRPr lang="en-US" sz="1600" dirty="0"/>
          </a:p>
        </p:txBody>
      </p:sp>
      <p:sp>
        <p:nvSpPr>
          <p:cNvPr id="246" name="Text 244"/>
          <p:cNvSpPr/>
          <p:nvPr/>
        </p:nvSpPr>
        <p:spPr>
          <a:xfrm>
            <a:off x="365760" y="3840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links: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0BD1A-EAFE-DECD-7789-EA1554C36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5415B93D-4DC6-C11F-4218-C9D1FBBA128E}"/>
              </a:ext>
            </a:extLst>
          </p:cNvPr>
          <p:cNvSpPr/>
          <p:nvPr/>
        </p:nvSpPr>
        <p:spPr>
          <a:xfrm>
            <a:off x="0" y="0"/>
            <a:ext cx="54864" cy="59436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n-MY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C9CED6-19B6-9CE9-4255-090240DAD524}"/>
              </a:ext>
            </a:extLst>
          </p:cNvPr>
          <p:cNvSpPr txBox="1"/>
          <p:nvPr/>
        </p:nvSpPr>
        <p:spPr>
          <a:xfrm>
            <a:off x="122035" y="112514"/>
            <a:ext cx="45754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Form</a:t>
            </a:r>
          </a:p>
          <a:p>
            <a:pPr marL="0" indent="0">
              <a:buNone/>
            </a:pPr>
            <a:endParaRPr lang="en-US" sz="1800" dirty="0"/>
          </a:p>
        </p:txBody>
      </p:sp>
      <p:pic>
        <p:nvPicPr>
          <p:cNvPr id="4" name="Picture 3">
            <a:hlinkClick r:id="rId2"/>
            <a:extLst>
              <a:ext uri="{FF2B5EF4-FFF2-40B4-BE49-F238E27FC236}">
                <a16:creationId xmlns:a16="http://schemas.microsoft.com/office/drawing/2014/main" id="{ADAF64FF-B194-55DB-E510-05C697A753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9753" y="758845"/>
            <a:ext cx="3976365" cy="39763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98399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611</TotalTime>
  <Words>3421</Words>
  <Application>Microsoft Office PowerPoint</Application>
  <PresentationFormat>On-screen Show (16:9)</PresentationFormat>
  <Paragraphs>276</Paragraphs>
  <Slides>18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ESP32 Firebase Dashboard Workshop</dc:title>
  <dc:subject>PptxGenJS Presentation</dc:subject>
  <dc:creator>PptxGenJS</dc:creator>
  <cp:lastModifiedBy>Syivesh Rukmanikanthan</cp:lastModifiedBy>
  <cp:revision>52</cp:revision>
  <dcterms:created xsi:type="dcterms:W3CDTF">2026-03-18T13:18:24Z</dcterms:created>
  <dcterms:modified xsi:type="dcterms:W3CDTF">2026-03-24T02:23:31Z</dcterms:modified>
</cp:coreProperties>
</file>