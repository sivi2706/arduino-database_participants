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68" r:id="rId17"/>
    <p:sldId id="269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D0E91-79D4-275D-74A2-492A24EDCE5A}" v="31" dt="2026-03-18T14:27:59.077"/>
    <p1510:client id="{42EC94B2-CE41-B952-8EC0-DD7E57673B58}" v="117" dt="2026-03-19T09:02:47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6" autoAdjust="0"/>
    <p:restoredTop sz="94610"/>
  </p:normalViewPr>
  <p:slideViewPr>
    <p:cSldViewPr snapToGrid="0" snapToObjects="1">
      <p:cViewPr>
        <p:scale>
          <a:sx n="139" d="100"/>
          <a:sy n="139" d="100"/>
        </p:scale>
        <p:origin x="66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C733B-EA99-4D31-B831-D6BA28915A06}" type="datetimeFigureOut"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792D9D-F522-4BC4-A1FA-A73556021A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33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AF338FB-510D-3608-FF75-67824841BC53}"/>
              </a:ext>
            </a:extLst>
          </p:cNvPr>
          <p:cNvSpPr/>
          <p:nvPr userDrawn="1"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4309BD-127B-1735-611A-82F8760254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78155" y="0"/>
            <a:ext cx="1765845" cy="5362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Bar">
            <a:extLst>
              <a:ext uri="{FF2B5EF4-FFF2-40B4-BE49-F238E27FC236}">
                <a16:creationId xmlns:a16="http://schemas.microsoft.com/office/drawing/2014/main" id="{96FFBFEA-6D84-3D64-C03A-6FAE89045092}"/>
              </a:ext>
            </a:extLst>
          </p:cNvPr>
          <p:cNvSpPr/>
          <p:nvPr userDrawn="1"/>
        </p:nvSpPr>
        <p:spPr>
          <a:xfrm>
            <a:off x="0" y="-9288"/>
            <a:ext cx="9144000" cy="594360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 lang="en-MY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B062CC-BC44-5D45-DA7F-317EECC4D6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78155" y="0"/>
            <a:ext cx="1765845" cy="5362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forms.gle/LJSLCQH9rLJgCPPa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457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457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457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457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457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457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457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4572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914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914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914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914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914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914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914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914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914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>
            <a:off x="9144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Shape 35"/>
          <p:cNvSpPr/>
          <p:nvPr/>
        </p:nvSpPr>
        <p:spPr>
          <a:xfrm>
            <a:off x="9144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7"/>
          <p:cNvSpPr/>
          <p:nvPr/>
        </p:nvSpPr>
        <p:spPr>
          <a:xfrm>
            <a:off x="1371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Shape 38"/>
          <p:cNvSpPr/>
          <p:nvPr/>
        </p:nvSpPr>
        <p:spPr>
          <a:xfrm>
            <a:off x="1371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Shape 39"/>
          <p:cNvSpPr/>
          <p:nvPr/>
        </p:nvSpPr>
        <p:spPr>
          <a:xfrm>
            <a:off x="1371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Shape 40"/>
          <p:cNvSpPr/>
          <p:nvPr/>
        </p:nvSpPr>
        <p:spPr>
          <a:xfrm>
            <a:off x="1371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1371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Shape 42"/>
          <p:cNvSpPr/>
          <p:nvPr/>
        </p:nvSpPr>
        <p:spPr>
          <a:xfrm>
            <a:off x="1371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1371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Shape 44"/>
          <p:cNvSpPr/>
          <p:nvPr/>
        </p:nvSpPr>
        <p:spPr>
          <a:xfrm>
            <a:off x="1371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hape 45"/>
          <p:cNvSpPr/>
          <p:nvPr/>
        </p:nvSpPr>
        <p:spPr>
          <a:xfrm>
            <a:off x="1371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Shape 46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9" name="Shape 47"/>
          <p:cNvSpPr/>
          <p:nvPr/>
        </p:nvSpPr>
        <p:spPr>
          <a:xfrm>
            <a:off x="13716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Shape 48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Shape 49"/>
          <p:cNvSpPr/>
          <p:nvPr/>
        </p:nvSpPr>
        <p:spPr>
          <a:xfrm>
            <a:off x="1828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Shape 50"/>
          <p:cNvSpPr/>
          <p:nvPr/>
        </p:nvSpPr>
        <p:spPr>
          <a:xfrm>
            <a:off x="1828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Shape 51"/>
          <p:cNvSpPr/>
          <p:nvPr/>
        </p:nvSpPr>
        <p:spPr>
          <a:xfrm>
            <a:off x="1828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Shape 52"/>
          <p:cNvSpPr/>
          <p:nvPr/>
        </p:nvSpPr>
        <p:spPr>
          <a:xfrm>
            <a:off x="1828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5" name="Shape 53"/>
          <p:cNvSpPr/>
          <p:nvPr/>
        </p:nvSpPr>
        <p:spPr>
          <a:xfrm>
            <a:off x="1828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Shape 54"/>
          <p:cNvSpPr/>
          <p:nvPr/>
        </p:nvSpPr>
        <p:spPr>
          <a:xfrm>
            <a:off x="1828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7" name="Shape 55"/>
          <p:cNvSpPr/>
          <p:nvPr/>
        </p:nvSpPr>
        <p:spPr>
          <a:xfrm>
            <a:off x="1828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Shape 56"/>
          <p:cNvSpPr/>
          <p:nvPr/>
        </p:nvSpPr>
        <p:spPr>
          <a:xfrm>
            <a:off x="1828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9" name="Shape 57"/>
          <p:cNvSpPr/>
          <p:nvPr/>
        </p:nvSpPr>
        <p:spPr>
          <a:xfrm>
            <a:off x="1828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Shape 58"/>
          <p:cNvSpPr/>
          <p:nvPr/>
        </p:nvSpPr>
        <p:spPr>
          <a:xfrm>
            <a:off x="18288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1" name="Shape 59"/>
          <p:cNvSpPr/>
          <p:nvPr/>
        </p:nvSpPr>
        <p:spPr>
          <a:xfrm>
            <a:off x="18288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Shape 60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3" name="Shape 61"/>
          <p:cNvSpPr/>
          <p:nvPr/>
        </p:nvSpPr>
        <p:spPr>
          <a:xfrm>
            <a:off x="22860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Shape 62"/>
          <p:cNvSpPr/>
          <p:nvPr/>
        </p:nvSpPr>
        <p:spPr>
          <a:xfrm>
            <a:off x="22860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5" name="Shape 63"/>
          <p:cNvSpPr/>
          <p:nvPr/>
        </p:nvSpPr>
        <p:spPr>
          <a:xfrm>
            <a:off x="22860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Shape 64"/>
          <p:cNvSpPr/>
          <p:nvPr/>
        </p:nvSpPr>
        <p:spPr>
          <a:xfrm>
            <a:off x="22860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7" name="Shape 65"/>
          <p:cNvSpPr/>
          <p:nvPr/>
        </p:nvSpPr>
        <p:spPr>
          <a:xfrm>
            <a:off x="22860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Shape 66"/>
          <p:cNvSpPr/>
          <p:nvPr/>
        </p:nvSpPr>
        <p:spPr>
          <a:xfrm>
            <a:off x="22860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9" name="Shape 67"/>
          <p:cNvSpPr/>
          <p:nvPr/>
        </p:nvSpPr>
        <p:spPr>
          <a:xfrm>
            <a:off x="22860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Shape 68"/>
          <p:cNvSpPr/>
          <p:nvPr/>
        </p:nvSpPr>
        <p:spPr>
          <a:xfrm>
            <a:off x="22860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1" name="Shape 69"/>
          <p:cNvSpPr/>
          <p:nvPr/>
        </p:nvSpPr>
        <p:spPr>
          <a:xfrm>
            <a:off x="22860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2" name="Shape 70"/>
          <p:cNvSpPr/>
          <p:nvPr/>
        </p:nvSpPr>
        <p:spPr>
          <a:xfrm>
            <a:off x="22860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3" name="Shape 71"/>
          <p:cNvSpPr/>
          <p:nvPr/>
        </p:nvSpPr>
        <p:spPr>
          <a:xfrm>
            <a:off x="22860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Shape 72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5" name="Shape 73"/>
          <p:cNvSpPr/>
          <p:nvPr/>
        </p:nvSpPr>
        <p:spPr>
          <a:xfrm>
            <a:off x="2743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Shape 74"/>
          <p:cNvSpPr/>
          <p:nvPr/>
        </p:nvSpPr>
        <p:spPr>
          <a:xfrm>
            <a:off x="2743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7" name="Shape 75"/>
          <p:cNvSpPr/>
          <p:nvPr/>
        </p:nvSpPr>
        <p:spPr>
          <a:xfrm>
            <a:off x="2743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Shape 76"/>
          <p:cNvSpPr/>
          <p:nvPr/>
        </p:nvSpPr>
        <p:spPr>
          <a:xfrm>
            <a:off x="2743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9" name="Shape 77"/>
          <p:cNvSpPr/>
          <p:nvPr/>
        </p:nvSpPr>
        <p:spPr>
          <a:xfrm>
            <a:off x="2743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Shape 78"/>
          <p:cNvSpPr/>
          <p:nvPr/>
        </p:nvSpPr>
        <p:spPr>
          <a:xfrm>
            <a:off x="2743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1" name="Shape 79"/>
          <p:cNvSpPr/>
          <p:nvPr/>
        </p:nvSpPr>
        <p:spPr>
          <a:xfrm>
            <a:off x="2743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Shape 80"/>
          <p:cNvSpPr/>
          <p:nvPr/>
        </p:nvSpPr>
        <p:spPr>
          <a:xfrm>
            <a:off x="2743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3" name="Shape 81"/>
          <p:cNvSpPr/>
          <p:nvPr/>
        </p:nvSpPr>
        <p:spPr>
          <a:xfrm>
            <a:off x="2743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4" name="Shape 82"/>
          <p:cNvSpPr/>
          <p:nvPr/>
        </p:nvSpPr>
        <p:spPr>
          <a:xfrm>
            <a:off x="27432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5" name="Shape 83"/>
          <p:cNvSpPr/>
          <p:nvPr/>
        </p:nvSpPr>
        <p:spPr>
          <a:xfrm>
            <a:off x="27432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Shape 84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7" name="Shape 85"/>
          <p:cNvSpPr/>
          <p:nvPr/>
        </p:nvSpPr>
        <p:spPr>
          <a:xfrm>
            <a:off x="3200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Shape 86"/>
          <p:cNvSpPr/>
          <p:nvPr/>
        </p:nvSpPr>
        <p:spPr>
          <a:xfrm>
            <a:off x="3200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9" name="Shape 87"/>
          <p:cNvSpPr/>
          <p:nvPr/>
        </p:nvSpPr>
        <p:spPr>
          <a:xfrm>
            <a:off x="3200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Shape 88"/>
          <p:cNvSpPr/>
          <p:nvPr/>
        </p:nvSpPr>
        <p:spPr>
          <a:xfrm>
            <a:off x="3200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1" name="Shape 89"/>
          <p:cNvSpPr/>
          <p:nvPr/>
        </p:nvSpPr>
        <p:spPr>
          <a:xfrm>
            <a:off x="3200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Shape 90"/>
          <p:cNvSpPr/>
          <p:nvPr/>
        </p:nvSpPr>
        <p:spPr>
          <a:xfrm>
            <a:off x="3200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3" name="Shape 91"/>
          <p:cNvSpPr/>
          <p:nvPr/>
        </p:nvSpPr>
        <p:spPr>
          <a:xfrm>
            <a:off x="3200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Shape 92"/>
          <p:cNvSpPr/>
          <p:nvPr/>
        </p:nvSpPr>
        <p:spPr>
          <a:xfrm>
            <a:off x="3200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5" name="Shape 93"/>
          <p:cNvSpPr/>
          <p:nvPr/>
        </p:nvSpPr>
        <p:spPr>
          <a:xfrm>
            <a:off x="3200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6" name="Shape 94"/>
          <p:cNvSpPr/>
          <p:nvPr/>
        </p:nvSpPr>
        <p:spPr>
          <a:xfrm>
            <a:off x="32004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7" name="Shape 95"/>
          <p:cNvSpPr/>
          <p:nvPr/>
        </p:nvSpPr>
        <p:spPr>
          <a:xfrm>
            <a:off x="32004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Shape 96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9" name="Shape 97"/>
          <p:cNvSpPr/>
          <p:nvPr/>
        </p:nvSpPr>
        <p:spPr>
          <a:xfrm>
            <a:off x="3657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Shape 98"/>
          <p:cNvSpPr/>
          <p:nvPr/>
        </p:nvSpPr>
        <p:spPr>
          <a:xfrm>
            <a:off x="3657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1" name="Shape 99"/>
          <p:cNvSpPr/>
          <p:nvPr/>
        </p:nvSpPr>
        <p:spPr>
          <a:xfrm>
            <a:off x="3657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Shape 100"/>
          <p:cNvSpPr/>
          <p:nvPr/>
        </p:nvSpPr>
        <p:spPr>
          <a:xfrm>
            <a:off x="3657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3" name="Shape 101"/>
          <p:cNvSpPr/>
          <p:nvPr/>
        </p:nvSpPr>
        <p:spPr>
          <a:xfrm>
            <a:off x="3657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Shape 102"/>
          <p:cNvSpPr/>
          <p:nvPr/>
        </p:nvSpPr>
        <p:spPr>
          <a:xfrm>
            <a:off x="3657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5" name="Shape 103"/>
          <p:cNvSpPr/>
          <p:nvPr/>
        </p:nvSpPr>
        <p:spPr>
          <a:xfrm>
            <a:off x="3657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Shape 104"/>
          <p:cNvSpPr/>
          <p:nvPr/>
        </p:nvSpPr>
        <p:spPr>
          <a:xfrm>
            <a:off x="3657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7" name="Shape 105"/>
          <p:cNvSpPr/>
          <p:nvPr/>
        </p:nvSpPr>
        <p:spPr>
          <a:xfrm>
            <a:off x="3657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8" name="Shape 106"/>
          <p:cNvSpPr/>
          <p:nvPr/>
        </p:nvSpPr>
        <p:spPr>
          <a:xfrm>
            <a:off x="36576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9" name="Shape 107"/>
          <p:cNvSpPr/>
          <p:nvPr/>
        </p:nvSpPr>
        <p:spPr>
          <a:xfrm>
            <a:off x="36576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Shape 108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1" name="Shape 109"/>
          <p:cNvSpPr/>
          <p:nvPr/>
        </p:nvSpPr>
        <p:spPr>
          <a:xfrm>
            <a:off x="4114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Shape 110"/>
          <p:cNvSpPr/>
          <p:nvPr/>
        </p:nvSpPr>
        <p:spPr>
          <a:xfrm>
            <a:off x="4114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3" name="Shape 111"/>
          <p:cNvSpPr/>
          <p:nvPr/>
        </p:nvSpPr>
        <p:spPr>
          <a:xfrm>
            <a:off x="4114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Shape 112"/>
          <p:cNvSpPr/>
          <p:nvPr/>
        </p:nvSpPr>
        <p:spPr>
          <a:xfrm>
            <a:off x="4114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5" name="Shape 113"/>
          <p:cNvSpPr/>
          <p:nvPr/>
        </p:nvSpPr>
        <p:spPr>
          <a:xfrm>
            <a:off x="4114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Shape 114"/>
          <p:cNvSpPr/>
          <p:nvPr/>
        </p:nvSpPr>
        <p:spPr>
          <a:xfrm>
            <a:off x="4114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7" name="Shape 115"/>
          <p:cNvSpPr/>
          <p:nvPr/>
        </p:nvSpPr>
        <p:spPr>
          <a:xfrm>
            <a:off x="4114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Shape 116"/>
          <p:cNvSpPr/>
          <p:nvPr/>
        </p:nvSpPr>
        <p:spPr>
          <a:xfrm>
            <a:off x="4114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9" name="Shape 117"/>
          <p:cNvSpPr/>
          <p:nvPr/>
        </p:nvSpPr>
        <p:spPr>
          <a:xfrm>
            <a:off x="4114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0" name="Shape 118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1" name="Shape 119"/>
          <p:cNvSpPr/>
          <p:nvPr/>
        </p:nvSpPr>
        <p:spPr>
          <a:xfrm>
            <a:off x="41148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Shape 12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3" name="Shape 121"/>
          <p:cNvSpPr/>
          <p:nvPr/>
        </p:nvSpPr>
        <p:spPr>
          <a:xfrm>
            <a:off x="45720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Shape 122"/>
          <p:cNvSpPr/>
          <p:nvPr/>
        </p:nvSpPr>
        <p:spPr>
          <a:xfrm>
            <a:off x="45720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5" name="Shape 123"/>
          <p:cNvSpPr/>
          <p:nvPr/>
        </p:nvSpPr>
        <p:spPr>
          <a:xfrm>
            <a:off x="45720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Shape 124"/>
          <p:cNvSpPr/>
          <p:nvPr/>
        </p:nvSpPr>
        <p:spPr>
          <a:xfrm>
            <a:off x="45720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7" name="Shape 125"/>
          <p:cNvSpPr/>
          <p:nvPr/>
        </p:nvSpPr>
        <p:spPr>
          <a:xfrm>
            <a:off x="45720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Shape 126"/>
          <p:cNvSpPr/>
          <p:nvPr/>
        </p:nvSpPr>
        <p:spPr>
          <a:xfrm>
            <a:off x="45720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9" name="Shape 127"/>
          <p:cNvSpPr/>
          <p:nvPr/>
        </p:nvSpPr>
        <p:spPr>
          <a:xfrm>
            <a:off x="45720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Shape 128"/>
          <p:cNvSpPr/>
          <p:nvPr/>
        </p:nvSpPr>
        <p:spPr>
          <a:xfrm>
            <a:off x="45720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1" name="Shape 129"/>
          <p:cNvSpPr/>
          <p:nvPr/>
        </p:nvSpPr>
        <p:spPr>
          <a:xfrm>
            <a:off x="45720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2" name="Shape 130"/>
          <p:cNvSpPr/>
          <p:nvPr/>
        </p:nvSpPr>
        <p:spPr>
          <a:xfrm>
            <a:off x="45720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3" name="Shape 131"/>
          <p:cNvSpPr/>
          <p:nvPr/>
        </p:nvSpPr>
        <p:spPr>
          <a:xfrm>
            <a:off x="45720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Shape 132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5" name="Shape 133"/>
          <p:cNvSpPr/>
          <p:nvPr/>
        </p:nvSpPr>
        <p:spPr>
          <a:xfrm>
            <a:off x="5029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Shape 134"/>
          <p:cNvSpPr/>
          <p:nvPr/>
        </p:nvSpPr>
        <p:spPr>
          <a:xfrm>
            <a:off x="5029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7" name="Shape 135"/>
          <p:cNvSpPr/>
          <p:nvPr/>
        </p:nvSpPr>
        <p:spPr>
          <a:xfrm>
            <a:off x="5029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Shape 136"/>
          <p:cNvSpPr/>
          <p:nvPr/>
        </p:nvSpPr>
        <p:spPr>
          <a:xfrm>
            <a:off x="5029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9" name="Shape 137"/>
          <p:cNvSpPr/>
          <p:nvPr/>
        </p:nvSpPr>
        <p:spPr>
          <a:xfrm>
            <a:off x="5029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Shape 138"/>
          <p:cNvSpPr/>
          <p:nvPr/>
        </p:nvSpPr>
        <p:spPr>
          <a:xfrm>
            <a:off x="5029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1" name="Shape 139"/>
          <p:cNvSpPr/>
          <p:nvPr/>
        </p:nvSpPr>
        <p:spPr>
          <a:xfrm>
            <a:off x="5029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Shape 140"/>
          <p:cNvSpPr/>
          <p:nvPr/>
        </p:nvSpPr>
        <p:spPr>
          <a:xfrm>
            <a:off x="5029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3" name="Shape 141"/>
          <p:cNvSpPr/>
          <p:nvPr/>
        </p:nvSpPr>
        <p:spPr>
          <a:xfrm>
            <a:off x="5029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4" name="Shape 142"/>
          <p:cNvSpPr/>
          <p:nvPr/>
        </p:nvSpPr>
        <p:spPr>
          <a:xfrm>
            <a:off x="50292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5" name="Shape 143"/>
          <p:cNvSpPr/>
          <p:nvPr/>
        </p:nvSpPr>
        <p:spPr>
          <a:xfrm>
            <a:off x="50292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Shape 144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7" name="Shape 145"/>
          <p:cNvSpPr/>
          <p:nvPr/>
        </p:nvSpPr>
        <p:spPr>
          <a:xfrm>
            <a:off x="5486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Shape 146"/>
          <p:cNvSpPr/>
          <p:nvPr/>
        </p:nvSpPr>
        <p:spPr>
          <a:xfrm>
            <a:off x="5486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9" name="Shape 147"/>
          <p:cNvSpPr/>
          <p:nvPr/>
        </p:nvSpPr>
        <p:spPr>
          <a:xfrm>
            <a:off x="5486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Shape 148"/>
          <p:cNvSpPr/>
          <p:nvPr/>
        </p:nvSpPr>
        <p:spPr>
          <a:xfrm>
            <a:off x="5486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1" name="Shape 149"/>
          <p:cNvSpPr/>
          <p:nvPr/>
        </p:nvSpPr>
        <p:spPr>
          <a:xfrm>
            <a:off x="5486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Shape 150"/>
          <p:cNvSpPr/>
          <p:nvPr/>
        </p:nvSpPr>
        <p:spPr>
          <a:xfrm>
            <a:off x="5486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Shape 151"/>
          <p:cNvSpPr/>
          <p:nvPr/>
        </p:nvSpPr>
        <p:spPr>
          <a:xfrm>
            <a:off x="5486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4" name="Shape 152"/>
          <p:cNvSpPr/>
          <p:nvPr/>
        </p:nvSpPr>
        <p:spPr>
          <a:xfrm>
            <a:off x="5486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Shape 153"/>
          <p:cNvSpPr/>
          <p:nvPr/>
        </p:nvSpPr>
        <p:spPr>
          <a:xfrm>
            <a:off x="5486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6" name="Shape 154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7" name="Shape 155"/>
          <p:cNvSpPr/>
          <p:nvPr/>
        </p:nvSpPr>
        <p:spPr>
          <a:xfrm>
            <a:off x="54864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8" name="Shape 156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Shape 157"/>
          <p:cNvSpPr/>
          <p:nvPr/>
        </p:nvSpPr>
        <p:spPr>
          <a:xfrm>
            <a:off x="5943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0" name="Shape 158"/>
          <p:cNvSpPr/>
          <p:nvPr/>
        </p:nvSpPr>
        <p:spPr>
          <a:xfrm>
            <a:off x="5943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Shape 159"/>
          <p:cNvSpPr/>
          <p:nvPr/>
        </p:nvSpPr>
        <p:spPr>
          <a:xfrm>
            <a:off x="5943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2" name="Shape 160"/>
          <p:cNvSpPr/>
          <p:nvPr/>
        </p:nvSpPr>
        <p:spPr>
          <a:xfrm>
            <a:off x="5943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Shape 161"/>
          <p:cNvSpPr/>
          <p:nvPr/>
        </p:nvSpPr>
        <p:spPr>
          <a:xfrm>
            <a:off x="5943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4" name="Shape 162"/>
          <p:cNvSpPr/>
          <p:nvPr/>
        </p:nvSpPr>
        <p:spPr>
          <a:xfrm>
            <a:off x="5943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Shape 163"/>
          <p:cNvSpPr/>
          <p:nvPr/>
        </p:nvSpPr>
        <p:spPr>
          <a:xfrm>
            <a:off x="5943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6" name="Shape 164"/>
          <p:cNvSpPr/>
          <p:nvPr/>
        </p:nvSpPr>
        <p:spPr>
          <a:xfrm>
            <a:off x="5943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Shape 165"/>
          <p:cNvSpPr/>
          <p:nvPr/>
        </p:nvSpPr>
        <p:spPr>
          <a:xfrm>
            <a:off x="5943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8" name="Shape 166"/>
          <p:cNvSpPr/>
          <p:nvPr/>
        </p:nvSpPr>
        <p:spPr>
          <a:xfrm>
            <a:off x="59436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9" name="Shape 167"/>
          <p:cNvSpPr/>
          <p:nvPr/>
        </p:nvSpPr>
        <p:spPr>
          <a:xfrm>
            <a:off x="59436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0" name="Shape 168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Shape 169"/>
          <p:cNvSpPr/>
          <p:nvPr/>
        </p:nvSpPr>
        <p:spPr>
          <a:xfrm>
            <a:off x="6400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2" name="Shape 170"/>
          <p:cNvSpPr/>
          <p:nvPr/>
        </p:nvSpPr>
        <p:spPr>
          <a:xfrm>
            <a:off x="6400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Shape 171"/>
          <p:cNvSpPr/>
          <p:nvPr/>
        </p:nvSpPr>
        <p:spPr>
          <a:xfrm>
            <a:off x="6400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4" name="Shape 172"/>
          <p:cNvSpPr/>
          <p:nvPr/>
        </p:nvSpPr>
        <p:spPr>
          <a:xfrm>
            <a:off x="6400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Shape 173"/>
          <p:cNvSpPr/>
          <p:nvPr/>
        </p:nvSpPr>
        <p:spPr>
          <a:xfrm>
            <a:off x="6400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6" name="Shape 174"/>
          <p:cNvSpPr/>
          <p:nvPr/>
        </p:nvSpPr>
        <p:spPr>
          <a:xfrm>
            <a:off x="6400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Shape 175"/>
          <p:cNvSpPr/>
          <p:nvPr/>
        </p:nvSpPr>
        <p:spPr>
          <a:xfrm>
            <a:off x="6400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8" name="Shape 176"/>
          <p:cNvSpPr/>
          <p:nvPr/>
        </p:nvSpPr>
        <p:spPr>
          <a:xfrm>
            <a:off x="6400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Shape 177"/>
          <p:cNvSpPr/>
          <p:nvPr/>
        </p:nvSpPr>
        <p:spPr>
          <a:xfrm>
            <a:off x="6400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0" name="Shape 178"/>
          <p:cNvSpPr/>
          <p:nvPr/>
        </p:nvSpPr>
        <p:spPr>
          <a:xfrm>
            <a:off x="64008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1" name="Shape 179"/>
          <p:cNvSpPr/>
          <p:nvPr/>
        </p:nvSpPr>
        <p:spPr>
          <a:xfrm>
            <a:off x="64008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2" name="Shape 180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Shape 181"/>
          <p:cNvSpPr/>
          <p:nvPr/>
        </p:nvSpPr>
        <p:spPr>
          <a:xfrm>
            <a:off x="68580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4" name="Shape 182"/>
          <p:cNvSpPr/>
          <p:nvPr/>
        </p:nvSpPr>
        <p:spPr>
          <a:xfrm>
            <a:off x="68580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Shape 183"/>
          <p:cNvSpPr/>
          <p:nvPr/>
        </p:nvSpPr>
        <p:spPr>
          <a:xfrm>
            <a:off x="68580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6" name="Shape 184"/>
          <p:cNvSpPr/>
          <p:nvPr/>
        </p:nvSpPr>
        <p:spPr>
          <a:xfrm>
            <a:off x="68580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Shape 185"/>
          <p:cNvSpPr/>
          <p:nvPr/>
        </p:nvSpPr>
        <p:spPr>
          <a:xfrm>
            <a:off x="68580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8" name="Shape 186"/>
          <p:cNvSpPr/>
          <p:nvPr/>
        </p:nvSpPr>
        <p:spPr>
          <a:xfrm>
            <a:off x="68580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Shape 187"/>
          <p:cNvSpPr/>
          <p:nvPr/>
        </p:nvSpPr>
        <p:spPr>
          <a:xfrm>
            <a:off x="68580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0" name="Shape 188"/>
          <p:cNvSpPr/>
          <p:nvPr/>
        </p:nvSpPr>
        <p:spPr>
          <a:xfrm>
            <a:off x="68580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Shape 189"/>
          <p:cNvSpPr/>
          <p:nvPr/>
        </p:nvSpPr>
        <p:spPr>
          <a:xfrm>
            <a:off x="68580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2" name="Shape 190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3" name="Shape 191"/>
          <p:cNvSpPr/>
          <p:nvPr/>
        </p:nvSpPr>
        <p:spPr>
          <a:xfrm>
            <a:off x="68580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4" name="Shape 192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Shape 193"/>
          <p:cNvSpPr/>
          <p:nvPr/>
        </p:nvSpPr>
        <p:spPr>
          <a:xfrm>
            <a:off x="7315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6" name="Shape 194"/>
          <p:cNvSpPr/>
          <p:nvPr/>
        </p:nvSpPr>
        <p:spPr>
          <a:xfrm>
            <a:off x="7315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Shape 195"/>
          <p:cNvSpPr/>
          <p:nvPr/>
        </p:nvSpPr>
        <p:spPr>
          <a:xfrm>
            <a:off x="7315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8" name="Shape 196"/>
          <p:cNvSpPr/>
          <p:nvPr/>
        </p:nvSpPr>
        <p:spPr>
          <a:xfrm>
            <a:off x="7315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Shape 197"/>
          <p:cNvSpPr/>
          <p:nvPr/>
        </p:nvSpPr>
        <p:spPr>
          <a:xfrm>
            <a:off x="7315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0" name="Shape 198"/>
          <p:cNvSpPr/>
          <p:nvPr/>
        </p:nvSpPr>
        <p:spPr>
          <a:xfrm>
            <a:off x="7315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Shape 199"/>
          <p:cNvSpPr/>
          <p:nvPr/>
        </p:nvSpPr>
        <p:spPr>
          <a:xfrm>
            <a:off x="7315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2" name="Shape 200"/>
          <p:cNvSpPr/>
          <p:nvPr/>
        </p:nvSpPr>
        <p:spPr>
          <a:xfrm>
            <a:off x="7315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Shape 201"/>
          <p:cNvSpPr/>
          <p:nvPr/>
        </p:nvSpPr>
        <p:spPr>
          <a:xfrm>
            <a:off x="7315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4" name="Shape 202"/>
          <p:cNvSpPr/>
          <p:nvPr/>
        </p:nvSpPr>
        <p:spPr>
          <a:xfrm>
            <a:off x="73152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5" name="Shape 203"/>
          <p:cNvSpPr/>
          <p:nvPr/>
        </p:nvSpPr>
        <p:spPr>
          <a:xfrm>
            <a:off x="73152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6" name="Shape 204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Shape 205"/>
          <p:cNvSpPr/>
          <p:nvPr/>
        </p:nvSpPr>
        <p:spPr>
          <a:xfrm>
            <a:off x="7772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8" name="Shape 206"/>
          <p:cNvSpPr/>
          <p:nvPr/>
        </p:nvSpPr>
        <p:spPr>
          <a:xfrm>
            <a:off x="7772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Shape 207"/>
          <p:cNvSpPr/>
          <p:nvPr/>
        </p:nvSpPr>
        <p:spPr>
          <a:xfrm>
            <a:off x="7772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0" name="Shape 208"/>
          <p:cNvSpPr/>
          <p:nvPr/>
        </p:nvSpPr>
        <p:spPr>
          <a:xfrm>
            <a:off x="7772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Shape 209"/>
          <p:cNvSpPr/>
          <p:nvPr/>
        </p:nvSpPr>
        <p:spPr>
          <a:xfrm>
            <a:off x="7772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2" name="Shape 210"/>
          <p:cNvSpPr/>
          <p:nvPr/>
        </p:nvSpPr>
        <p:spPr>
          <a:xfrm>
            <a:off x="7772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Shape 211"/>
          <p:cNvSpPr/>
          <p:nvPr/>
        </p:nvSpPr>
        <p:spPr>
          <a:xfrm>
            <a:off x="7772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4" name="Shape 212"/>
          <p:cNvSpPr/>
          <p:nvPr/>
        </p:nvSpPr>
        <p:spPr>
          <a:xfrm>
            <a:off x="7772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Shape 213"/>
          <p:cNvSpPr/>
          <p:nvPr/>
        </p:nvSpPr>
        <p:spPr>
          <a:xfrm>
            <a:off x="7772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6" name="Shape 214"/>
          <p:cNvSpPr/>
          <p:nvPr/>
        </p:nvSpPr>
        <p:spPr>
          <a:xfrm>
            <a:off x="77724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7" name="Shape 215"/>
          <p:cNvSpPr/>
          <p:nvPr/>
        </p:nvSpPr>
        <p:spPr>
          <a:xfrm>
            <a:off x="77724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8" name="Shape 216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Shape 217"/>
          <p:cNvSpPr/>
          <p:nvPr/>
        </p:nvSpPr>
        <p:spPr>
          <a:xfrm>
            <a:off x="8229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0" name="Shape 218"/>
          <p:cNvSpPr/>
          <p:nvPr/>
        </p:nvSpPr>
        <p:spPr>
          <a:xfrm>
            <a:off x="8229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Shape 219"/>
          <p:cNvSpPr/>
          <p:nvPr/>
        </p:nvSpPr>
        <p:spPr>
          <a:xfrm>
            <a:off x="8229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2" name="Shape 220"/>
          <p:cNvSpPr/>
          <p:nvPr/>
        </p:nvSpPr>
        <p:spPr>
          <a:xfrm>
            <a:off x="8229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Shape 221"/>
          <p:cNvSpPr/>
          <p:nvPr/>
        </p:nvSpPr>
        <p:spPr>
          <a:xfrm>
            <a:off x="8229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4" name="Shape 222"/>
          <p:cNvSpPr/>
          <p:nvPr/>
        </p:nvSpPr>
        <p:spPr>
          <a:xfrm>
            <a:off x="8229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Shape 223"/>
          <p:cNvSpPr/>
          <p:nvPr/>
        </p:nvSpPr>
        <p:spPr>
          <a:xfrm>
            <a:off x="8229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6" name="Shape 224"/>
          <p:cNvSpPr/>
          <p:nvPr/>
        </p:nvSpPr>
        <p:spPr>
          <a:xfrm>
            <a:off x="8229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Shape 225"/>
          <p:cNvSpPr/>
          <p:nvPr/>
        </p:nvSpPr>
        <p:spPr>
          <a:xfrm>
            <a:off x="8229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8" name="Shape 226"/>
          <p:cNvSpPr/>
          <p:nvPr/>
        </p:nvSpPr>
        <p:spPr>
          <a:xfrm>
            <a:off x="82296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Shape 227"/>
          <p:cNvSpPr/>
          <p:nvPr/>
        </p:nvSpPr>
        <p:spPr>
          <a:xfrm>
            <a:off x="82296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0" name="Shape 228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Shape 229"/>
          <p:cNvSpPr/>
          <p:nvPr/>
        </p:nvSpPr>
        <p:spPr>
          <a:xfrm>
            <a:off x="8686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2" name="Shape 230"/>
          <p:cNvSpPr/>
          <p:nvPr/>
        </p:nvSpPr>
        <p:spPr>
          <a:xfrm>
            <a:off x="8686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Shape 231"/>
          <p:cNvSpPr/>
          <p:nvPr/>
        </p:nvSpPr>
        <p:spPr>
          <a:xfrm>
            <a:off x="8686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4" name="Shape 232"/>
          <p:cNvSpPr/>
          <p:nvPr/>
        </p:nvSpPr>
        <p:spPr>
          <a:xfrm>
            <a:off x="8686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Shape 233"/>
          <p:cNvSpPr/>
          <p:nvPr/>
        </p:nvSpPr>
        <p:spPr>
          <a:xfrm>
            <a:off x="8686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6" name="Shape 234"/>
          <p:cNvSpPr/>
          <p:nvPr/>
        </p:nvSpPr>
        <p:spPr>
          <a:xfrm>
            <a:off x="8686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Shape 235"/>
          <p:cNvSpPr/>
          <p:nvPr/>
        </p:nvSpPr>
        <p:spPr>
          <a:xfrm>
            <a:off x="8686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8" name="Shape 236"/>
          <p:cNvSpPr/>
          <p:nvPr/>
        </p:nvSpPr>
        <p:spPr>
          <a:xfrm>
            <a:off x="8686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Shape 237"/>
          <p:cNvSpPr/>
          <p:nvPr/>
        </p:nvSpPr>
        <p:spPr>
          <a:xfrm>
            <a:off x="8686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0" name="Shape 238"/>
          <p:cNvSpPr/>
          <p:nvPr/>
        </p:nvSpPr>
        <p:spPr>
          <a:xfrm>
            <a:off x="86868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Shape 239"/>
          <p:cNvSpPr/>
          <p:nvPr/>
        </p:nvSpPr>
        <p:spPr>
          <a:xfrm>
            <a:off x="86868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2" name="Shape 240"/>
          <p:cNvSpPr/>
          <p:nvPr/>
        </p:nvSpPr>
        <p:spPr>
          <a:xfrm>
            <a:off x="22559" y="1733450"/>
            <a:ext cx="9121441" cy="1710589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Shape 241"/>
          <p:cNvSpPr/>
          <p:nvPr/>
        </p:nvSpPr>
        <p:spPr>
          <a:xfrm>
            <a:off x="22559" y="1733450"/>
            <a:ext cx="106479" cy="17105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4" name="Text 242"/>
          <p:cNvSpPr/>
          <p:nvPr/>
        </p:nvSpPr>
        <p:spPr>
          <a:xfrm>
            <a:off x="365760" y="205740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kern="0" spc="100">
                <a:solidFill>
                  <a:srgbClr val="FFFFFF"/>
                </a:solidFill>
                <a:ea typeface="+mn-lt"/>
                <a:cs typeface="+mn-lt"/>
              </a:rPr>
              <a:t>Code to Cloud: The Full-Stack IoT Portfolio Workshop</a:t>
            </a:r>
            <a:endParaRPr lang="en-US"/>
          </a:p>
        </p:txBody>
      </p:sp>
      <p:sp>
        <p:nvSpPr>
          <p:cNvPr id="245" name="Text 243"/>
          <p:cNvSpPr/>
          <p:nvPr/>
        </p:nvSpPr>
        <p:spPr>
          <a:xfrm>
            <a:off x="365760" y="30145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Web Workshop</a:t>
            </a:r>
            <a:endParaRPr lang="en-US" sz="2000" dirty="0"/>
          </a:p>
        </p:txBody>
      </p:sp>
      <p:sp>
        <p:nvSpPr>
          <p:cNvPr id="246" name="Shape 244"/>
          <p:cNvSpPr/>
          <p:nvPr/>
        </p:nvSpPr>
        <p:spPr>
          <a:xfrm>
            <a:off x="457200" y="393192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7" name="Text 245"/>
          <p:cNvSpPr/>
          <p:nvPr/>
        </p:nvSpPr>
        <p:spPr>
          <a:xfrm>
            <a:off x="457200" y="39319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HTML</a:t>
            </a:r>
            <a:endParaRPr lang="en-US" sz="1000" dirty="0"/>
          </a:p>
        </p:txBody>
      </p:sp>
      <p:sp>
        <p:nvSpPr>
          <p:cNvPr id="248" name="Shape 246"/>
          <p:cNvSpPr/>
          <p:nvPr/>
        </p:nvSpPr>
        <p:spPr>
          <a:xfrm>
            <a:off x="2103120" y="393192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9" name="Text 247"/>
          <p:cNvSpPr/>
          <p:nvPr/>
        </p:nvSpPr>
        <p:spPr>
          <a:xfrm>
            <a:off x="2103120" y="39319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CSS</a:t>
            </a:r>
            <a:endParaRPr lang="en-US" sz="1000" dirty="0"/>
          </a:p>
        </p:txBody>
      </p:sp>
      <p:sp>
        <p:nvSpPr>
          <p:cNvPr id="250" name="Shape 248"/>
          <p:cNvSpPr/>
          <p:nvPr/>
        </p:nvSpPr>
        <p:spPr>
          <a:xfrm>
            <a:off x="3749040" y="3931920"/>
            <a:ext cx="1463040" cy="329184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1" name="Text 249"/>
          <p:cNvSpPr/>
          <p:nvPr/>
        </p:nvSpPr>
        <p:spPr>
          <a:xfrm>
            <a:off x="3749040" y="39319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 JavaScript</a:t>
            </a:r>
            <a:endParaRPr lang="en-US" sz="1000" dirty="0"/>
          </a:p>
        </p:txBody>
      </p:sp>
      <p:sp>
        <p:nvSpPr>
          <p:cNvPr id="252" name="Shape 2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7F66512-7AD8-70FA-B551-4B07D2086A61}"/>
              </a:ext>
            </a:extLst>
          </p:cNvPr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MY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6AC4B-56E3-B5A1-B0E5-DEAADE173F8A}"/>
              </a:ext>
            </a:extLst>
          </p:cNvPr>
          <p:cNvSpPr txBox="1"/>
          <p:nvPr/>
        </p:nvSpPr>
        <p:spPr>
          <a:xfrm>
            <a:off x="122035" y="112514"/>
            <a:ext cx="4575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Disclaimer Form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AEB9873-FEAA-BFD1-C888-06C4EC211754}"/>
              </a:ext>
            </a:extLst>
          </p:cNvPr>
          <p:cNvSpPr/>
          <p:nvPr/>
        </p:nvSpPr>
        <p:spPr>
          <a:xfrm>
            <a:off x="3693351" y="3974202"/>
            <a:ext cx="14561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MY" b="1" dirty="0"/>
              <a:t>EPF00005644</a:t>
            </a: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4A3DC-CE76-5B6E-FAB2-8A0B9A37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389" y="783762"/>
            <a:ext cx="3165523" cy="316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3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web dashboard that talks to an ESP32 microcontroller via Firebase cloud.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269748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2075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page layout with semantic tags: headings, divs, inputs, buttons, and text spans.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2423160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27832" y="16916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3227832" y="1691640"/>
            <a:ext cx="269748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3227832" y="16916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30752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30752" y="2075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25146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look great — colors, spacing, cards, responsive layout, and flexbox.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64992" y="4114800"/>
            <a:ext cx="2423160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3364992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35624" y="16916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6135624" y="1691640"/>
            <a:ext cx="269748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6135624" y="16916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638544" y="1737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38544" y="2075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+ Firebase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25146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Firebase Realtime Database, listen for data changes, and send commands.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72784" y="4114800"/>
            <a:ext cx="2423160" cy="256032"/>
          </a:xfrm>
          <a:prstGeom prst="roundRect">
            <a:avLst>
              <a:gd name="adj" fmla="val 2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6272784" y="4114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HTML —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HTML?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(HyperText Markup Language) is the skeleton of every webpage. It defines what content exists and how it is structured — not how it looks.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29768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 … &lt;h6&gt;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— page titles and section names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29768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2953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— blocks of text content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429768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— groups related elements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0233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429768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&lt;span&gt;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4325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container — highlights a value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19659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2423160" y="19659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2532888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3288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control — slider, text box, etc.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23160" y="26517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2423160" y="26517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Text 27"/>
          <p:cNvSpPr/>
          <p:nvPr/>
        </p:nvSpPr>
        <p:spPr>
          <a:xfrm>
            <a:off x="2532888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32888" y="2953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action trigger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23160" y="33375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2423160" y="33375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Text 31"/>
          <p:cNvSpPr/>
          <p:nvPr/>
        </p:nvSpPr>
        <p:spPr>
          <a:xfrm>
            <a:off x="2532888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32888" y="3639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JavaScript logic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23160" y="40233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6" name="Shape 34"/>
          <p:cNvSpPr/>
          <p:nvPr/>
        </p:nvSpPr>
        <p:spPr>
          <a:xfrm>
            <a:off x="2423160" y="4023360"/>
            <a:ext cx="457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7" name="Text 35"/>
          <p:cNvSpPr/>
          <p:nvPr/>
        </p:nvSpPr>
        <p:spPr>
          <a:xfrm>
            <a:off x="2532888" y="4059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&lt;link&gt;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32888" y="4325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external CSS stylesheet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webpage's anatomy: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663440" y="1170432"/>
            <a:ext cx="41148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1" name="Text 39"/>
          <p:cNvSpPr/>
          <p:nvPr/>
        </p:nvSpPr>
        <p:spPr>
          <a:xfrm>
            <a:off x="4800600" y="1261872"/>
            <a:ext cx="3840480" cy="3566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50" dirty="0"/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>
              <a:solidFill>
                <a:srgbClr val="000000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>
              <a:latin typeface="Consolas"/>
              <a:ea typeface="Calibri" panose="020F0502020204030204"/>
              <a:cs typeface="Calibri" panose="020F0502020204030204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  &lt;title&gt;</a:t>
            </a:r>
            <a:endParaRPr lang="en-US" sz="950" dirty="0">
              <a:solidFill>
                <a:srgbClr val="000000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  &lt;link&gt;</a:t>
            </a:r>
            <a:endParaRPr lang="en-US" sz="950" dirty="0">
              <a:latin typeface="Consolas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&lt;/head&gt;d&gt;</a:t>
            </a:r>
            <a:endParaRPr lang="en-US" sz="950" dirty="0">
              <a:latin typeface="Consolas"/>
              <a:ea typeface="Calibri"/>
              <a:cs typeface="Calibri"/>
            </a:endParaRPr>
          </a:p>
          <a:p>
            <a:endParaRPr lang="en-US" sz="950" dirty="0">
              <a:solidFill>
                <a:srgbClr val="94D4FF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950" dirty="0">
              <a:latin typeface="Consolas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  &lt;h1&gt;</a:t>
            </a:r>
            <a:endParaRPr lang="en-US" sz="950" dirty="0">
              <a:latin typeface="Consolas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&lt;div&gt;</a:t>
            </a:r>
            <a:endParaRPr lang="en-US" sz="950" dirty="0">
              <a:latin typeface="Consolas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&lt;p&gt;</a:t>
            </a:r>
            <a:endParaRPr lang="en-US" sz="950" dirty="0">
              <a:solidFill>
                <a:srgbClr val="000000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&lt;/div&gt;</a:t>
            </a:r>
            <a:endParaRPr lang="en-US" sz="950" dirty="0">
              <a:latin typeface="Consolas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endParaRPr lang="en-US" sz="950" dirty="0">
              <a:solidFill>
                <a:srgbClr val="000000"/>
              </a:solidFill>
              <a:latin typeface="Consolas"/>
              <a:ea typeface="Calibri" panose="020F0502020204030204"/>
              <a:cs typeface="Calibri" panose="020F0502020204030204"/>
            </a:endParaRPr>
          </a:p>
          <a:p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  &lt;script&gt;</a:t>
            </a:r>
            <a:endParaRPr lang="en-US" sz="9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950" dirty="0"/>
          </a:p>
          <a:p>
            <a:endParaRPr lang="en-US" sz="950" dirty="0">
              <a:solidFill>
                <a:srgbClr val="94D4FF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50" dirty="0">
              <a:latin typeface="Consola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Head &amp; Servo Card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Page Head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Servo Control Card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50314" y="4690983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*id attributes let JavaScript find and update these elements in real time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2C088D7-2478-154E-F1E9-991F21655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49438"/>
              </p:ext>
            </p:extLst>
          </p:nvPr>
        </p:nvGraphicFramePr>
        <p:xfrm>
          <a:off x="320040" y="987663"/>
          <a:ext cx="4114800" cy="368993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93568674"/>
                    </a:ext>
                  </a:extLst>
                </a:gridCol>
              </a:tblGrid>
              <a:tr h="363005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&lt;!DOCTYPE html&gt;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html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9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lang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MY" sz="900" b="0" i="0" u="none" strike="noStrike" dirty="0" err="1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en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head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1" u="none" strike="noStrike" dirty="0">
                          <a:solidFill>
                            <a:srgbClr val="57A64A"/>
                          </a:solidFill>
                          <a:effectLst/>
                          <a:latin typeface="Consolas" panose="020B0609020204030204" pitchFamily="49" charset="0"/>
                        </a:rPr>
                        <a:t>&lt;!-- Character encoding --&gt;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meta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9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charset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"UTF-8"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/&gt;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1" u="none" strike="noStrike" dirty="0">
                          <a:solidFill>
                            <a:srgbClr val="57A64A"/>
                          </a:solidFill>
                          <a:effectLst/>
                          <a:latin typeface="Consolas" panose="020B0609020204030204" pitchFamily="49" charset="0"/>
                        </a:rPr>
                        <a:t>&lt;!-- Mobile scaling --&gt;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meta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9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name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"viewport"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content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"width=device-width,​</a:t>
                      </a:r>
                      <a:b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initial-scale=1.0"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/&gt;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title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ESP32 Dashboard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title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r>
                        <a:rPr lang="en-MY" sz="900" b="0" i="1" u="none" strike="noStrike" dirty="0">
                          <a:solidFill>
                            <a:srgbClr val="57A64A"/>
                          </a:solidFill>
                          <a:effectLst/>
                          <a:latin typeface="Consolas" panose="020B0609020204030204" pitchFamily="49" charset="0"/>
                        </a:rPr>
                        <a:t>&lt;!-- Load CSS styles --&gt;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link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900" b="0" i="0" u="none" strike="noStrike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rel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"stylesheet"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900" b="0" i="0" u="none" strike="noStrike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href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"styles.css"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/&gt;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head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body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h1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ESP32 Firebase Dashboard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h1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1" u="none" strike="noStrike" dirty="0">
                          <a:solidFill>
                            <a:srgbClr val="57A64A"/>
                          </a:solidFill>
                          <a:effectLst/>
                          <a:latin typeface="Consolas" panose="020B0609020204030204" pitchFamily="49" charset="0"/>
                        </a:rPr>
                        <a:t>&lt;!-- Connection status --&gt;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9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"status"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9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9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"status"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Connecting...​</a:t>
                      </a:r>
                      <a:b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9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r>
                        <a:rPr lang="en-MY" sz="9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9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​</a:t>
                      </a:r>
                      <a:endParaRPr lang="en-MY" sz="2000" dirty="0">
                        <a:effectLst/>
                      </a:endParaRPr>
                    </a:p>
                  </a:txBody>
                  <a:tcPr marL="61887" marR="61887" marT="61887" marB="6188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966183"/>
                  </a:ext>
                </a:extLst>
              </a:tr>
            </a:tbl>
          </a:graphicData>
        </a:graphic>
      </p:graphicFrame>
      <p:sp>
        <p:nvSpPr>
          <p:cNvPr id="14" name="Rectangle 1">
            <a:extLst>
              <a:ext uri="{FF2B5EF4-FFF2-40B4-BE49-F238E27FC236}">
                <a16:creationId xmlns:a16="http://schemas.microsoft.com/office/drawing/2014/main" id="{FD4731E8-4D97-C3DA-DAFC-0B1CC639E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121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MY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17D9C09-0242-4040-8F3E-F667FB3E0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204301"/>
              </p:ext>
            </p:extLst>
          </p:nvPr>
        </p:nvGraphicFramePr>
        <p:xfrm>
          <a:off x="4709160" y="1035368"/>
          <a:ext cx="4114800" cy="362807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249871092"/>
                    </a:ext>
                  </a:extLst>
                </a:gridCol>
              </a:tblGrid>
              <a:tr h="362807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div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"card"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h2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Servo Control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h2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1" u="none" strike="noStrike" dirty="0">
                          <a:solidFill>
                            <a:srgbClr val="57A64A"/>
                          </a:solidFill>
                          <a:effectLst/>
                          <a:latin typeface="Consolas" panose="020B0609020204030204" pitchFamily="49" charset="0"/>
                        </a:rPr>
                        <a:t>&lt;!-- Live angle from slider --&gt;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  Angle: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span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MY" sz="1000" b="0" i="0" u="none" strike="noStrike" dirty="0" err="1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angleValue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90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span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°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1" u="none" strike="noStrike" dirty="0">
                          <a:solidFill>
                            <a:srgbClr val="57A64A"/>
                          </a:solidFill>
                          <a:effectLst/>
                          <a:latin typeface="Consolas" panose="020B0609020204030204" pitchFamily="49" charset="0"/>
                        </a:rPr>
                        <a:t>&lt;!-- Slider 0-180 degrees --&gt;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input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MY" sz="1000" b="0" i="0" u="none" strike="noStrike" dirty="0" err="1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angleSlider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b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type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"range"</a:t>
                      </a:r>
                      <a:b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min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"0"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max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"180"</a:t>
                      </a:r>
                      <a:b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"90"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1" u="none" strike="noStrike" dirty="0">
                          <a:solidFill>
                            <a:srgbClr val="57A64A"/>
                          </a:solidFill>
                          <a:effectLst/>
                          <a:latin typeface="Consolas" panose="020B0609020204030204" pitchFamily="49" charset="0"/>
                        </a:rPr>
                        <a:t>&lt;!-- Angle stored in Firebase --&gt;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  ESP32 reads: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span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MY" sz="1000" b="0" i="0" u="none" strike="noStrike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id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MY" sz="1000" b="0" i="0" u="none" strike="noStrike" dirty="0" err="1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servoAngle</a:t>
                      </a:r>
                      <a:r>
                        <a:rPr lang="en-MY" sz="1000" b="0" i="0" u="none" strike="noStrike" dirty="0">
                          <a:solidFill>
                            <a:srgbClr val="D69D8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90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span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°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MY" sz="1000" b="0" i="0" u="none" strike="noStrike" dirty="0">
                          <a:solidFill>
                            <a:srgbClr val="DCDCD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&lt;/</a:t>
                      </a:r>
                      <a:r>
                        <a:rPr lang="en-MY" sz="1000" b="0" i="0" u="none" strike="noStrike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div</a:t>
                      </a:r>
                      <a:r>
                        <a:rPr lang="en-MY" sz="1000" b="0" i="0" u="none" strike="noStrike" dirty="0">
                          <a:solidFill>
                            <a:srgbClr val="9B9B9B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en-MY" sz="2400" dirty="0">
                        <a:effectLst/>
                      </a:endParaRPr>
                    </a:p>
                  </a:txBody>
                  <a:tcPr marL="60573" marR="60573" marT="60573" marB="6057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948765"/>
                  </a:ext>
                </a:extLst>
              </a:tr>
            </a:tbl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55164564-4E9B-B862-FCD4-BA751D3FB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9422" y="1035368"/>
            <a:ext cx="940662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MY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IR Sensor &amp; Messages Card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IR Sensor Card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&lt;h2&gt;IR Sensor&lt;/h2&gt;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Detected YES / NO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Detected: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id="irDetected"&gt;--&lt;/span&gt;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Raw numeric value --&gt;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id="irRaw"&gt;--&lt;/span&gt;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Message Terminal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840480" cy="3749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&lt;h2&gt;Messages&lt;/h2&gt;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&lt;!-- Scrollable message log --&gt;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&lt;div id="messages"&gt;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No messages yet.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&lt;!-- Input + send button --&gt;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&lt;div class="row"&gt;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&lt;input id="</a:t>
            </a:r>
            <a:r>
              <a:rPr lang="en-US" sz="9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msgInput</a:t>
            </a: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type="text"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placeholder="Type a message"&gt;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&lt;button id="</a:t>
            </a:r>
            <a:r>
              <a:rPr lang="en-US" sz="9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sendBtn</a:t>
            </a: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Send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&lt;/button&gt;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9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&lt;!-- Load JavaScript logic --&gt;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&lt;script type="module" </a:t>
            </a:r>
            <a:r>
              <a:rPr lang="en-US" sz="9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src</a:t>
            </a: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="app.js"&gt;</a:t>
            </a:r>
            <a:endParaRPr lang="en-US" sz="9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900" dirty="0">
              <a:latin typeface="Consolas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→ Firebase path mapping: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233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#angleSlider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42336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servo/angle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4416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#irDetected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4416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ir/detected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4599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#irRaw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4599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ir/raw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4782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#messages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4782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serial/message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CSS — Styling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CSS?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(Cascading Style Sheets) controls how HTML looks. Without CSS, every page looks identical — plain black text on white.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CSS Rule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02336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            ← selector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#fff;  ← property: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18px;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3401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320040" y="340156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  Box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9044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 ·  border  ·  padding  ·  content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7832" y="3401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3227832" y="340156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3364992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Colors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64992" y="39044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background, color, border-color — hex or named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35624" y="34015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6135624" y="3401568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272784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⇔  Flexbox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72784" y="390448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display:flex · gap · justify-content · align-items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Result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48006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Control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743200"/>
            <a:ext cx="3840480" cy="1371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Text 26"/>
          <p:cNvSpPr/>
          <p:nvPr/>
        </p:nvSpPr>
        <p:spPr>
          <a:xfrm>
            <a:off x="4759838" y="3019889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{ border-radius: 10px; padding: 18px; 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Full Stylesheet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411480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Global ──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Arial, sans-serif;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700px;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30px auto;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#f4f4f4;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#222;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Cards ──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#fff;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#ddd;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10px;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18px;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margin-bottom: 18px;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h1, h2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.status { font-weight: bold;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input[type="range"] { width: 100%; 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09160" y="713232"/>
            <a:ext cx="411480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846320" y="804672"/>
            <a:ext cx="3840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Message Terminal ──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#messages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180px;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overflow-y: auto;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#ccc;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#fafafa;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white-space: pre-wrap;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Row Layout ──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.row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10px;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input[type="text"]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8px;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8px 14px;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cursor: pointer;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5010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Centers the dashboard and sets max width to 700 px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5010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flex makes the input grow and button stay fixed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JavaScript — Logic + Firebase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JavaScript?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is the brain of the webpage. It reads inputs, calls Firebase, and updates the display — all without reloading the page.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219456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/ Button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057400"/>
            <a:ext cx="2194560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347472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2057400"/>
            <a:ext cx="2194560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658368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/ 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583180"/>
            <a:ext cx="9144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2560320" y="233353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set(ref, value)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flipV="1">
            <a:off x="5669280" y="2555638"/>
            <a:ext cx="914400" cy="13771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5662394" y="22371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onValue(ref, cb)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45720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438912" y="34107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Firebase SDK modules at the top of app.js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73552" y="333756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3273552" y="333756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3392424" y="34107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App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92424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initializeApp(config) with your project credentials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27064" y="333756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6227064" y="3337560"/>
            <a:ext cx="4572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6345936" y="34107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DOM Elements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45936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getElementById to grab HTML controls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3434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320040" y="4343400"/>
            <a:ext cx="45720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438912" y="4416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&amp; Update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8912" y="4709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onValue() watches Firebase and updates the page instantly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73552" y="4343400"/>
            <a:ext cx="2743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3273552" y="4343400"/>
            <a:ext cx="45720" cy="8412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3392424" y="4416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Firebase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92424" y="4709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set(ref(db, path), value) pushes a new value to the cloud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Firebase Setup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1 &amp; 2 · Import + Initialize Firebase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34924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5074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Part 1: Import Firebase SDK ── */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initializeApp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"https://www.gstatic.com/firebasejs/10.12.0/firebase-app.js";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getAuth, signInAnonymously, onAuthStateChanged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"https://www.gstatic.com/firebasejs/10.12.0/firebase-auth.js";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getDatabase, ref, onValue, set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"https://www.gstatic.com/firebasejs/10.12.0/firebase-database.js";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Part 2: Your Firebase Project Config ── */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firebaseConfig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apiKey:            "YOUR_API_KEY",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authDomain:        "YOUR_PROJECT.firebaseapp.com",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databaseURL:       "https://YOUR_PROJECT.region.firebasedatabase.app",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projectId:         "YOUR_PROJECT",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storageBucket:     "YOUR_PROJECT.appspot.com",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messagingSenderId: "XXXX",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appId:             "XXXX"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 = initializeApp(firebaseConfig);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auth = getAuth(app);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   = getDatabase(app);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0" y="685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 Setup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097280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585216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91072" y="1078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91072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console.firebase.google.com → Add 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1444752"/>
            <a:ext cx="0" cy="7315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5852160" y="2130552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585216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1122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Realtime DB → Start in Test Mode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25896" y="2478024"/>
            <a:ext cx="0" cy="7315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5852160" y="3163824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585216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1072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1072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Auth → Enable Anonymous Sign-In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25896" y="3511296"/>
            <a:ext cx="0" cy="7315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5852160" y="4197096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585216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1072" y="4178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Config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4443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Your Apps → Web → copy block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DOM Elements + Event Listeners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Get HTML Elements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6925" y="1024128"/>
            <a:ext cx="4107915" cy="182615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326375" y="1026056"/>
            <a:ext cx="3881793" cy="18223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/* Get references to HTML elements */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statusEl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("status");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angleSlider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angleSlider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angleValue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angleValue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servoAngle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servoAngle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irDetected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irDetected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irRaw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irRaw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messages  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("messages");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msgInput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msgInput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sendBtn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=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sendBtn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");</a:t>
            </a:r>
            <a:endParaRPr lang="en-US" sz="800">
              <a:latin typeface="Consolas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83381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Slider Event Listener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103286"/>
            <a:ext cx="4107915" cy="193924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326374" y="3105214"/>
            <a:ext cx="3874908" cy="15704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angleSlider.addEventListener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("input", () =&gt;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const angle = Number(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angleSlider.value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// Update display immediately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angleValue.textContent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angle;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// Write to Firebase → ESP32 reads this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set(ref(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"servo/msgTitle"), angle);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sendBtn.addEventListener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("click",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sendWebMessage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8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msgInput.addEventListener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keydown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", (e) =&gt; {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if (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e.key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=== "Enter") </a:t>
            </a:r>
            <a:r>
              <a:rPr lang="en-US" sz="8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sendWebMessage</a:t>
            </a: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();</a:t>
            </a:r>
            <a:endParaRPr lang="en-US" sz="80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800">
              <a:latin typeface="Consolas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Send Message Function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11480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846320" y="1115568"/>
            <a:ext cx="38404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sendWebMessage()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text = msgInput.value.trim();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Ignore empty input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(!text) return;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Show in local 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addMessage(text, "Web");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Clear the input box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msgInput.value = "";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Push to Firebase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set(ref(db, "serial/message"),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text: text,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source: "web"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addMessage(text, source)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(messages.textContent === "No messages yet.")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messages.textContent = "";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messages.textContent += `[${source}] ${text}\n`;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messages.scrollTop = messages.scrollHeight;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Firebase Real-Time Listeners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Listen for Changes from Firebase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48640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5212080" cy="3977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/* ── Sign In Anonymously ── */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signInAnonymously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(auth).catch(err =&gt; {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statusEl.textContent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"Auth failed";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/* ── Once signed in, attach all listeners ── */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onAuthStateChanged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(auth, (user) =&gt; {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if (!user) {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statusEl.textContent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"Connecting..."; return; }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statusEl.textContent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"✓ Connected";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/* SERVO — sync slider with ESP32 angle */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onValue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(ref(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"servo/msgTitle"), (snap) =&gt; {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const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snap.val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(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=== null) return;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angleSlider.value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angleValue.textContent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servoAngle.textContent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});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/* IR SENSOR — obstacle detected */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onValue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(ref(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sensor/obstacle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"), (snap) =&gt; {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const data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snap.val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(!data) return;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irRaw.textContent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irDetected.textContent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=== 0 ? "YES" : "NO";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});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/* MESSAGES — display ESP32 replies */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onValue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(ref(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"serial/message"), (snap) =&gt; {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const data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snap.val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(!data || !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data.text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) return;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if (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data.source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=== "esp32" &amp;&amp;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data.text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!==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lastEspMsg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) {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lastEspMsg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data.text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addMessage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600" dirty="0" err="1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data.text</a:t>
            </a: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"ESP32");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}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});</a:t>
            </a:r>
            <a:endParaRPr lang="en-US" sz="60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600" dirty="0">
                <a:solidFill>
                  <a:srgbClr val="94D4FF"/>
                </a:solidFill>
                <a:latin typeface="Consolas"/>
                <a:ea typeface="Consolas" pitchFamily="34" charset="-122"/>
                <a:cs typeface="Consolas" pitchFamily="34" charset="-120"/>
              </a:rPr>
              <a:t>});</a:t>
            </a:r>
            <a:endParaRPr lang="en-US" sz="600" dirty="0">
              <a:latin typeface="Consolas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89320" y="1024128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5989320" y="1024128"/>
            <a:ext cx="4572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126480" y="1115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onValue()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4081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every time the Firebase path changes — no polling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2075688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5989320" y="2075688"/>
            <a:ext cx="4572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126480" y="2167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snap.val()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4597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current data at that path (null if nothing saved yet)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3127248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5989320" y="3127248"/>
            <a:ext cx="4572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126480" y="3218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5112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no login required — Firebase still knows each session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4178808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5989320" y="4178808"/>
            <a:ext cx="4572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126480" y="42702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lastEspMsg guard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45628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re-showing a message already displayed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database looks like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5720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"servo":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"msgTitle": 90        ← set by Web slider → ESP32 reads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"sensor":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"obstacle": 0,        ← set by ESP32 (0=detected, 1=clear)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"serial":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"text":   "hello",  ← set by Web or ESP32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"source": "web"     ← who sent it: "web" | "esp32"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74920" y="1097280"/>
            <a:ext cx="3749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5074920" y="1097280"/>
            <a:ext cx="45720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521208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servo/msgTitle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0" y="148132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→ ESP32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value (0–180) written by browser, read by ESP32 to move servo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2084832"/>
            <a:ext cx="3749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5074920" y="2084832"/>
            <a:ext cx="45720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5212080" y="21762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sensor/obstacle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→ Web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Integer: 0 = object detected, 1 = clear (digitalRead behaviour)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3072384"/>
            <a:ext cx="3749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5074920" y="3072384"/>
            <a:ext cx="45720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5212080" y="3163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45643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4059936"/>
            <a:ext cx="37490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5074920" y="4059936"/>
            <a:ext cx="45720" cy="8961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212080" y="4151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serial/message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444398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source — used for two-way chat between browser and ESP32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S Syntax Part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MY"/>
          </a:p>
        </p:txBody>
      </p:sp>
      <p:sp>
        <p:nvSpPr>
          <p:cNvPr id="4" name="Title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JavaScript Syntax — Variables, Functions &amp; Events</a:t>
            </a:r>
          </a:p>
        </p:txBody>
      </p:sp>
      <p:sp>
        <p:nvSpPr>
          <p:cNvPr id="5" name="Subtitle"/>
          <p:cNvSpPr/>
          <p:nvPr/>
        </p:nvSpPr>
        <p:spPr>
          <a:xfrm>
            <a:off x="3200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</a:rPr>
              <a:t>Key syntax used in app.js — explained line by line</a:t>
            </a:r>
          </a:p>
        </p:txBody>
      </p:sp>
      <p:sp>
        <p:nvSpPr>
          <p:cNvPr id="6" name="Box1Bg"/>
          <p:cNvSpPr/>
          <p:nvPr/>
        </p:nvSpPr>
        <p:spPr>
          <a:xfrm>
            <a:off x="320040" y="1024128"/>
            <a:ext cx="41148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Box1Content"/>
          <p:cNvSpPr/>
          <p:nvPr/>
        </p:nvSpPr>
        <p:spPr>
          <a:xfrm>
            <a:off x="457200" y="1060848"/>
            <a:ext cx="3977640" cy="184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const  and  let — Declaring Variables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const angleSlider = document.getElementById(...);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let lastEspMsg = "";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const — value never reassigned (use by default)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let — value can change later (e.g. lastEspMsg)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var — old style, avoid in modern JS</a:t>
            </a:r>
          </a:p>
        </p:txBody>
      </p:sp>
      <p:sp>
        <p:nvSpPr>
          <p:cNvPr id="8" name="Box2Bg"/>
          <p:cNvSpPr/>
          <p:nvPr/>
        </p:nvSpPr>
        <p:spPr>
          <a:xfrm>
            <a:off x="320040" y="3035640"/>
            <a:ext cx="4114800" cy="2069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Box2Content"/>
          <p:cNvSpPr/>
          <p:nvPr/>
        </p:nvSpPr>
        <p:spPr>
          <a:xfrm>
            <a:off x="457200" y="3072360"/>
            <a:ext cx="3977640" cy="19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Arrow Functions  () =&gt; { }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angleSlider.addEventListener("input", () =&gt; {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  const angle = Number(angleSlider.value);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});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() =&gt; { }  is shorthand for  function() {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(e) =&gt; { }  receives an event object as parameter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Used everywhere callbacks are needed</a:t>
            </a:r>
          </a:p>
        </p:txBody>
      </p:sp>
      <p:sp>
        <p:nvSpPr>
          <p:cNvPr id="10" name="Box3Bg"/>
          <p:cNvSpPr/>
          <p:nvPr/>
        </p:nvSpPr>
        <p:spPr>
          <a:xfrm>
            <a:off x="4663920" y="1024128"/>
            <a:ext cx="41601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Box3Content"/>
          <p:cNvSpPr/>
          <p:nvPr/>
        </p:nvSpPr>
        <p:spPr>
          <a:xfrm>
            <a:off x="4801080" y="1060848"/>
            <a:ext cx="4023000" cy="184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addEventListener — Reacting to Events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sendBtn.addEventListener("click", sendWebMessage);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msgInput.addEventListener("keydown", (e) =&gt; {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  if (e.key === "Enter") sendWebMessage();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});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element.addEventListener(event, callback)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Runs callback when event fires on element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Common events: click, input, keydown, change</a:t>
            </a:r>
          </a:p>
        </p:txBody>
      </p:sp>
      <p:sp>
        <p:nvSpPr>
          <p:cNvPr id="12" name="Box4Bg"/>
          <p:cNvSpPr/>
          <p:nvPr/>
        </p:nvSpPr>
        <p:spPr>
          <a:xfrm>
            <a:off x="4663920" y="3035640"/>
            <a:ext cx="4160160" cy="2069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Box4Content"/>
          <p:cNvSpPr/>
          <p:nvPr/>
        </p:nvSpPr>
        <p:spPr>
          <a:xfrm>
            <a:off x="4801080" y="3072360"/>
            <a:ext cx="4023000" cy="19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Template Literals — Dynamic Strings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// Old way (string concatenation):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"[" + source + "] " + text + "\n"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// New way (template literal with backticks):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`[${source}] ${text}\n`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Use backtick  `  not a quote  "  or  '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${ }  inserts any JS expression inside the string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S Syntax Part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Bar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22C55E"/>
          </a:solidFill>
        </p:spPr>
        <p:txBody>
          <a:bodyPr/>
          <a:lstStyle/>
          <a:p>
            <a:endParaRPr lang="en-MY"/>
          </a:p>
        </p:txBody>
      </p:sp>
      <p:sp>
        <p:nvSpPr>
          <p:cNvPr id="4" name="Title"/>
          <p:cNvSpPr/>
          <p:nvPr/>
        </p:nvSpPr>
        <p:spPr>
          <a:xfrm>
            <a:off x="2286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JavaScript Syntax — Conditions, Callbacks &amp; Comparisons</a:t>
            </a:r>
          </a:p>
        </p:txBody>
      </p:sp>
      <p:sp>
        <p:nvSpPr>
          <p:cNvPr id="5" name="Subtitle"/>
          <p:cNvSpPr/>
          <p:nvPr/>
        </p:nvSpPr>
        <p:spPr>
          <a:xfrm>
            <a:off x="32004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</a:rPr>
              <a:t>More patterns from app.js — explained line by line</a:t>
            </a:r>
          </a:p>
        </p:txBody>
      </p:sp>
      <p:sp>
        <p:nvSpPr>
          <p:cNvPr id="6" name="Box1Bg"/>
          <p:cNvSpPr/>
          <p:nvPr/>
        </p:nvSpPr>
        <p:spPr>
          <a:xfrm>
            <a:off x="320040" y="1024128"/>
            <a:ext cx="41148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Box1Content"/>
          <p:cNvSpPr/>
          <p:nvPr/>
        </p:nvSpPr>
        <p:spPr>
          <a:xfrm>
            <a:off x="457200" y="1060848"/>
            <a:ext cx="3977640" cy="184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if  and Guard Clauses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if (val === null) return;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if (!text) return;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if (!data || !data.text) return;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Guard clause: exit early if data is not ready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!x  means  "x is falsy" (null, 0, "", undefined)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||  means  "or" — either condition triggers exit</a:t>
            </a:r>
          </a:p>
        </p:txBody>
      </p:sp>
      <p:sp>
        <p:nvSpPr>
          <p:cNvPr id="8" name="Box2Bg"/>
          <p:cNvSpPr/>
          <p:nvPr/>
        </p:nvSpPr>
        <p:spPr>
          <a:xfrm>
            <a:off x="320040" y="3035640"/>
            <a:ext cx="4114800" cy="2069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Box2Content"/>
          <p:cNvSpPr/>
          <p:nvPr/>
        </p:nvSpPr>
        <p:spPr>
          <a:xfrm>
            <a:off x="457200" y="3072360"/>
            <a:ext cx="3977640" cy="19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Ternary Operator — Inline if/else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irDetected.textContent = val === 0 ? "YES" : "NO";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condition ? valueIfTrue : valueIfFalse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IR sensor: 0 = object detected, 1 = clear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Shorter than writing a full if/else block</a:t>
            </a:r>
          </a:p>
        </p:txBody>
      </p:sp>
      <p:sp>
        <p:nvSpPr>
          <p:cNvPr id="10" name="Box3Bg"/>
          <p:cNvSpPr/>
          <p:nvPr/>
        </p:nvSpPr>
        <p:spPr>
          <a:xfrm>
            <a:off x="4663920" y="1024128"/>
            <a:ext cx="41601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Box3Content"/>
          <p:cNvSpPr/>
          <p:nvPr/>
        </p:nvSpPr>
        <p:spPr>
          <a:xfrm>
            <a:off x="4801080" y="1060848"/>
            <a:ext cx="4023000" cy="184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onValue Callback — snap.val()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onValue(ref(db, "servo/msgTitle"), (snap) =&gt; {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  const val = snap.val();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  if (val === null) return;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  angleSlider.value = val;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});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snap  is a DataSnapshot object from Firebase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snap.val()  extracts the raw JS value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Returns null if the path has no data yet</a:t>
            </a:r>
          </a:p>
        </p:txBody>
      </p:sp>
      <p:sp>
        <p:nvSpPr>
          <p:cNvPr id="12" name="Box4Bg"/>
          <p:cNvSpPr/>
          <p:nvPr/>
        </p:nvSpPr>
        <p:spPr>
          <a:xfrm>
            <a:off x="4663920" y="3035640"/>
            <a:ext cx="4160160" cy="2069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Box4Content"/>
          <p:cNvSpPr/>
          <p:nvPr/>
        </p:nvSpPr>
        <p:spPr>
          <a:xfrm>
            <a:off x="4801080" y="3072360"/>
            <a:ext cx="4023000" cy="1996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</a:rPr>
              <a:t>===  Strict Equality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if (val === null) return;       // exact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if (data.source === "esp32") ...  // exact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94D4FF"/>
                </a:solidFill>
                <a:latin typeface="Consolas" pitchFamily="34" charset="0"/>
              </a:rPr>
              <a:t>if (val === 0) ...              // exact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===  checks value AND type (always use this)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==  only checks value — can cause surprises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</a:rPr>
              <a:t>!==  is "not equal" (strict)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fully working real-time IoT dashboard. Here's what each file does: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 · 3 technologies · 1 live 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283464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283464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84048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377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B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Structure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7432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3 cards: Servo, IR Sensor, Messages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41071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id attributes so JS can find each element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4078224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styles.css and app.js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084832"/>
            <a:ext cx="283464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3246120" y="2084832"/>
            <a:ext cx="28346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3355848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5848" y="2377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B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Styling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27432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dashboard at 700 px max-width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341071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cards with border-radius + shadow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4078224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flexbox for the message input row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084832"/>
            <a:ext cx="283464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6217920" y="2084832"/>
            <a:ext cx="28346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6327648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2377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B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Logic + Firebase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27648" y="27432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Firebase SDK (app, auth, database)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341071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slider value → servo/msgTitle on every move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4078224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to sensor/obstacle and serial/message with onValue()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2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457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457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457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457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457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457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457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Shape 25"/>
          <p:cNvSpPr/>
          <p:nvPr/>
        </p:nvSpPr>
        <p:spPr>
          <a:xfrm>
            <a:off x="914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8" name="Shape 26"/>
          <p:cNvSpPr/>
          <p:nvPr/>
        </p:nvSpPr>
        <p:spPr>
          <a:xfrm>
            <a:off x="914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914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914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914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Shape 30"/>
          <p:cNvSpPr/>
          <p:nvPr/>
        </p:nvSpPr>
        <p:spPr>
          <a:xfrm>
            <a:off x="914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3" name="Shape 31"/>
          <p:cNvSpPr/>
          <p:nvPr/>
        </p:nvSpPr>
        <p:spPr>
          <a:xfrm>
            <a:off x="914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914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914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7"/>
          <p:cNvSpPr/>
          <p:nvPr/>
        </p:nvSpPr>
        <p:spPr>
          <a:xfrm>
            <a:off x="1371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Shape 38"/>
          <p:cNvSpPr/>
          <p:nvPr/>
        </p:nvSpPr>
        <p:spPr>
          <a:xfrm>
            <a:off x="1371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1" name="Shape 39"/>
          <p:cNvSpPr/>
          <p:nvPr/>
        </p:nvSpPr>
        <p:spPr>
          <a:xfrm>
            <a:off x="1371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Shape 40"/>
          <p:cNvSpPr/>
          <p:nvPr/>
        </p:nvSpPr>
        <p:spPr>
          <a:xfrm>
            <a:off x="1371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Shape 41"/>
          <p:cNvSpPr/>
          <p:nvPr/>
        </p:nvSpPr>
        <p:spPr>
          <a:xfrm>
            <a:off x="1371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Shape 42"/>
          <p:cNvSpPr/>
          <p:nvPr/>
        </p:nvSpPr>
        <p:spPr>
          <a:xfrm>
            <a:off x="1371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Shape 43"/>
          <p:cNvSpPr/>
          <p:nvPr/>
        </p:nvSpPr>
        <p:spPr>
          <a:xfrm>
            <a:off x="1371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6" name="Shape 44"/>
          <p:cNvSpPr/>
          <p:nvPr/>
        </p:nvSpPr>
        <p:spPr>
          <a:xfrm>
            <a:off x="1371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7" name="Shape 45"/>
          <p:cNvSpPr/>
          <p:nvPr/>
        </p:nvSpPr>
        <p:spPr>
          <a:xfrm>
            <a:off x="1371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Shape 48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1" name="Shape 49"/>
          <p:cNvSpPr/>
          <p:nvPr/>
        </p:nvSpPr>
        <p:spPr>
          <a:xfrm>
            <a:off x="1828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2" name="Shape 50"/>
          <p:cNvSpPr/>
          <p:nvPr/>
        </p:nvSpPr>
        <p:spPr>
          <a:xfrm>
            <a:off x="1828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3" name="Shape 51"/>
          <p:cNvSpPr/>
          <p:nvPr/>
        </p:nvSpPr>
        <p:spPr>
          <a:xfrm>
            <a:off x="1828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4" name="Shape 52"/>
          <p:cNvSpPr/>
          <p:nvPr/>
        </p:nvSpPr>
        <p:spPr>
          <a:xfrm>
            <a:off x="1828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5" name="Shape 53"/>
          <p:cNvSpPr/>
          <p:nvPr/>
        </p:nvSpPr>
        <p:spPr>
          <a:xfrm>
            <a:off x="1828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6" name="Shape 54"/>
          <p:cNvSpPr/>
          <p:nvPr/>
        </p:nvSpPr>
        <p:spPr>
          <a:xfrm>
            <a:off x="1828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7" name="Shape 55"/>
          <p:cNvSpPr/>
          <p:nvPr/>
        </p:nvSpPr>
        <p:spPr>
          <a:xfrm>
            <a:off x="1828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8" name="Shape 56"/>
          <p:cNvSpPr/>
          <p:nvPr/>
        </p:nvSpPr>
        <p:spPr>
          <a:xfrm>
            <a:off x="1828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9" name="Shape 57"/>
          <p:cNvSpPr/>
          <p:nvPr/>
        </p:nvSpPr>
        <p:spPr>
          <a:xfrm>
            <a:off x="1828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2" name="Shape 60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3" name="Shape 61"/>
          <p:cNvSpPr/>
          <p:nvPr/>
        </p:nvSpPr>
        <p:spPr>
          <a:xfrm>
            <a:off x="22860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4" name="Shape 62"/>
          <p:cNvSpPr/>
          <p:nvPr/>
        </p:nvSpPr>
        <p:spPr>
          <a:xfrm>
            <a:off x="22860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5" name="Shape 63"/>
          <p:cNvSpPr/>
          <p:nvPr/>
        </p:nvSpPr>
        <p:spPr>
          <a:xfrm>
            <a:off x="22860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6" name="Shape 64"/>
          <p:cNvSpPr/>
          <p:nvPr/>
        </p:nvSpPr>
        <p:spPr>
          <a:xfrm>
            <a:off x="22860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7" name="Shape 65"/>
          <p:cNvSpPr/>
          <p:nvPr/>
        </p:nvSpPr>
        <p:spPr>
          <a:xfrm>
            <a:off x="22860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8" name="Shape 66"/>
          <p:cNvSpPr/>
          <p:nvPr/>
        </p:nvSpPr>
        <p:spPr>
          <a:xfrm>
            <a:off x="22860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9" name="Shape 67"/>
          <p:cNvSpPr/>
          <p:nvPr/>
        </p:nvSpPr>
        <p:spPr>
          <a:xfrm>
            <a:off x="22860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Shape 68"/>
          <p:cNvSpPr/>
          <p:nvPr/>
        </p:nvSpPr>
        <p:spPr>
          <a:xfrm>
            <a:off x="22860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1" name="Shape 69"/>
          <p:cNvSpPr/>
          <p:nvPr/>
        </p:nvSpPr>
        <p:spPr>
          <a:xfrm>
            <a:off x="22860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4" name="Shape 72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5" name="Shape 73"/>
          <p:cNvSpPr/>
          <p:nvPr/>
        </p:nvSpPr>
        <p:spPr>
          <a:xfrm>
            <a:off x="2743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6" name="Shape 74"/>
          <p:cNvSpPr/>
          <p:nvPr/>
        </p:nvSpPr>
        <p:spPr>
          <a:xfrm>
            <a:off x="2743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7" name="Shape 75"/>
          <p:cNvSpPr/>
          <p:nvPr/>
        </p:nvSpPr>
        <p:spPr>
          <a:xfrm>
            <a:off x="2743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8" name="Shape 76"/>
          <p:cNvSpPr/>
          <p:nvPr/>
        </p:nvSpPr>
        <p:spPr>
          <a:xfrm>
            <a:off x="2743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9" name="Shape 77"/>
          <p:cNvSpPr/>
          <p:nvPr/>
        </p:nvSpPr>
        <p:spPr>
          <a:xfrm>
            <a:off x="2743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0" name="Shape 78"/>
          <p:cNvSpPr/>
          <p:nvPr/>
        </p:nvSpPr>
        <p:spPr>
          <a:xfrm>
            <a:off x="2743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1" name="Shape 79"/>
          <p:cNvSpPr/>
          <p:nvPr/>
        </p:nvSpPr>
        <p:spPr>
          <a:xfrm>
            <a:off x="2743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2" name="Shape 80"/>
          <p:cNvSpPr/>
          <p:nvPr/>
        </p:nvSpPr>
        <p:spPr>
          <a:xfrm>
            <a:off x="2743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3" name="Shape 81"/>
          <p:cNvSpPr/>
          <p:nvPr/>
        </p:nvSpPr>
        <p:spPr>
          <a:xfrm>
            <a:off x="2743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6" name="Shape 84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7" name="Shape 85"/>
          <p:cNvSpPr/>
          <p:nvPr/>
        </p:nvSpPr>
        <p:spPr>
          <a:xfrm>
            <a:off x="3200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8" name="Shape 86"/>
          <p:cNvSpPr/>
          <p:nvPr/>
        </p:nvSpPr>
        <p:spPr>
          <a:xfrm>
            <a:off x="3200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9" name="Shape 87"/>
          <p:cNvSpPr/>
          <p:nvPr/>
        </p:nvSpPr>
        <p:spPr>
          <a:xfrm>
            <a:off x="3200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0" name="Shape 88"/>
          <p:cNvSpPr/>
          <p:nvPr/>
        </p:nvSpPr>
        <p:spPr>
          <a:xfrm>
            <a:off x="3200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1" name="Shape 89"/>
          <p:cNvSpPr/>
          <p:nvPr/>
        </p:nvSpPr>
        <p:spPr>
          <a:xfrm>
            <a:off x="3200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2" name="Shape 90"/>
          <p:cNvSpPr/>
          <p:nvPr/>
        </p:nvSpPr>
        <p:spPr>
          <a:xfrm>
            <a:off x="3200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3" name="Shape 91"/>
          <p:cNvSpPr/>
          <p:nvPr/>
        </p:nvSpPr>
        <p:spPr>
          <a:xfrm>
            <a:off x="3200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4" name="Shape 92"/>
          <p:cNvSpPr/>
          <p:nvPr/>
        </p:nvSpPr>
        <p:spPr>
          <a:xfrm>
            <a:off x="3200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5" name="Shape 93"/>
          <p:cNvSpPr/>
          <p:nvPr/>
        </p:nvSpPr>
        <p:spPr>
          <a:xfrm>
            <a:off x="3200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8" name="Shape 96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9" name="Shape 97"/>
          <p:cNvSpPr/>
          <p:nvPr/>
        </p:nvSpPr>
        <p:spPr>
          <a:xfrm>
            <a:off x="3657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0" name="Shape 98"/>
          <p:cNvSpPr/>
          <p:nvPr/>
        </p:nvSpPr>
        <p:spPr>
          <a:xfrm>
            <a:off x="3657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1" name="Shape 99"/>
          <p:cNvSpPr/>
          <p:nvPr/>
        </p:nvSpPr>
        <p:spPr>
          <a:xfrm>
            <a:off x="3657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2" name="Shape 100"/>
          <p:cNvSpPr/>
          <p:nvPr/>
        </p:nvSpPr>
        <p:spPr>
          <a:xfrm>
            <a:off x="3657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3" name="Shape 101"/>
          <p:cNvSpPr/>
          <p:nvPr/>
        </p:nvSpPr>
        <p:spPr>
          <a:xfrm>
            <a:off x="3657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4" name="Shape 102"/>
          <p:cNvSpPr/>
          <p:nvPr/>
        </p:nvSpPr>
        <p:spPr>
          <a:xfrm>
            <a:off x="3657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5" name="Shape 103"/>
          <p:cNvSpPr/>
          <p:nvPr/>
        </p:nvSpPr>
        <p:spPr>
          <a:xfrm>
            <a:off x="3657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6" name="Shape 104"/>
          <p:cNvSpPr/>
          <p:nvPr/>
        </p:nvSpPr>
        <p:spPr>
          <a:xfrm>
            <a:off x="3657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7" name="Shape 105"/>
          <p:cNvSpPr/>
          <p:nvPr/>
        </p:nvSpPr>
        <p:spPr>
          <a:xfrm>
            <a:off x="3657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0" name="Shape 108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1" name="Shape 109"/>
          <p:cNvSpPr/>
          <p:nvPr/>
        </p:nvSpPr>
        <p:spPr>
          <a:xfrm>
            <a:off x="4114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2" name="Shape 110"/>
          <p:cNvSpPr/>
          <p:nvPr/>
        </p:nvSpPr>
        <p:spPr>
          <a:xfrm>
            <a:off x="4114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3" name="Shape 111"/>
          <p:cNvSpPr/>
          <p:nvPr/>
        </p:nvSpPr>
        <p:spPr>
          <a:xfrm>
            <a:off x="4114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4" name="Shape 112"/>
          <p:cNvSpPr/>
          <p:nvPr/>
        </p:nvSpPr>
        <p:spPr>
          <a:xfrm>
            <a:off x="4114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5" name="Shape 113"/>
          <p:cNvSpPr/>
          <p:nvPr/>
        </p:nvSpPr>
        <p:spPr>
          <a:xfrm>
            <a:off x="4114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6" name="Shape 114"/>
          <p:cNvSpPr/>
          <p:nvPr/>
        </p:nvSpPr>
        <p:spPr>
          <a:xfrm>
            <a:off x="4114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7" name="Shape 115"/>
          <p:cNvSpPr/>
          <p:nvPr/>
        </p:nvSpPr>
        <p:spPr>
          <a:xfrm>
            <a:off x="4114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8" name="Shape 116"/>
          <p:cNvSpPr/>
          <p:nvPr/>
        </p:nvSpPr>
        <p:spPr>
          <a:xfrm>
            <a:off x="4114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9" name="Shape 117"/>
          <p:cNvSpPr/>
          <p:nvPr/>
        </p:nvSpPr>
        <p:spPr>
          <a:xfrm>
            <a:off x="4114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2" name="Shape 12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3" name="Shape 121"/>
          <p:cNvSpPr/>
          <p:nvPr/>
        </p:nvSpPr>
        <p:spPr>
          <a:xfrm>
            <a:off x="45720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4" name="Shape 122"/>
          <p:cNvSpPr/>
          <p:nvPr/>
        </p:nvSpPr>
        <p:spPr>
          <a:xfrm>
            <a:off x="45720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5" name="Shape 123"/>
          <p:cNvSpPr/>
          <p:nvPr/>
        </p:nvSpPr>
        <p:spPr>
          <a:xfrm>
            <a:off x="45720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6" name="Shape 124"/>
          <p:cNvSpPr/>
          <p:nvPr/>
        </p:nvSpPr>
        <p:spPr>
          <a:xfrm>
            <a:off x="45720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7" name="Shape 125"/>
          <p:cNvSpPr/>
          <p:nvPr/>
        </p:nvSpPr>
        <p:spPr>
          <a:xfrm>
            <a:off x="45720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8" name="Shape 126"/>
          <p:cNvSpPr/>
          <p:nvPr/>
        </p:nvSpPr>
        <p:spPr>
          <a:xfrm>
            <a:off x="45720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9" name="Shape 127"/>
          <p:cNvSpPr/>
          <p:nvPr/>
        </p:nvSpPr>
        <p:spPr>
          <a:xfrm>
            <a:off x="45720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0" name="Shape 128"/>
          <p:cNvSpPr/>
          <p:nvPr/>
        </p:nvSpPr>
        <p:spPr>
          <a:xfrm>
            <a:off x="45720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1" name="Shape 129"/>
          <p:cNvSpPr/>
          <p:nvPr/>
        </p:nvSpPr>
        <p:spPr>
          <a:xfrm>
            <a:off x="45720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4" name="Shape 132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5" name="Shape 133"/>
          <p:cNvSpPr/>
          <p:nvPr/>
        </p:nvSpPr>
        <p:spPr>
          <a:xfrm>
            <a:off x="5029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6" name="Shape 134"/>
          <p:cNvSpPr/>
          <p:nvPr/>
        </p:nvSpPr>
        <p:spPr>
          <a:xfrm>
            <a:off x="5029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7" name="Shape 135"/>
          <p:cNvSpPr/>
          <p:nvPr/>
        </p:nvSpPr>
        <p:spPr>
          <a:xfrm>
            <a:off x="5029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8" name="Shape 136"/>
          <p:cNvSpPr/>
          <p:nvPr/>
        </p:nvSpPr>
        <p:spPr>
          <a:xfrm>
            <a:off x="5029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9" name="Shape 137"/>
          <p:cNvSpPr/>
          <p:nvPr/>
        </p:nvSpPr>
        <p:spPr>
          <a:xfrm>
            <a:off x="5029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0" name="Shape 138"/>
          <p:cNvSpPr/>
          <p:nvPr/>
        </p:nvSpPr>
        <p:spPr>
          <a:xfrm>
            <a:off x="5029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1" name="Shape 139"/>
          <p:cNvSpPr/>
          <p:nvPr/>
        </p:nvSpPr>
        <p:spPr>
          <a:xfrm>
            <a:off x="5029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2" name="Shape 140"/>
          <p:cNvSpPr/>
          <p:nvPr/>
        </p:nvSpPr>
        <p:spPr>
          <a:xfrm>
            <a:off x="5029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3" name="Shape 141"/>
          <p:cNvSpPr/>
          <p:nvPr/>
        </p:nvSpPr>
        <p:spPr>
          <a:xfrm>
            <a:off x="5029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6" name="Shape 144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7" name="Shape 145"/>
          <p:cNvSpPr/>
          <p:nvPr/>
        </p:nvSpPr>
        <p:spPr>
          <a:xfrm>
            <a:off x="5486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8" name="Shape 146"/>
          <p:cNvSpPr/>
          <p:nvPr/>
        </p:nvSpPr>
        <p:spPr>
          <a:xfrm>
            <a:off x="5486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9" name="Shape 147"/>
          <p:cNvSpPr/>
          <p:nvPr/>
        </p:nvSpPr>
        <p:spPr>
          <a:xfrm>
            <a:off x="5486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0" name="Shape 148"/>
          <p:cNvSpPr/>
          <p:nvPr/>
        </p:nvSpPr>
        <p:spPr>
          <a:xfrm>
            <a:off x="5486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1" name="Shape 149"/>
          <p:cNvSpPr/>
          <p:nvPr/>
        </p:nvSpPr>
        <p:spPr>
          <a:xfrm>
            <a:off x="5486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2" name="Shape 150"/>
          <p:cNvSpPr/>
          <p:nvPr/>
        </p:nvSpPr>
        <p:spPr>
          <a:xfrm>
            <a:off x="5486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3" name="Shape 151"/>
          <p:cNvSpPr/>
          <p:nvPr/>
        </p:nvSpPr>
        <p:spPr>
          <a:xfrm>
            <a:off x="5486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4" name="Shape 152"/>
          <p:cNvSpPr/>
          <p:nvPr/>
        </p:nvSpPr>
        <p:spPr>
          <a:xfrm>
            <a:off x="5486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5" name="Shape 153"/>
          <p:cNvSpPr/>
          <p:nvPr/>
        </p:nvSpPr>
        <p:spPr>
          <a:xfrm>
            <a:off x="5486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8" name="Shape 156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9" name="Shape 157"/>
          <p:cNvSpPr/>
          <p:nvPr/>
        </p:nvSpPr>
        <p:spPr>
          <a:xfrm>
            <a:off x="5943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0" name="Shape 158"/>
          <p:cNvSpPr/>
          <p:nvPr/>
        </p:nvSpPr>
        <p:spPr>
          <a:xfrm>
            <a:off x="5943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1" name="Shape 159"/>
          <p:cNvSpPr/>
          <p:nvPr/>
        </p:nvSpPr>
        <p:spPr>
          <a:xfrm>
            <a:off x="5943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2" name="Shape 160"/>
          <p:cNvSpPr/>
          <p:nvPr/>
        </p:nvSpPr>
        <p:spPr>
          <a:xfrm>
            <a:off x="5943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3" name="Shape 161"/>
          <p:cNvSpPr/>
          <p:nvPr/>
        </p:nvSpPr>
        <p:spPr>
          <a:xfrm>
            <a:off x="5943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4" name="Shape 162"/>
          <p:cNvSpPr/>
          <p:nvPr/>
        </p:nvSpPr>
        <p:spPr>
          <a:xfrm>
            <a:off x="5943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5" name="Shape 163"/>
          <p:cNvSpPr/>
          <p:nvPr/>
        </p:nvSpPr>
        <p:spPr>
          <a:xfrm>
            <a:off x="5943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6" name="Shape 164"/>
          <p:cNvSpPr/>
          <p:nvPr/>
        </p:nvSpPr>
        <p:spPr>
          <a:xfrm>
            <a:off x="5943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7" name="Shape 165"/>
          <p:cNvSpPr/>
          <p:nvPr/>
        </p:nvSpPr>
        <p:spPr>
          <a:xfrm>
            <a:off x="5943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0" name="Shape 168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1" name="Shape 169"/>
          <p:cNvSpPr/>
          <p:nvPr/>
        </p:nvSpPr>
        <p:spPr>
          <a:xfrm>
            <a:off x="6400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2" name="Shape 170"/>
          <p:cNvSpPr/>
          <p:nvPr/>
        </p:nvSpPr>
        <p:spPr>
          <a:xfrm>
            <a:off x="6400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3" name="Shape 171"/>
          <p:cNvSpPr/>
          <p:nvPr/>
        </p:nvSpPr>
        <p:spPr>
          <a:xfrm>
            <a:off x="6400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4" name="Shape 172"/>
          <p:cNvSpPr/>
          <p:nvPr/>
        </p:nvSpPr>
        <p:spPr>
          <a:xfrm>
            <a:off x="6400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5" name="Shape 173"/>
          <p:cNvSpPr/>
          <p:nvPr/>
        </p:nvSpPr>
        <p:spPr>
          <a:xfrm>
            <a:off x="6400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6" name="Shape 174"/>
          <p:cNvSpPr/>
          <p:nvPr/>
        </p:nvSpPr>
        <p:spPr>
          <a:xfrm>
            <a:off x="6400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7" name="Shape 175"/>
          <p:cNvSpPr/>
          <p:nvPr/>
        </p:nvSpPr>
        <p:spPr>
          <a:xfrm>
            <a:off x="6400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8" name="Shape 176"/>
          <p:cNvSpPr/>
          <p:nvPr/>
        </p:nvSpPr>
        <p:spPr>
          <a:xfrm>
            <a:off x="6400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9" name="Shape 177"/>
          <p:cNvSpPr/>
          <p:nvPr/>
        </p:nvSpPr>
        <p:spPr>
          <a:xfrm>
            <a:off x="6400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2" name="Shape 180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3" name="Shape 181"/>
          <p:cNvSpPr/>
          <p:nvPr/>
        </p:nvSpPr>
        <p:spPr>
          <a:xfrm>
            <a:off x="68580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4" name="Shape 182"/>
          <p:cNvSpPr/>
          <p:nvPr/>
        </p:nvSpPr>
        <p:spPr>
          <a:xfrm>
            <a:off x="68580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5" name="Shape 183"/>
          <p:cNvSpPr/>
          <p:nvPr/>
        </p:nvSpPr>
        <p:spPr>
          <a:xfrm>
            <a:off x="68580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6" name="Shape 184"/>
          <p:cNvSpPr/>
          <p:nvPr/>
        </p:nvSpPr>
        <p:spPr>
          <a:xfrm>
            <a:off x="68580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7" name="Shape 185"/>
          <p:cNvSpPr/>
          <p:nvPr/>
        </p:nvSpPr>
        <p:spPr>
          <a:xfrm>
            <a:off x="68580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8" name="Shape 186"/>
          <p:cNvSpPr/>
          <p:nvPr/>
        </p:nvSpPr>
        <p:spPr>
          <a:xfrm>
            <a:off x="68580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9" name="Shape 187"/>
          <p:cNvSpPr/>
          <p:nvPr/>
        </p:nvSpPr>
        <p:spPr>
          <a:xfrm>
            <a:off x="68580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0" name="Shape 188"/>
          <p:cNvSpPr/>
          <p:nvPr/>
        </p:nvSpPr>
        <p:spPr>
          <a:xfrm>
            <a:off x="68580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1" name="Shape 189"/>
          <p:cNvSpPr/>
          <p:nvPr/>
        </p:nvSpPr>
        <p:spPr>
          <a:xfrm>
            <a:off x="68580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4" name="Shape 192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5" name="Shape 193"/>
          <p:cNvSpPr/>
          <p:nvPr/>
        </p:nvSpPr>
        <p:spPr>
          <a:xfrm>
            <a:off x="73152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6" name="Shape 194"/>
          <p:cNvSpPr/>
          <p:nvPr/>
        </p:nvSpPr>
        <p:spPr>
          <a:xfrm>
            <a:off x="73152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7" name="Shape 195"/>
          <p:cNvSpPr/>
          <p:nvPr/>
        </p:nvSpPr>
        <p:spPr>
          <a:xfrm>
            <a:off x="73152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8" name="Shape 196"/>
          <p:cNvSpPr/>
          <p:nvPr/>
        </p:nvSpPr>
        <p:spPr>
          <a:xfrm>
            <a:off x="73152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9" name="Shape 197"/>
          <p:cNvSpPr/>
          <p:nvPr/>
        </p:nvSpPr>
        <p:spPr>
          <a:xfrm>
            <a:off x="73152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0" name="Shape 198"/>
          <p:cNvSpPr/>
          <p:nvPr/>
        </p:nvSpPr>
        <p:spPr>
          <a:xfrm>
            <a:off x="73152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1" name="Shape 199"/>
          <p:cNvSpPr/>
          <p:nvPr/>
        </p:nvSpPr>
        <p:spPr>
          <a:xfrm>
            <a:off x="73152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2" name="Shape 200"/>
          <p:cNvSpPr/>
          <p:nvPr/>
        </p:nvSpPr>
        <p:spPr>
          <a:xfrm>
            <a:off x="73152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3" name="Shape 201"/>
          <p:cNvSpPr/>
          <p:nvPr/>
        </p:nvSpPr>
        <p:spPr>
          <a:xfrm>
            <a:off x="73152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6" name="Shape 204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7" name="Shape 205"/>
          <p:cNvSpPr/>
          <p:nvPr/>
        </p:nvSpPr>
        <p:spPr>
          <a:xfrm>
            <a:off x="77724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8" name="Shape 206"/>
          <p:cNvSpPr/>
          <p:nvPr/>
        </p:nvSpPr>
        <p:spPr>
          <a:xfrm>
            <a:off x="77724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9" name="Shape 207"/>
          <p:cNvSpPr/>
          <p:nvPr/>
        </p:nvSpPr>
        <p:spPr>
          <a:xfrm>
            <a:off x="77724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0" name="Shape 208"/>
          <p:cNvSpPr/>
          <p:nvPr/>
        </p:nvSpPr>
        <p:spPr>
          <a:xfrm>
            <a:off x="77724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1" name="Shape 209"/>
          <p:cNvSpPr/>
          <p:nvPr/>
        </p:nvSpPr>
        <p:spPr>
          <a:xfrm>
            <a:off x="77724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2" name="Shape 210"/>
          <p:cNvSpPr/>
          <p:nvPr/>
        </p:nvSpPr>
        <p:spPr>
          <a:xfrm>
            <a:off x="77724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3" name="Shape 211"/>
          <p:cNvSpPr/>
          <p:nvPr/>
        </p:nvSpPr>
        <p:spPr>
          <a:xfrm>
            <a:off x="77724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4" name="Shape 212"/>
          <p:cNvSpPr/>
          <p:nvPr/>
        </p:nvSpPr>
        <p:spPr>
          <a:xfrm>
            <a:off x="77724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5" name="Shape 213"/>
          <p:cNvSpPr/>
          <p:nvPr/>
        </p:nvSpPr>
        <p:spPr>
          <a:xfrm>
            <a:off x="77724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8" name="Shape 216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9" name="Shape 217"/>
          <p:cNvSpPr/>
          <p:nvPr/>
        </p:nvSpPr>
        <p:spPr>
          <a:xfrm>
            <a:off x="82296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0" name="Shape 218"/>
          <p:cNvSpPr/>
          <p:nvPr/>
        </p:nvSpPr>
        <p:spPr>
          <a:xfrm>
            <a:off x="82296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1" name="Shape 219"/>
          <p:cNvSpPr/>
          <p:nvPr/>
        </p:nvSpPr>
        <p:spPr>
          <a:xfrm>
            <a:off x="82296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2" name="Shape 220"/>
          <p:cNvSpPr/>
          <p:nvPr/>
        </p:nvSpPr>
        <p:spPr>
          <a:xfrm>
            <a:off x="82296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3" name="Shape 221"/>
          <p:cNvSpPr/>
          <p:nvPr/>
        </p:nvSpPr>
        <p:spPr>
          <a:xfrm>
            <a:off x="82296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4" name="Shape 222"/>
          <p:cNvSpPr/>
          <p:nvPr/>
        </p:nvSpPr>
        <p:spPr>
          <a:xfrm>
            <a:off x="82296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5" name="Shape 223"/>
          <p:cNvSpPr/>
          <p:nvPr/>
        </p:nvSpPr>
        <p:spPr>
          <a:xfrm>
            <a:off x="82296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6" name="Shape 224"/>
          <p:cNvSpPr/>
          <p:nvPr/>
        </p:nvSpPr>
        <p:spPr>
          <a:xfrm>
            <a:off x="82296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7" name="Shape 225"/>
          <p:cNvSpPr/>
          <p:nvPr/>
        </p:nvSpPr>
        <p:spPr>
          <a:xfrm>
            <a:off x="82296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8" name="Shape 226"/>
          <p:cNvSpPr/>
          <p:nvPr/>
        </p:nvSpPr>
        <p:spPr>
          <a:xfrm>
            <a:off x="82296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9" name="Shape 227"/>
          <p:cNvSpPr/>
          <p:nvPr/>
        </p:nvSpPr>
        <p:spPr>
          <a:xfrm>
            <a:off x="82296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0" name="Shape 228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1" name="Shape 229"/>
          <p:cNvSpPr/>
          <p:nvPr/>
        </p:nvSpPr>
        <p:spPr>
          <a:xfrm>
            <a:off x="8686800" y="42976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2" name="Shape 230"/>
          <p:cNvSpPr/>
          <p:nvPr/>
        </p:nvSpPr>
        <p:spPr>
          <a:xfrm>
            <a:off x="8686800" y="85953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3" name="Shape 231"/>
          <p:cNvSpPr/>
          <p:nvPr/>
        </p:nvSpPr>
        <p:spPr>
          <a:xfrm>
            <a:off x="8686800" y="128930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4" name="Shape 232"/>
          <p:cNvSpPr/>
          <p:nvPr/>
        </p:nvSpPr>
        <p:spPr>
          <a:xfrm>
            <a:off x="8686800" y="171907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5" name="Shape 233"/>
          <p:cNvSpPr/>
          <p:nvPr/>
        </p:nvSpPr>
        <p:spPr>
          <a:xfrm>
            <a:off x="8686800" y="214884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6" name="Shape 234"/>
          <p:cNvSpPr/>
          <p:nvPr/>
        </p:nvSpPr>
        <p:spPr>
          <a:xfrm>
            <a:off x="8686800" y="257860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7" name="Shape 235"/>
          <p:cNvSpPr/>
          <p:nvPr/>
        </p:nvSpPr>
        <p:spPr>
          <a:xfrm>
            <a:off x="8686800" y="3008376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8" name="Shape 236"/>
          <p:cNvSpPr/>
          <p:nvPr/>
        </p:nvSpPr>
        <p:spPr>
          <a:xfrm>
            <a:off x="8686800" y="3438144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9" name="Shape 237"/>
          <p:cNvSpPr/>
          <p:nvPr/>
        </p:nvSpPr>
        <p:spPr>
          <a:xfrm>
            <a:off x="8686800" y="3867912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0" name="Shape 238"/>
          <p:cNvSpPr/>
          <p:nvPr/>
        </p:nvSpPr>
        <p:spPr>
          <a:xfrm>
            <a:off x="8686800" y="4297680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1" name="Shape 239"/>
          <p:cNvSpPr/>
          <p:nvPr/>
        </p:nvSpPr>
        <p:spPr>
          <a:xfrm>
            <a:off x="8686800" y="4727448"/>
            <a:ext cx="36576" cy="3657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2" name="Shape 24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3" name="Shape 241"/>
          <p:cNvSpPr/>
          <p:nvPr/>
        </p:nvSpPr>
        <p:spPr>
          <a:xfrm>
            <a:off x="0" y="164592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4" name="Text 242"/>
          <p:cNvSpPr/>
          <p:nvPr/>
        </p:nvSpPr>
        <p:spPr>
          <a:xfrm>
            <a:off x="36576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Questions?</a:t>
            </a:r>
            <a:endParaRPr lang="en-US" sz="4400" dirty="0"/>
          </a:p>
        </p:txBody>
      </p:sp>
      <p:sp>
        <p:nvSpPr>
          <p:cNvPr id="245" name="Text 243"/>
          <p:cNvSpPr/>
          <p:nvPr/>
        </p:nvSpPr>
        <p:spPr>
          <a:xfrm>
            <a:off x="365760" y="2542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or ask in chat — happy to help!</a:t>
            </a:r>
            <a:endParaRPr lang="en-US" sz="1600" dirty="0"/>
          </a:p>
        </p:txBody>
      </p:sp>
      <p:sp>
        <p:nvSpPr>
          <p:cNvPr id="246" name="Text 244"/>
          <p:cNvSpPr/>
          <p:nvPr/>
        </p:nvSpPr>
        <p:spPr>
          <a:xfrm>
            <a:off x="36576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links: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BD1A-EAFE-DECD-7789-EA1554C3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415B93D-4DC6-C11F-4218-C9D1FBBA128E}"/>
              </a:ext>
            </a:extLst>
          </p:cNvPr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MY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9CED6-19B6-9CE9-4255-090240DAD524}"/>
              </a:ext>
            </a:extLst>
          </p:cNvPr>
          <p:cNvSpPr txBox="1"/>
          <p:nvPr/>
        </p:nvSpPr>
        <p:spPr>
          <a:xfrm>
            <a:off x="122035" y="112514"/>
            <a:ext cx="4575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ADAF64FF-B194-55DB-E510-05C697A7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753" y="758845"/>
            <a:ext cx="3976365" cy="397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3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3093</Words>
  <Application>Microsoft Office PowerPoint</Application>
  <PresentationFormat>On-screen Show (16:9)</PresentationFormat>
  <Paragraphs>512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Firebase Dashboard Workshop</dc:title>
  <dc:subject>PptxGenJS Presentation</dc:subject>
  <dc:creator>PptxGenJS</dc:creator>
  <cp:lastModifiedBy>Syivesh Rukmanikanthan</cp:lastModifiedBy>
  <cp:revision>51</cp:revision>
  <dcterms:created xsi:type="dcterms:W3CDTF">2026-03-18T13:18:24Z</dcterms:created>
  <dcterms:modified xsi:type="dcterms:W3CDTF">2026-03-23T23:10:21Z</dcterms:modified>
</cp:coreProperties>
</file>